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45"/>
  </p:notesMasterIdLst>
  <p:handoutMasterIdLst>
    <p:handoutMasterId r:id="rId46"/>
  </p:handoutMasterIdLst>
  <p:sldIdLst>
    <p:sldId id="256" r:id="rId2"/>
    <p:sldId id="321" r:id="rId3"/>
    <p:sldId id="260" r:id="rId4"/>
    <p:sldId id="333" r:id="rId5"/>
    <p:sldId id="258" r:id="rId6"/>
    <p:sldId id="312" r:id="rId7"/>
    <p:sldId id="323" r:id="rId8"/>
    <p:sldId id="301" r:id="rId9"/>
    <p:sldId id="341" r:id="rId10"/>
    <p:sldId id="304" r:id="rId11"/>
    <p:sldId id="330" r:id="rId12"/>
    <p:sldId id="305" r:id="rId13"/>
    <p:sldId id="328" r:id="rId14"/>
    <p:sldId id="343" r:id="rId15"/>
    <p:sldId id="307" r:id="rId16"/>
    <p:sldId id="314" r:id="rId17"/>
    <p:sldId id="300" r:id="rId18"/>
    <p:sldId id="324" r:id="rId19"/>
    <p:sldId id="289" r:id="rId20"/>
    <p:sldId id="295" r:id="rId21"/>
    <p:sldId id="345" r:id="rId22"/>
    <p:sldId id="346" r:id="rId23"/>
    <p:sldId id="347" r:id="rId24"/>
    <p:sldId id="349" r:id="rId25"/>
    <p:sldId id="350" r:id="rId26"/>
    <p:sldId id="348" r:id="rId27"/>
    <p:sldId id="351" r:id="rId28"/>
    <p:sldId id="325" r:id="rId29"/>
    <p:sldId id="286" r:id="rId30"/>
    <p:sldId id="338" r:id="rId31"/>
    <p:sldId id="344" r:id="rId32"/>
    <p:sldId id="332" r:id="rId33"/>
    <p:sldId id="326" r:id="rId34"/>
    <p:sldId id="337" r:id="rId35"/>
    <p:sldId id="272" r:id="rId36"/>
    <p:sldId id="309" r:id="rId37"/>
    <p:sldId id="311" r:id="rId38"/>
    <p:sldId id="273" r:id="rId39"/>
    <p:sldId id="302" r:id="rId40"/>
    <p:sldId id="274" r:id="rId41"/>
    <p:sldId id="339" r:id="rId42"/>
    <p:sldId id="261" r:id="rId43"/>
    <p:sldId id="262" r:id="rId44"/>
  </p:sldIdLst>
  <p:sldSz cx="9144000" cy="5143500" type="screen16x9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itle" id="{94C4D8B0-684E-4A55-A759-F44F9379F256}">
          <p14:sldIdLst>
            <p14:sldId id="256"/>
          </p14:sldIdLst>
        </p14:section>
        <p14:section name="Introduction" id="{17498547-D415-4410-A05B-B69752FB45B3}">
          <p14:sldIdLst>
            <p14:sldId id="321"/>
            <p14:sldId id="260"/>
            <p14:sldId id="333"/>
            <p14:sldId id="258"/>
            <p14:sldId id="312"/>
          </p14:sldIdLst>
        </p14:section>
        <p14:section name="Experimental Setup" id="{75D40815-6EC9-445C-819C-94C0A61B11EE}">
          <p14:sldIdLst>
            <p14:sldId id="323"/>
            <p14:sldId id="301"/>
            <p14:sldId id="341"/>
            <p14:sldId id="304"/>
            <p14:sldId id="330"/>
            <p14:sldId id="305"/>
            <p14:sldId id="328"/>
            <p14:sldId id="343"/>
            <p14:sldId id="307"/>
            <p14:sldId id="314"/>
            <p14:sldId id="300"/>
          </p14:sldIdLst>
        </p14:section>
        <p14:section name="Results" id="{D4876272-DCFB-4840-A217-49AA4AFB24B5}">
          <p14:sldIdLst>
            <p14:sldId id="324"/>
            <p14:sldId id="289"/>
            <p14:sldId id="295"/>
            <p14:sldId id="345"/>
            <p14:sldId id="346"/>
            <p14:sldId id="347"/>
            <p14:sldId id="349"/>
            <p14:sldId id="350"/>
            <p14:sldId id="348"/>
            <p14:sldId id="351"/>
          </p14:sldIdLst>
        </p14:section>
        <p14:section name="Evaluation" id="{E8E05414-9758-4E5F-BB14-F948F863867C}">
          <p14:sldIdLst>
            <p14:sldId id="325"/>
            <p14:sldId id="286"/>
            <p14:sldId id="338"/>
            <p14:sldId id="344"/>
            <p14:sldId id="332"/>
          </p14:sldIdLst>
        </p14:section>
        <p14:section name="Conclusion" id="{5910DA95-3962-488F-934A-97448723AE4C}">
          <p14:sldIdLst>
            <p14:sldId id="326"/>
            <p14:sldId id="337"/>
            <p14:sldId id="272"/>
            <p14:sldId id="309"/>
            <p14:sldId id="311"/>
            <p14:sldId id="273"/>
            <p14:sldId id="302"/>
          </p14:sldIdLst>
        </p14:section>
        <p14:section name="Backup" id="{6A084026-131E-4692-AED0-E4CBC0122119}">
          <p14:sldIdLst>
            <p14:sldId id="274"/>
            <p14:sldId id="339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4"/>
    <a:srgbClr val="F2F2F2"/>
    <a:srgbClr val="FF4B4B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81477" autoAdjust="0"/>
  </p:normalViewPr>
  <p:slideViewPr>
    <p:cSldViewPr snapToGrid="0">
      <p:cViewPr varScale="1">
        <p:scale>
          <a:sx n="119" d="100"/>
          <a:sy n="119" d="100"/>
        </p:scale>
        <p:origin x="1386" y="84"/>
      </p:cViewPr>
      <p:guideLst>
        <p:guide orient="horz" pos="161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068B4"/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0.90309643900000003</c:v>
                </c:pt>
                <c:pt idx="1">
                  <c:v>0.71694653399999997</c:v>
                </c:pt>
                <c:pt idx="2">
                  <c:v>0.56879999999999997</c:v>
                </c:pt>
                <c:pt idx="3">
                  <c:v>4.3922536999999998E-2</c:v>
                </c:pt>
                <c:pt idx="4">
                  <c:v>0.489152321</c:v>
                </c:pt>
                <c:pt idx="5">
                  <c:v>0.469192251</c:v>
                </c:pt>
                <c:pt idx="6">
                  <c:v>0.21590000000000001</c:v>
                </c:pt>
                <c:pt idx="7">
                  <c:v>0.47349999999999998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74-429E-9B24-545124B0556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Tabelle1!$C$2:$C$9</c:f>
              <c:numCache>
                <c:formatCode>General</c:formatCode>
                <c:ptCount val="8"/>
                <c:pt idx="0">
                  <c:v>1.2645300999999999E-2</c:v>
                </c:pt>
                <c:pt idx="1">
                  <c:v>7.2678159999999999E-3</c:v>
                </c:pt>
                <c:pt idx="2">
                  <c:v>0.48349999999999999</c:v>
                </c:pt>
                <c:pt idx="3">
                  <c:v>2.9398200000000001E-3</c:v>
                </c:pt>
                <c:pt idx="4">
                  <c:v>0.47799675400000002</c:v>
                </c:pt>
                <c:pt idx="5">
                  <c:v>0.27147386099999998</c:v>
                </c:pt>
                <c:pt idx="6">
                  <c:v>0.1265</c:v>
                </c:pt>
                <c:pt idx="7">
                  <c:v>0.39389999999999997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74-429E-9B24-545124B0556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Tabelle1!$D$2:$D$9</c:f>
              <c:numCache>
                <c:formatCode>General</c:formatCode>
                <c:ptCount val="8"/>
                <c:pt idx="0">
                  <c:v>2.2614430000000001E-2</c:v>
                </c:pt>
                <c:pt idx="1">
                  <c:v>1.4304742E-2</c:v>
                </c:pt>
                <c:pt idx="2">
                  <c:v>0.39329999999999998</c:v>
                </c:pt>
                <c:pt idx="3">
                  <c:v>5.4127189999999999E-3</c:v>
                </c:pt>
                <c:pt idx="4">
                  <c:v>0.424912446</c:v>
                </c:pt>
                <c:pt idx="5">
                  <c:v>0.23594011000000001</c:v>
                </c:pt>
                <c:pt idx="6">
                  <c:v>0.15429999999999999</c:v>
                </c:pt>
                <c:pt idx="7">
                  <c:v>0.32490000000000002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64-4379-9495-FB71ADE4F1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4809840"/>
        <c:axId val="1194810320"/>
      </c:barChart>
      <c:catAx>
        <c:axId val="1194809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10320"/>
        <c:crosses val="autoZero"/>
        <c:auto val="1"/>
        <c:lblAlgn val="ctr"/>
        <c:lblOffset val="100"/>
        <c:noMultiLvlLbl val="0"/>
      </c:catAx>
      <c:valAx>
        <c:axId val="119481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0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rot="5400000" vert="horz" anchor="b" anchorCtr="1"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/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/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Methodology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295D25-9ADF-2E9C-4926-D1173456D8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7B0F5-6487-28BF-E70B-ED6FD570B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98336-2137-4E4E-8CF3-71B1817B2011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1155A-BCFB-BADF-9261-82A603BCB1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E8B13-DE7E-E583-33AC-E75FB1D618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A2D44-6A67-4395-B7CD-0368181C3B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32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407" y="0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219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407" y="9721219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1CCE0823-3529-0425-8186-6B679602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815499C-30CA-8EC2-AE09-8BA515FF5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5E53E3AF-0F22-E53D-8A16-EF1D17215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657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production processes are industry standards</a:t>
            </a:r>
            <a:endParaRPr lang="en-US" sz="20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efficiency and machine longevity a</a:t>
            </a: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ffect on environmental and economic performance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milling machine is a tool that uses rotating cutting bits to remove material from a workpiece, shaping it into precise dimensions and features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CNC machine automates this process by following programmed instructions, allowing for highly accurate and repeatable machining of complex parts</a:t>
            </a: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DB95033C-C231-A7EF-ED7A-7ACB67E5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9CA3011-D329-401D-04AA-A0C68839B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to distinguish between normal power increases (e.g. caused by the tool engaging with material) and abnormal peak anomalies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71E4B01-E3D6-1200-8A46-2DF72B107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871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Case: Milling Machine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The information can then be used to find errors in the G-Code</a:t>
            </a:r>
            <a:endParaRPr lang="en-US" sz="20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g36b3cdc49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921260CD-0893-2A37-FD8F-3343EEB4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>
            <a:extLst>
              <a:ext uri="{FF2B5EF4-FFF2-40B4-BE49-F238E27FC236}">
                <a16:creationId xmlns:a16="http://schemas.microsoft.com/office/drawing/2014/main" id="{38DC44A6-D347-67FE-EF05-01E9184AC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Peaks can have different shapes and widths</a:t>
            </a:r>
          </a:p>
        </p:txBody>
      </p:sp>
      <p:sp>
        <p:nvSpPr>
          <p:cNvPr id="200" name="Google Shape;200;g36b3cdc49be_0_0:notes">
            <a:extLst>
              <a:ext uri="{FF2B5EF4-FFF2-40B4-BE49-F238E27FC236}">
                <a16:creationId xmlns:a16="http://schemas.microsoft.com/office/drawing/2014/main" id="{07974886-7FB9-38A2-8167-EAFD74929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415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1702D32-28C3-D4A9-C01F-927F7FEA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4638A19A-73D1-85C7-FF08-858AD3108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8341836-5C5E-CAEA-6031-7B6A5BCB5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4229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38E20F-92C0-7888-E933-2AF0EB8B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2FDCC03-EDEB-9B49-08FC-B47BE159B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Linear methods assume a linear relationship or operate via linear operations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Nonlinear methods model complex, nonlinear relationships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Univariate methods analyze one time series at a time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Multivariate methods can consider multiple dimensions/features simultaneously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39EB753-003C-7C75-8A5A-9BF6AA5D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972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891AAAF-22AF-1E34-4A9E-7DE0A694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7D71C95-6630-15B0-D0AA-7096C6497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698899E-A2C4-9388-4DE1-899795032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9967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092659B7-C130-76E8-614F-0B7CF4EE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A3F511A-7939-7040-FB3E-AD6A7F9C1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value-threshold, prominence-threshold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Prominence measures how much a peak stands out from surrounding valleys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 peak's prominence is the vertical distance between the peak and the lowest contour line that surrounds it and contains no higher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Higher prominence = more significant or isolated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Local maximum check: implicitly a window-size of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commanded speed</a:t>
            </a:r>
            <a:r>
              <a:rPr lang="en-US" sz="20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speed setpoint from the trajectory planner to the motor controller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82454A8-E840-B9AA-F784-3E53E9D75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1820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F385850-760F-6E6E-36ED-660491A9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032E3E-C6CA-CD15-450C-42ECAB39A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window size, threshold for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Input feature: torque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155BDC0-C312-CD78-4A67-CC3225D58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767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C4C9A647-E008-E9E2-66ED-D1CE8BB0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99BC8089-C290-8053-6DE4-A6F2C1ACC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width/scale of the wavelet, (response-percentile)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considers every response in the lower 10th-percentile as noise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Convolution: shift -&gt; normalize (local) -&gt; dot-product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Matrix: coefficients across different scales (frequencies) and positions (time)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Peaks appear as strong, aligned coefficients across multiple scales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uses a signal-to-noise ratio logic implicitly to judge peak strength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BAC4C9A-9135-2F07-2324-49F56DCFC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3035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F079F4C-01C5-9AE6-BB58-1E2B7A8F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4EB0316-8F74-53E0-B749-0A39A60C8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number of clusters “k”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Autoencoder tries to reproduce the input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changes in cluster assignments are minimal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Partitioning the data into k groups based on minimizing the distance between points and their assigned cluster centroids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C08C96-95DF-854F-591D-C08EBDC91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040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2ABAB7F-E89B-B992-CE5F-842C0517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13EBD794-EF9A-2112-70B6-34AA21E49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epsilon controls the radius of neighborhood (distance threshold)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A517FDC-9B53-C2FB-5482-9EAFEA171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002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DFEF689-345F-F002-279F-92C52AC1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7D5425DC-29FC-B11D-33F6-4C42CA6A8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Key parameter: contamination, number of trees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Uses Extremely Randomized Tree Regressors to separate anomalies from the rest of the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Calculates an anomaly score for each data point and checks with a threshold. score depends on avg path length of an isolated point and average depth of all data points. closer to 1, strong anomaly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assume the distribution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not built for timeseries data</a:t>
            </a: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CDA16F4-D121-0024-99D2-CB079F3EB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2443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712725CE-A25A-9ABA-8C31-6F50A113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A409CA94-9087-8E8D-2B7E-D6E06933E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An autoencoder is a neural network model that seeks to learn a compressed representation of an input, known as the latent space.  And the decoder tries to recreate the features based on the compressed representation. </a:t>
            </a: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goal is to minimize the difference between the original and reconstructed data.</a:t>
            </a:r>
            <a:endParaRPr lang="en-US" b="0" dirty="0">
              <a:effectLst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Long Short-Term Memory, or LSTM, network are specifically designed to support sequences of input data.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If the reconstructed output is different from the original input, it can show an anomaly or outlier which makes autoencoders useful for fraud detection and system monitoring.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LSTM training is </a:t>
            </a:r>
            <a:r>
              <a:rPr lang="en-US" b="1" dirty="0"/>
              <a:t>slower than CNNs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904" b="0" i="0" u="none" strike="noStrike" cap="none" noProof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Hyperparameters: </a:t>
            </a:r>
            <a:r>
              <a:rPr lang="en-US" dirty="0"/>
              <a:t>Number of layers/units, Sequence length, Learning rate, Dropout Batch size</a:t>
            </a:r>
          </a:p>
          <a:p>
            <a:r>
              <a:rPr lang="en-US" noProof="0" dirty="0"/>
              <a:t>Other parameters: reconstruction error threshold </a:t>
            </a:r>
            <a:r>
              <a:rPr lang="en-US" noProof="0" dirty="0">
                <a:sym typeface="Wingdings" panose="05000000000000000000" pitchFamily="2" charset="2"/>
              </a:rPr>
              <a:t> IQR/percentile etc. 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anomalies for multivariate timeseries data by learning non-linear patterns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LSTMs – designed for sequences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288452-2147-17EF-0156-5D8BB7351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878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3B65D02-50BD-689A-6AFC-90FB69E3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61A266-C729-6E47-5378-87BB3DC0F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available</a:t>
            </a: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Multi-</a:t>
            </a:r>
            <a:r>
              <a:rPr lang="de-DE" dirty="0" err="1"/>
              <a:t>Objective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Pareto-Front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Reason for use: majority of people use this in papers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of sequences without peaks -&gt; indicating missed detections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peaks -&gt; indicating sensitivity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height -&gt; indicating proportion of true-positives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prominence -&gt; indicating significance of the peaks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4CAC0FCE-B157-3A7F-52EE-2D420F74B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834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CAB0FA92-5DF6-8A7D-EA3B-DAB75464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19680BA8-CE62-6987-486B-00B9D3080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CB605E8F-2258-633D-9460-1C91142C6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5886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ED99CB0-9BAA-85D0-939B-FE75FFC2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3DAC6FE-9069-9D19-D6DA-BB73EC5AD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compromise between all metrics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tradeoff between amplitude and prominence with a more realistic peak count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14F34DC-AA1B-99CA-6FBB-AA288035C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57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B974716-D88B-3704-3FA2-4E34A286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287AE9A-F92B-09CC-482C-17859BEAA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precision on easy examples with large outliers but fails on others with many false-positives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bad generalization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 true peaks were undetected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D992D8A-EDAB-AF1C-8A85-A22F1B4FE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053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AB09774-68B5-94BD-D662-A6FD8E315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09C1E908-8282-A418-C6B1-3A2B7B636B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high precision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 n</a:t>
            </a:r>
            <a:r>
              <a:rPr lang="en-US" sz="2000" dirty="0"/>
              <a:t>o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true peaks were detected but not all (especially peaks with a smaller amplitude)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F3F2BB0-94C4-A50D-19D0-D8241633A5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8571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3B6B107A-9124-2607-B78C-462A99E0F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E8AD47B9-29DC-4355-B3A3-B958F6BEA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Identifies most of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peaks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Was only unable to properly detect a specific pattern – brings down average of metrics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generalization, if threshold can be specified for each machine type, would work better.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6A15B81-4491-172E-2692-6ED6B28C4F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66391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4205285-753B-BEB8-3FC6-580FF5EED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3FA03F0-AC77-8D60-999E-B8B846F29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bad precision -&gt; m</a:t>
            </a:r>
            <a:r>
              <a:rPr lang="en-US" sz="2000" dirty="0"/>
              <a:t>any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true peaks were detected but not all</a:t>
            </a: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only positive peaks (with one single wavelet)</a:t>
            </a:r>
            <a:endParaRPr lang="en-US" sz="2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7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reasons of failure: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Peaks have different shapes and widths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Shape is indistinguishable from noise</a:t>
            </a:r>
            <a:endParaRPr lang="en-US" sz="20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BDDCD22-8AC2-9A5A-DD41-23234EAE29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89591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AE88B4-DB88-505E-9FD6-308C27D9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BACA8EA-2F2C-1C83-FC47-D106A505B6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False-positives issues on some sequences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peaks were undetected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Unreliable predictions</a:t>
            </a:r>
            <a:endParaRPr lang="en-US" sz="2000" b="1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Marking the whole peak area instead of just one precise position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9E7838C-385C-3799-BA06-C27DA18C81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2743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2C25210-FCD8-547F-CFEE-D3975AEE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0202BD58-8381-313C-E90E-9894CA1C54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precision -&gt; a</a:t>
            </a:r>
            <a:r>
              <a:rPr lang="en-US" sz="2000" dirty="0" err="1"/>
              <a:t>lmost</a:t>
            </a:r>
            <a:r>
              <a:rPr lang="en-US" sz="2000" dirty="0"/>
              <a:t> no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peaks were not 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Recognizable tendency of detecting peaks</a:t>
            </a:r>
            <a:endParaRPr lang="en-US" sz="2000" b="1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Marking the whole peak area instead of just one precise position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sz="200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972504F-4B59-1C98-398D-745DDE3DA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5152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8418C1A4-3FA1-D87E-88DC-F1840B941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4B68ADB-8EAC-D32C-4D60-06B434606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many false-positives issued on the sequences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peaks were not 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of marking the whole peak area instead of just one precise position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detect positive and negative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6B66DA1-A211-D751-D1BA-329D2F1371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90563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1AF9880-BAE4-41B9-5310-BAF254D3E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EF824B1E-754F-62C4-9F2F-A8CC1C978F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precision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many false-positives issued on the sequences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peaks were not detected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detect positive and negative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smaller deviations but sometimes unable to identify larger deviations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-&gt; not good</a:t>
            </a: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None/>
              <a:tabLst/>
              <a:defRPr/>
            </a:pPr>
            <a:endParaRPr lang="de-DE" sz="200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F7E4DA9-96D8-75E1-BB89-AD12FF73D0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08797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8EBF65A3-8400-2880-6660-148E3A9B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C8A6562A-F4C3-A1D0-F14A-4A900C963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0EB4C108-0461-5801-4B01-F84528965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8625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F61A0281-6DC4-6B49-2899-41307323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B9EE1FF-D42B-D2C5-50B9-FEFBC61C7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86D7FF9-EDBD-9A61-B1E9-38C85DB69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1972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84846D8-0A01-6BB8-9FDF-DAFDC49F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9BF80F2-B423-4B0B-113A-49CFC5831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Metrics just show how similar the predictions of each method are with reference to the percentile-approach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Very low recall for all methods that predict precise positions and not an area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Threshold-Based Torque has a higher precision than with Cmd.-Speed because it operates on the same feature as the percentile-approach</a:t>
            </a:r>
          </a:p>
          <a:p>
            <a:pPr marL="800100" lvl="1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Thus, the prediction are more similar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035B49F-BD84-47E4-DCF3-6B1DF552C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09913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6B69E45-B8E2-1D7C-71A6-2F7346C8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4653B73-8993-7328-A81A-A03D98470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B8F9F83-3EFE-2242-06F1-003E85335D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2389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7A19BDA-83EE-CDB1-26DC-F81F6A7B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DBDE9C12-79E1-E731-E0D3-3B6683978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Feature-processing forces the user to analyze and understand the data, which can already give some insights into the reason for the anomalies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Drawback: str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uggles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generalize on unprocessed data with different signal-types (machines</a:t>
            </a:r>
            <a:r>
              <a:rPr lang="en-US" sz="2000" b="0" i="0" u="none" strike="noStrike" cap="none" noProof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material, 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etc.)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47D066D-C329-6700-29ED-B609B4240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66140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BFF9082-6855-A1A7-31B2-6CB2B75F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95A816E-2560-190E-23A6-A5D163011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557AE9C-72D2-6024-6CF9-184AD316C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32057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930A782-4147-807C-455A-094AA123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003C1289-1D9C-D49F-9BD4-4728B416C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0F7A2C10-E2F1-346A-96D9-5D7D97029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64624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Spindle signal looks like a discrete signal with hard edges (instead of smooth, continuous transitions)</a:t>
            </a:r>
          </a:p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35E1CEA-BEB3-BDB2-2B72-CD20D8D4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D6767525-8C24-2FAF-BEBB-E0AA59449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3008D931-89AA-2463-EA36-2F406C5AA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68533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28F1E3D-27B7-BDE9-5632-0244FB24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2DD1EACA-F0AC-9F06-FDCF-5DB109DA2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Rescale the signals by a material-specific factor to align dynamics in the current caused by normal workload within the same zone to improve generalization</a:t>
            </a:r>
            <a:endParaRPr lang="en-US" sz="1405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formation (Coalescence): peaks that are close to each other (within a window distance k) are combined so that only the highest peak remains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de-DE" sz="1405" dirty="0"/>
              <a:t>(</a:t>
            </a: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smoothing to the signal to filter noise and remove unsignificant peaks</a:t>
            </a:r>
            <a:r>
              <a:rPr lang="en-US" sz="1405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BC30AD5A-0500-4EBF-F662-0765D4665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7129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ae8b4110f_0_179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6ae8b4110f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DE125EB-37F9-15EB-D8AB-E0630BE5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61D831EF-170F-677F-AED5-C2F1B48C9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Clustering method -&gt; Hyper parameter tuning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Autoencoder -&gt;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Pseudo labels for evaluation for each approach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Considering efficiency and computational cost when evaluating</a:t>
            </a:r>
            <a:endParaRPr sz="1405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9AA95FA2-5EF4-EA30-75CD-858698587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00349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b7a2f1fd2_1_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6b7a2f1fd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A5D89CE-2667-3217-5BFF-A1E891AC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7DAA8D69-16AA-E6B7-A937-B9E8B0446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8DDB3BDA-2814-D5A1-D24B-33E57EC43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40993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b3a12114e_2_35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6b3a12114e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c2988baa0_0_38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6c2988baa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9144000" cy="2000196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descr="A close-up of a person's fac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97495" y="-770"/>
            <a:ext cx="2346506" cy="200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 descr="Text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76" y="171445"/>
            <a:ext cx="1816680" cy="6286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Font typeface="Arial"/>
              <a:buNone/>
              <a:defRPr sz="2223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" name="Google Shape;22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546" y="3314611"/>
            <a:ext cx="2857773" cy="143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>
                <a:latin typeface="+mn-lt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15302129-6EC3-7B00-3BA5-EE00638B84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40"/>
              <a:buFont typeface="Arial"/>
              <a:buNone/>
              <a:defRPr sz="2540" b="1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537200"/>
            <a:ext cx="77040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94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3B8D03DE-8003-ED3B-49C8-F7DC2CBDF9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ndwritten Notes">
  <p:cSld name="Handwritten Note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-1" y="520148"/>
            <a:ext cx="9146192" cy="4451903"/>
            <a:chOff x="-1" y="520148"/>
            <a:chExt cx="9146192" cy="4451903"/>
          </a:xfrm>
        </p:grpSpPr>
        <p:grpSp>
          <p:nvGrpSpPr>
            <p:cNvPr id="39" name="Google Shape;39;p5"/>
            <p:cNvGrpSpPr/>
            <p:nvPr/>
          </p:nvGrpSpPr>
          <p:grpSpPr>
            <a:xfrm>
              <a:off x="-1" y="644540"/>
              <a:ext cx="9146191" cy="3641022"/>
              <a:chOff x="139700" y="1063145"/>
              <a:chExt cx="8890000" cy="3539331"/>
            </a:xfrm>
          </p:grpSpPr>
          <p:cxnSp>
            <p:nvCxnSpPr>
              <p:cNvPr id="40" name="Google Shape;40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41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42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43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44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45;p5"/>
              <p:cNvCxnSpPr/>
              <p:nvPr/>
            </p:nvCxnSpPr>
            <p:spPr>
              <a:xfrm>
                <a:off x="139700" y="171857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46;p5"/>
              <p:cNvCxnSpPr/>
              <p:nvPr/>
            </p:nvCxnSpPr>
            <p:spPr>
              <a:xfrm>
                <a:off x="139700" y="184966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47;p5"/>
              <p:cNvCxnSpPr/>
              <p:nvPr/>
            </p:nvCxnSpPr>
            <p:spPr>
              <a:xfrm>
                <a:off x="139700" y="198074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48;p5"/>
              <p:cNvCxnSpPr/>
              <p:nvPr/>
            </p:nvCxnSpPr>
            <p:spPr>
              <a:xfrm>
                <a:off x="139700" y="211183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49;p5"/>
              <p:cNvCxnSpPr/>
              <p:nvPr/>
            </p:nvCxnSpPr>
            <p:spPr>
              <a:xfrm>
                <a:off x="139700" y="224291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" name="Google Shape;50;p5"/>
              <p:cNvCxnSpPr/>
              <p:nvPr/>
            </p:nvCxnSpPr>
            <p:spPr>
              <a:xfrm>
                <a:off x="139700" y="237400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1;p5"/>
              <p:cNvCxnSpPr/>
              <p:nvPr/>
            </p:nvCxnSpPr>
            <p:spPr>
              <a:xfrm>
                <a:off x="139700" y="250509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139700" y="263617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139700" y="276726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4;p5"/>
              <p:cNvCxnSpPr/>
              <p:nvPr/>
            </p:nvCxnSpPr>
            <p:spPr>
              <a:xfrm>
                <a:off x="139700" y="289834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5;p5"/>
              <p:cNvCxnSpPr/>
              <p:nvPr/>
            </p:nvCxnSpPr>
            <p:spPr>
              <a:xfrm>
                <a:off x="139700" y="302943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139700" y="316052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139700" y="329160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;p5"/>
              <p:cNvCxnSpPr/>
              <p:nvPr/>
            </p:nvCxnSpPr>
            <p:spPr>
              <a:xfrm>
                <a:off x="139700" y="342269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9;p5"/>
              <p:cNvCxnSpPr/>
              <p:nvPr/>
            </p:nvCxnSpPr>
            <p:spPr>
              <a:xfrm>
                <a:off x="139700" y="355377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60;p5"/>
              <p:cNvCxnSpPr/>
              <p:nvPr/>
            </p:nvCxnSpPr>
            <p:spPr>
              <a:xfrm>
                <a:off x="139700" y="368486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61;p5"/>
              <p:cNvCxnSpPr/>
              <p:nvPr/>
            </p:nvCxnSpPr>
            <p:spPr>
              <a:xfrm>
                <a:off x="139700" y="381595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62;p5"/>
              <p:cNvCxnSpPr/>
              <p:nvPr/>
            </p:nvCxnSpPr>
            <p:spPr>
              <a:xfrm>
                <a:off x="139700" y="394703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63;p5"/>
              <p:cNvCxnSpPr/>
              <p:nvPr/>
            </p:nvCxnSpPr>
            <p:spPr>
              <a:xfrm>
                <a:off x="139700" y="407812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64;p5"/>
              <p:cNvCxnSpPr/>
              <p:nvPr/>
            </p:nvCxnSpPr>
            <p:spPr>
              <a:xfrm>
                <a:off x="139700" y="420920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65;p5"/>
              <p:cNvCxnSpPr/>
              <p:nvPr/>
            </p:nvCxnSpPr>
            <p:spPr>
              <a:xfrm>
                <a:off x="139700" y="434029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" name="Google Shape;66;p5"/>
              <p:cNvCxnSpPr/>
              <p:nvPr/>
            </p:nvCxnSpPr>
            <p:spPr>
              <a:xfrm>
                <a:off x="139700" y="447138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67;p5"/>
              <p:cNvCxnSpPr/>
              <p:nvPr/>
            </p:nvCxnSpPr>
            <p:spPr>
              <a:xfrm>
                <a:off x="139700" y="4602476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8" name="Google Shape;68;p5"/>
            <p:cNvGrpSpPr/>
            <p:nvPr/>
          </p:nvGrpSpPr>
          <p:grpSpPr>
            <a:xfrm>
              <a:off x="110067" y="520148"/>
              <a:ext cx="8912813" cy="4451903"/>
              <a:chOff x="235573" y="916827"/>
              <a:chExt cx="8663159" cy="3797693"/>
            </a:xfrm>
          </p:grpSpPr>
          <p:cxnSp>
            <p:nvCxnSpPr>
              <p:cNvPr id="69" name="Google Shape;69;p5"/>
              <p:cNvCxnSpPr/>
              <p:nvPr/>
            </p:nvCxnSpPr>
            <p:spPr>
              <a:xfrm flipH="1">
                <a:off x="235573" y="916827"/>
                <a:ext cx="5727" cy="3796652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70;p5"/>
              <p:cNvCxnSpPr/>
              <p:nvPr/>
            </p:nvCxnSpPr>
            <p:spPr>
              <a:xfrm>
                <a:off x="37247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71;p5"/>
              <p:cNvCxnSpPr/>
              <p:nvPr/>
            </p:nvCxnSpPr>
            <p:spPr>
              <a:xfrm>
                <a:off x="50364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" name="Google Shape;72;p5"/>
              <p:cNvCxnSpPr/>
              <p:nvPr/>
            </p:nvCxnSpPr>
            <p:spPr>
              <a:xfrm>
                <a:off x="63481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5"/>
              <p:cNvCxnSpPr/>
              <p:nvPr/>
            </p:nvCxnSpPr>
            <p:spPr>
              <a:xfrm>
                <a:off x="76599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4" name="Google Shape;74;p5"/>
              <p:cNvCxnSpPr/>
              <p:nvPr/>
            </p:nvCxnSpPr>
            <p:spPr>
              <a:xfrm>
                <a:off x="89716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" name="Google Shape;75;p5"/>
              <p:cNvCxnSpPr/>
              <p:nvPr/>
            </p:nvCxnSpPr>
            <p:spPr>
              <a:xfrm>
                <a:off x="102833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p5"/>
              <p:cNvCxnSpPr/>
              <p:nvPr/>
            </p:nvCxnSpPr>
            <p:spPr>
              <a:xfrm>
                <a:off x="115951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7" name="Google Shape;77;p5"/>
              <p:cNvCxnSpPr/>
              <p:nvPr/>
            </p:nvCxnSpPr>
            <p:spPr>
              <a:xfrm>
                <a:off x="129068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8" name="Google Shape;78;p5"/>
              <p:cNvCxnSpPr/>
              <p:nvPr/>
            </p:nvCxnSpPr>
            <p:spPr>
              <a:xfrm>
                <a:off x="142185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9" name="Google Shape;79;p5"/>
              <p:cNvCxnSpPr/>
              <p:nvPr/>
            </p:nvCxnSpPr>
            <p:spPr>
              <a:xfrm>
                <a:off x="155303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" name="Google Shape;80;p5"/>
              <p:cNvCxnSpPr/>
              <p:nvPr/>
            </p:nvCxnSpPr>
            <p:spPr>
              <a:xfrm>
                <a:off x="168420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181537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194654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207772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220889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234006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247124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260241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273358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286476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299593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312710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325827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338945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94;p5"/>
              <p:cNvCxnSpPr/>
              <p:nvPr/>
            </p:nvCxnSpPr>
            <p:spPr>
              <a:xfrm>
                <a:off x="352062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5"/>
              <p:cNvCxnSpPr/>
              <p:nvPr/>
            </p:nvCxnSpPr>
            <p:spPr>
              <a:xfrm>
                <a:off x="365179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5"/>
              <p:cNvCxnSpPr/>
              <p:nvPr/>
            </p:nvCxnSpPr>
            <p:spPr>
              <a:xfrm>
                <a:off x="378297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5"/>
              <p:cNvCxnSpPr/>
              <p:nvPr/>
            </p:nvCxnSpPr>
            <p:spPr>
              <a:xfrm>
                <a:off x="391414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98;p5"/>
              <p:cNvCxnSpPr/>
              <p:nvPr/>
            </p:nvCxnSpPr>
            <p:spPr>
              <a:xfrm>
                <a:off x="404531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417649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430766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443883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457000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" name="Google Shape;103;p5"/>
              <p:cNvCxnSpPr/>
              <p:nvPr/>
            </p:nvCxnSpPr>
            <p:spPr>
              <a:xfrm>
                <a:off x="470118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" name="Google Shape;104;p5"/>
              <p:cNvCxnSpPr/>
              <p:nvPr/>
            </p:nvCxnSpPr>
            <p:spPr>
              <a:xfrm>
                <a:off x="483235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5" name="Google Shape;105;p5"/>
              <p:cNvCxnSpPr/>
              <p:nvPr/>
            </p:nvCxnSpPr>
            <p:spPr>
              <a:xfrm>
                <a:off x="496352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6" name="Google Shape;106;p5"/>
              <p:cNvCxnSpPr/>
              <p:nvPr/>
            </p:nvCxnSpPr>
            <p:spPr>
              <a:xfrm>
                <a:off x="509470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5"/>
              <p:cNvCxnSpPr/>
              <p:nvPr/>
            </p:nvCxnSpPr>
            <p:spPr>
              <a:xfrm>
                <a:off x="522587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5"/>
              <p:cNvCxnSpPr/>
              <p:nvPr/>
            </p:nvCxnSpPr>
            <p:spPr>
              <a:xfrm>
                <a:off x="535704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" name="Google Shape;109;p5"/>
              <p:cNvCxnSpPr/>
              <p:nvPr/>
            </p:nvCxnSpPr>
            <p:spPr>
              <a:xfrm>
                <a:off x="548822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" name="Google Shape;110;p5"/>
              <p:cNvCxnSpPr/>
              <p:nvPr/>
            </p:nvCxnSpPr>
            <p:spPr>
              <a:xfrm>
                <a:off x="561939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" name="Google Shape;111;p5"/>
              <p:cNvCxnSpPr/>
              <p:nvPr/>
            </p:nvCxnSpPr>
            <p:spPr>
              <a:xfrm>
                <a:off x="575056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" name="Google Shape;112;p5"/>
              <p:cNvCxnSpPr/>
              <p:nvPr/>
            </p:nvCxnSpPr>
            <p:spPr>
              <a:xfrm>
                <a:off x="588173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5"/>
              <p:cNvCxnSpPr/>
              <p:nvPr/>
            </p:nvCxnSpPr>
            <p:spPr>
              <a:xfrm>
                <a:off x="601291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4" name="Google Shape;114;p5"/>
              <p:cNvCxnSpPr/>
              <p:nvPr/>
            </p:nvCxnSpPr>
            <p:spPr>
              <a:xfrm>
                <a:off x="614408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115;p5"/>
              <p:cNvCxnSpPr/>
              <p:nvPr/>
            </p:nvCxnSpPr>
            <p:spPr>
              <a:xfrm>
                <a:off x="627525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116;p5"/>
              <p:cNvCxnSpPr/>
              <p:nvPr/>
            </p:nvCxnSpPr>
            <p:spPr>
              <a:xfrm>
                <a:off x="640643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117;p5"/>
              <p:cNvCxnSpPr/>
              <p:nvPr/>
            </p:nvCxnSpPr>
            <p:spPr>
              <a:xfrm>
                <a:off x="653760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5"/>
              <p:cNvCxnSpPr/>
              <p:nvPr/>
            </p:nvCxnSpPr>
            <p:spPr>
              <a:xfrm>
                <a:off x="666877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5"/>
              <p:cNvCxnSpPr/>
              <p:nvPr/>
            </p:nvCxnSpPr>
            <p:spPr>
              <a:xfrm>
                <a:off x="679995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120;p5"/>
              <p:cNvCxnSpPr/>
              <p:nvPr/>
            </p:nvCxnSpPr>
            <p:spPr>
              <a:xfrm>
                <a:off x="693112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121;p5"/>
              <p:cNvCxnSpPr/>
              <p:nvPr/>
            </p:nvCxnSpPr>
            <p:spPr>
              <a:xfrm>
                <a:off x="706229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122;p5"/>
              <p:cNvCxnSpPr/>
              <p:nvPr/>
            </p:nvCxnSpPr>
            <p:spPr>
              <a:xfrm>
                <a:off x="719346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5"/>
              <p:cNvCxnSpPr/>
              <p:nvPr/>
            </p:nvCxnSpPr>
            <p:spPr>
              <a:xfrm>
                <a:off x="732464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124;p5"/>
              <p:cNvCxnSpPr/>
              <p:nvPr/>
            </p:nvCxnSpPr>
            <p:spPr>
              <a:xfrm>
                <a:off x="745581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5" name="Google Shape;125;p5"/>
              <p:cNvCxnSpPr/>
              <p:nvPr/>
            </p:nvCxnSpPr>
            <p:spPr>
              <a:xfrm>
                <a:off x="758698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6" name="Google Shape;126;p5"/>
              <p:cNvCxnSpPr/>
              <p:nvPr/>
            </p:nvCxnSpPr>
            <p:spPr>
              <a:xfrm>
                <a:off x="771816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5"/>
              <p:cNvCxnSpPr/>
              <p:nvPr/>
            </p:nvCxnSpPr>
            <p:spPr>
              <a:xfrm>
                <a:off x="784933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5"/>
              <p:cNvCxnSpPr/>
              <p:nvPr/>
            </p:nvCxnSpPr>
            <p:spPr>
              <a:xfrm>
                <a:off x="798050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" name="Google Shape;129;p5"/>
              <p:cNvCxnSpPr/>
              <p:nvPr/>
            </p:nvCxnSpPr>
            <p:spPr>
              <a:xfrm>
                <a:off x="811168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" name="Google Shape;130;p5"/>
              <p:cNvCxnSpPr/>
              <p:nvPr/>
            </p:nvCxnSpPr>
            <p:spPr>
              <a:xfrm>
                <a:off x="824285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" name="Google Shape;131;p5"/>
              <p:cNvCxnSpPr/>
              <p:nvPr/>
            </p:nvCxnSpPr>
            <p:spPr>
              <a:xfrm>
                <a:off x="837402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132;p5"/>
              <p:cNvCxnSpPr/>
              <p:nvPr/>
            </p:nvCxnSpPr>
            <p:spPr>
              <a:xfrm>
                <a:off x="850519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5"/>
              <p:cNvCxnSpPr/>
              <p:nvPr/>
            </p:nvCxnSpPr>
            <p:spPr>
              <a:xfrm>
                <a:off x="863637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134;p5"/>
              <p:cNvCxnSpPr/>
              <p:nvPr/>
            </p:nvCxnSpPr>
            <p:spPr>
              <a:xfrm>
                <a:off x="876754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135;p5"/>
              <p:cNvCxnSpPr/>
              <p:nvPr/>
            </p:nvCxnSpPr>
            <p:spPr>
              <a:xfrm>
                <a:off x="889873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36" name="Google Shape;136;p5"/>
            <p:cNvGrpSpPr/>
            <p:nvPr/>
          </p:nvGrpSpPr>
          <p:grpSpPr>
            <a:xfrm>
              <a:off x="0" y="4420423"/>
              <a:ext cx="9146191" cy="539409"/>
              <a:chOff x="139700" y="1063145"/>
              <a:chExt cx="8890000" cy="524344"/>
            </a:xfrm>
          </p:grpSpPr>
          <p:cxnSp>
            <p:nvCxnSpPr>
              <p:cNvPr id="137" name="Google Shape;137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138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139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140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141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pic>
        <p:nvPicPr>
          <p:cNvPr id="142" name="Google Shape;1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" y="-3958"/>
            <a:ext cx="9144000" cy="6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15;p1">
            <a:extLst>
              <a:ext uri="{FF2B5EF4-FFF2-40B4-BE49-F238E27FC236}">
                <a16:creationId xmlns:a16="http://schemas.microsoft.com/office/drawing/2014/main" id="{F08973F8-C413-FCC2-2B83-79A102A99B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6"/>
          <p:cNvSpPr txBox="1">
            <a:spLocks noGrp="1"/>
          </p:cNvSpPr>
          <p:nvPr>
            <p:ph type="body" idx="2"/>
          </p:nvPr>
        </p:nvSpPr>
        <p:spPr>
          <a:xfrm>
            <a:off x="46291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4BFFE57F-1F08-2625-0813-CE2B462F46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595979" y="820608"/>
            <a:ext cx="386834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595979" y="1438541"/>
            <a:ext cx="3868340" cy="307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body" idx="3"/>
          </p:nvPr>
        </p:nvSpPr>
        <p:spPr>
          <a:xfrm>
            <a:off x="4663015" y="820608"/>
            <a:ext cx="388739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body" idx="4"/>
          </p:nvPr>
        </p:nvSpPr>
        <p:spPr>
          <a:xfrm>
            <a:off x="4663015" y="1438540"/>
            <a:ext cx="3887390" cy="3074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7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F99958AA-65B1-E8FF-9911-8EF95E1EC3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7E724D5B-E8D3-AEE6-8B45-066022485D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C3107EE2-0A89-A993-D76E-ECEA4FD090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>
            <a:spLocks noGrp="1"/>
          </p:cNvSpPr>
          <p:nvPr>
            <p:ph type="body" idx="1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body" idx="2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>
            <a:spLocks noGrp="1"/>
          </p:cNvSpPr>
          <p:nvPr>
            <p:ph type="pic" idx="2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629842" y="1543051"/>
            <a:ext cx="2949177" cy="229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</a:pPr>
            <a:r>
              <a:rPr lang="de-DE" sz="1889" b="1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1889" b="1">
              <a:solidFill>
                <a:srgbClr val="0068B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body" idx="1"/>
          </p:nvPr>
        </p:nvSpPr>
        <p:spPr>
          <a:xfrm rot="5400000">
            <a:off x="2686192" y="-1184309"/>
            <a:ext cx="3263503" cy="788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0" y="2"/>
            <a:ext cx="6858000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  <a:defRPr sz="1889" b="1" i="0" u="none" strike="noStrike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4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380942-6E93-7F03-C832-B9ABFB4DCBF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13575" y="101601"/>
            <a:ext cx="2130425" cy="362766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A82F7F-2B67-C6E1-2130-36906CEDDA4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figure/Convolution-of-a-signal-with-a-wavelet-function-Part-of-this-figure-is-taken-from-1_fig1_51918746" TargetMode="External"/><Relationship Id="rId3" Type="http://schemas.openxmlformats.org/officeDocument/2006/relationships/hyperlink" Target="https://www.hubs.com/de/wissensbasis/3d-druck-vs-cnc-bearbeitung/" TargetMode="External"/><Relationship Id="rId7" Type="http://schemas.openxmlformats.org/officeDocument/2006/relationships/hyperlink" Target="https://en.wikipedia.org/wiki/Ricker_wavelet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opographic_prominence" TargetMode="External"/><Relationship Id="rId5" Type="http://schemas.openxmlformats.org/officeDocument/2006/relationships/hyperlink" Target="https://www.mdpi.com/1996-1073/17/15/3659" TargetMode="External"/><Relationship Id="rId10" Type="http://schemas.openxmlformats.org/officeDocument/2006/relationships/hyperlink" Target="https://www.researchgate.net/figure/Pareto-front-distribution-of-the-optimization-problem_fig1_374617028" TargetMode="External"/><Relationship Id="rId4" Type="http://schemas.openxmlformats.org/officeDocument/2006/relationships/hyperlink" Target="https://www.fptindustrie.com/deu/" TargetMode="External"/><Relationship Id="rId9" Type="http://schemas.openxmlformats.org/officeDocument/2006/relationships/hyperlink" Target="https://blog.dailydoseofds.com/p/the-limitations-of-dbscan-clustering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r>
              <a:rPr lang="en-US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800662" y="2171650"/>
            <a:ext cx="58362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45" b="1" noProof="0" dirty="0">
                <a:solidFill>
                  <a:schemeClr val="dk1"/>
                </a:solidFill>
                <a:latin typeface="+mn-lt"/>
              </a:rPr>
              <a:t>Nestor Weidemann, Nathira Wijemanne</a:t>
            </a:r>
            <a:endParaRPr lang="en-US" noProof="0" dirty="0">
              <a:solidFill>
                <a:schemeClr val="dk1"/>
              </a:solidFill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45" b="1" noProof="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800639" y="2683833"/>
            <a:ext cx="4859211" cy="77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Autonomous </a:t>
            </a:r>
            <a:r>
              <a:rPr lang="en-US" sz="1111" noProof="0" dirty="0" err="1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Multisensor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 Systems Group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Institute for Intelligent Cooperating Systems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Faculty of Computer Science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Otto von Guericke University Magdeburg</a:t>
            </a:r>
            <a:endParaRPr lang="en-US" noProof="0" dirty="0">
              <a:latin typeface="+mn-lt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800639" y="3621390"/>
            <a:ext cx="4859211" cy="26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</a:rPr>
              <a:t>16.09.2025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C680B5C4-7A90-0138-37CA-B5E3178E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9F2518E-09E2-136D-6C0A-537E7B386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8877637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C130F60-02D6-0247-AADE-50E57B67276D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6999ED-3D71-175E-7396-CB6550AC2F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</a:t>
            </a:fld>
            <a:r>
              <a:rPr lang="en-US" noProof="0" dirty="0"/>
              <a:t> / 39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9614DEB9-45BC-602D-153B-4C2E253772AB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98878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B2B1B41A-FF19-2F03-7A49-C8D2563315E7}"/>
              </a:ext>
            </a:extLst>
          </p:cNvPr>
          <p:cNvSpPr txBox="1">
            <a:spLocks/>
          </p:cNvSpPr>
          <p:nvPr/>
        </p:nvSpPr>
        <p:spPr>
          <a:xfrm>
            <a:off x="359999" y="752812"/>
            <a:ext cx="8424000" cy="363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</a:t>
            </a: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energy efficiency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Computer Numerical Control </a:t>
            </a:r>
            <a:r>
              <a:rPr lang="en-US" sz="1700" dirty="0"/>
              <a:t>(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CNC) machines are widely used in modern manufacturing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CD1593C-8847-F457-80C6-94416607D69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96E465E3-518E-80CE-D6D3-CF1326BA82FB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E44A0664-51C6-56EA-2DA9-A8E0EB7A9B84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C5411DE1-DA48-8711-5BA1-F478E37AC0A3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24DEBE39-D3B2-C790-A707-EAC919383251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F9BE50DB-6172-CD6D-D255-BE3B1F3CAC79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AFB0A36E-CC78-C8DC-DE32-1CC62C644CD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3B370674-6578-7597-9125-F9A763FD2E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r>
              <a:rPr lang="en-US" noProof="0" dirty="0"/>
              <a:t> / 39</a:t>
            </a:r>
          </a:p>
        </p:txBody>
      </p:sp>
      <p:pic>
        <p:nvPicPr>
          <p:cNvPr id="1030" name="Picture 6" descr="3D printing vs. CNC machining: Which is better for prototyping and end-use  parts? | Protolabs Network">
            <a:extLst>
              <a:ext uri="{FF2B5EF4-FFF2-40B4-BE49-F238E27FC236}">
                <a16:creationId xmlns:a16="http://schemas.microsoft.com/office/drawing/2014/main" id="{09EFA87F-A367-EA23-E886-C28797835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274" y="2179781"/>
            <a:ext cx="3537451" cy="221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97A7E04-1BE4-7200-F6B1-AEE4B338E8C0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[1]</a:t>
            </a:r>
          </a:p>
        </p:txBody>
      </p:sp>
      <p:sp>
        <p:nvSpPr>
          <p:cNvPr id="4" name="Google Shape;206;p15">
            <a:extLst>
              <a:ext uri="{FF2B5EF4-FFF2-40B4-BE49-F238E27FC236}">
                <a16:creationId xmlns:a16="http://schemas.microsoft.com/office/drawing/2014/main" id="{D43BF660-44B5-EE67-3947-71A935E9F3B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0EC829C7-1019-23DC-3ABC-ABCC307D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3329BFCD-EE8A-EC84-7F89-3938F51B67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2195233"/>
            <a:ext cx="545891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Consequences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 on the drive electronics, leading to a reduced motor lifespan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in energy consumption</a:t>
            </a:r>
          </a:p>
        </p:txBody>
      </p:sp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FFB46598-C77E-2422-C7CE-015FD1107BD1}"/>
              </a:ext>
            </a:extLst>
          </p:cNvPr>
          <p:cNvSpPr txBox="1">
            <a:spLocks/>
          </p:cNvSpPr>
          <p:nvPr/>
        </p:nvSpPr>
        <p:spPr>
          <a:xfrm>
            <a:off x="359999" y="752811"/>
            <a:ext cx="842400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Sudden power surges can occur in the motor current of a milling machine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78CA870-58CA-3A5C-5AED-C011D3CFB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582" y="2318372"/>
            <a:ext cx="2743417" cy="157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4DBCBA1-8820-3422-5EA4-7067B4D4A08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E58E4AB1-353D-018C-2F37-CE9C0D83D0A8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F149A797-460C-33F3-F8B7-86799521BC58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82BA364F-0E0E-42DF-503C-EF5DECFAFDB4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ED3A06D9-32CA-6BF0-6E51-8BE4FC72E95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247D5839-A9A1-220D-F57C-D33ABDC9BB4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93603169-871B-FC37-D9C9-5EF13BB4DB3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1DA5372C-EE78-CAED-ABAD-EAF869322E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r>
              <a:rPr lang="en-US" noProof="0" dirty="0"/>
              <a:t> / 39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96E11A9-E81D-1CD2-F116-447F2CC8638D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[2]</a:t>
            </a:r>
          </a:p>
        </p:txBody>
      </p:sp>
      <p:sp>
        <p:nvSpPr>
          <p:cNvPr id="4" name="Google Shape;206;p15">
            <a:extLst>
              <a:ext uri="{FF2B5EF4-FFF2-40B4-BE49-F238E27FC236}">
                <a16:creationId xmlns:a16="http://schemas.microsoft.com/office/drawing/2014/main" id="{4E624B24-180C-1456-F3E0-FBD4C5DBB67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425080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Task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Implement and compare different approaches for peak detection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Goal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Identify sudden power surges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Detect anomalies or inefficiencies</a:t>
            </a:r>
          </a:p>
        </p:txBody>
      </p:sp>
      <p:pic>
        <p:nvPicPr>
          <p:cNvPr id="2052" name="Picture 4" descr="A Review on Recent Advances in the Energy Efficiency of Machining Processes for Sustainability">
            <a:extLst>
              <a:ext uri="{FF2B5EF4-FFF2-40B4-BE49-F238E27FC236}">
                <a16:creationId xmlns:a16="http://schemas.microsoft.com/office/drawing/2014/main" id="{4156BD4C-6256-A24B-FCA8-36C30C595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170" y="1826952"/>
            <a:ext cx="3261467" cy="263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FCC2789-93C4-E14D-74B1-D5745C6104C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B4B1652-F2C6-251D-C801-9211278635C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5" name="Richtungspfeil 33">
                <a:extLst>
                  <a:ext uri="{FF2B5EF4-FFF2-40B4-BE49-F238E27FC236}">
                    <a16:creationId xmlns:a16="http://schemas.microsoft.com/office/drawing/2014/main" id="{DA4D6300-7165-CF3C-B91B-52DCB8BC44F9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Eingekerbter Richtungspfeil 1">
                <a:extLst>
                  <a:ext uri="{FF2B5EF4-FFF2-40B4-BE49-F238E27FC236}">
                    <a16:creationId xmlns:a16="http://schemas.microsoft.com/office/drawing/2014/main" id="{6AA8A506-99D9-7F05-D5CE-33F6BF3750DF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7" name="Eingekerbter Richtungspfeil 10">
                <a:extLst>
                  <a:ext uri="{FF2B5EF4-FFF2-40B4-BE49-F238E27FC236}">
                    <a16:creationId xmlns:a16="http://schemas.microsoft.com/office/drawing/2014/main" id="{392974A0-DA25-B7BA-45B1-D35DF44FAEB6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8" name="Eingekerbter Richtungspfeil 11">
                <a:extLst>
                  <a:ext uri="{FF2B5EF4-FFF2-40B4-BE49-F238E27FC236}">
                    <a16:creationId xmlns:a16="http://schemas.microsoft.com/office/drawing/2014/main" id="{3F117BAC-7091-99CF-8DC4-BCBD99044E4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4" name="Eingekerbter Richtungspfeil 11">
              <a:extLst>
                <a:ext uri="{FF2B5EF4-FFF2-40B4-BE49-F238E27FC236}">
                  <a16:creationId xmlns:a16="http://schemas.microsoft.com/office/drawing/2014/main" id="{29286F60-71BF-7038-7018-369D8246B03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4A3A731A-6D1A-AFDE-78A7-41DB5C75F0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r>
              <a:rPr lang="en-US" noProof="0" dirty="0"/>
              <a:t> / 39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5EA6ADE-A8CB-19B1-467D-84BEAA261371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[3]</a:t>
            </a:r>
          </a:p>
        </p:txBody>
      </p:sp>
      <p:sp>
        <p:nvSpPr>
          <p:cNvPr id="3" name="Google Shape;206;p15">
            <a:extLst>
              <a:ext uri="{FF2B5EF4-FFF2-40B4-BE49-F238E27FC236}">
                <a16:creationId xmlns:a16="http://schemas.microsoft.com/office/drawing/2014/main" id="{4AFDF3E4-B3E9-D719-3811-1A87F14D710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AFBA6E69-58C3-342A-B77B-F35FC1E1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>
            <a:extLst>
              <a:ext uri="{FF2B5EF4-FFF2-40B4-BE49-F238E27FC236}">
                <a16:creationId xmlns:a16="http://schemas.microsoft.com/office/drawing/2014/main" id="{1DC1D613-7FD8-D237-73C2-B72A8E6F6D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Analysis of peak characteristics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SzPts val="1100"/>
            </a:pPr>
            <a:endParaRPr lang="en-US" sz="1700" noProof="0" dirty="0">
              <a:latin typeface="+mn-lt"/>
            </a:endParaRPr>
          </a:p>
        </p:txBody>
      </p:sp>
      <p:pic>
        <p:nvPicPr>
          <p:cNvPr id="3" name="Grafik 2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078571E8-4E3D-8867-81DD-66DE49A0C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9" y="1362730"/>
            <a:ext cx="3238544" cy="1380470"/>
          </a:xfrm>
          <a:prstGeom prst="rect">
            <a:avLst/>
          </a:prstGeom>
        </p:spPr>
      </p:pic>
      <p:pic>
        <p:nvPicPr>
          <p:cNvPr id="5" name="Grafik 4" descr="Ein Bild, das Reihe, Diagramm, Text, parallel enthält.&#10;&#10;KI-generierte Inhalte können fehlerhaft sein.">
            <a:extLst>
              <a:ext uri="{FF2B5EF4-FFF2-40B4-BE49-F238E27FC236}">
                <a16:creationId xmlns:a16="http://schemas.microsoft.com/office/drawing/2014/main" id="{8694FF82-1FE3-4E59-C7A2-AC43D13D2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8" y="3002208"/>
            <a:ext cx="3237055" cy="1380470"/>
          </a:xfrm>
          <a:prstGeom prst="rect">
            <a:avLst/>
          </a:prstGeom>
        </p:spPr>
      </p:pic>
      <p:pic>
        <p:nvPicPr>
          <p:cNvPr id="7" name="Grafik 6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C8C955F4-1FB3-C6B1-19AB-37D7999D7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551" y="1362730"/>
            <a:ext cx="3238543" cy="1380471"/>
          </a:xfrm>
          <a:prstGeom prst="rect">
            <a:avLst/>
          </a:prstGeom>
        </p:spPr>
      </p:pic>
      <p:pic>
        <p:nvPicPr>
          <p:cNvPr id="9" name="Grafik 8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B891B9E8-5892-814A-E3A5-E9894A9B8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062" y="3002208"/>
            <a:ext cx="3237055" cy="1364945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60962D1A-CF1E-F056-4FC3-52A1C1A0B8FE}"/>
              </a:ext>
            </a:extLst>
          </p:cNvPr>
          <p:cNvSpPr/>
          <p:nvPr/>
        </p:nvSpPr>
        <p:spPr>
          <a:xfrm>
            <a:off x="2749550" y="3062578"/>
            <a:ext cx="241300" cy="11820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6315B3A-0D59-00EA-DCE1-8E17C3AB36A6}"/>
              </a:ext>
            </a:extLst>
          </p:cNvPr>
          <p:cNvSpPr/>
          <p:nvPr/>
        </p:nvSpPr>
        <p:spPr>
          <a:xfrm>
            <a:off x="1069181" y="1402556"/>
            <a:ext cx="83344" cy="11977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1A92B2E-3D35-638F-4AE1-D731630CE0B9}"/>
              </a:ext>
            </a:extLst>
          </p:cNvPr>
          <p:cNvCxnSpPr>
            <a:cxnSpLocks/>
          </p:cNvCxnSpPr>
          <p:nvPr/>
        </p:nvCxnSpPr>
        <p:spPr>
          <a:xfrm flipV="1">
            <a:off x="1152525" y="2417128"/>
            <a:ext cx="3669027" cy="743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E2926F3-3915-F957-BED3-879D55DBFD59}"/>
              </a:ext>
            </a:extLst>
          </p:cNvPr>
          <p:cNvCxnSpPr>
            <a:cxnSpLocks/>
          </p:cNvCxnSpPr>
          <p:nvPr/>
        </p:nvCxnSpPr>
        <p:spPr>
          <a:xfrm>
            <a:off x="2990850" y="3959714"/>
            <a:ext cx="1874212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F2C406F-CC76-2E30-34D5-6BCA751A4E5D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510343FB-D714-DDAE-1C24-7941E117648D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22" name="Richtungspfeil 33">
                <a:extLst>
                  <a:ext uri="{FF2B5EF4-FFF2-40B4-BE49-F238E27FC236}">
                    <a16:creationId xmlns:a16="http://schemas.microsoft.com/office/drawing/2014/main" id="{A3096361-9B28-D621-9EBB-CE47DF71A47F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3" name="Eingekerbter Richtungspfeil 1">
                <a:extLst>
                  <a:ext uri="{FF2B5EF4-FFF2-40B4-BE49-F238E27FC236}">
                    <a16:creationId xmlns:a16="http://schemas.microsoft.com/office/drawing/2014/main" id="{73C8058C-9E61-F90B-DF3D-D906ECB02FD6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4" name="Eingekerbter Richtungspfeil 10">
                <a:extLst>
                  <a:ext uri="{FF2B5EF4-FFF2-40B4-BE49-F238E27FC236}">
                    <a16:creationId xmlns:a16="http://schemas.microsoft.com/office/drawing/2014/main" id="{983DD6FD-ADD8-653D-8A86-DB4C508FDC1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5" name="Eingekerbter Richtungspfeil 11">
                <a:extLst>
                  <a:ext uri="{FF2B5EF4-FFF2-40B4-BE49-F238E27FC236}">
                    <a16:creationId xmlns:a16="http://schemas.microsoft.com/office/drawing/2014/main" id="{1EBCB220-7A38-9CA3-6661-AAC8DBB2013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21" name="Eingekerbter Richtungspfeil 11">
              <a:extLst>
                <a:ext uri="{FF2B5EF4-FFF2-40B4-BE49-F238E27FC236}">
                  <a16:creationId xmlns:a16="http://schemas.microsoft.com/office/drawing/2014/main" id="{4E5D29CA-3CD2-4400-E319-2C0B9B24A73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7" name="Foliennummernplatzhalter 26">
            <a:extLst>
              <a:ext uri="{FF2B5EF4-FFF2-40B4-BE49-F238E27FC236}">
                <a16:creationId xmlns:a16="http://schemas.microsoft.com/office/drawing/2014/main" id="{4C02A5D6-2116-946B-7BA0-53CC5E35A4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r>
              <a:rPr lang="en-US" noProof="0" dirty="0"/>
              <a:t> / 39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D0DF3CCD-D822-E2E1-A1B5-90400B99124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80799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9B3728D0-374F-D5AC-A5ED-FA116D62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9ABCD404-DA33-FB50-9BA9-EE291F83A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179500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A85E2A2-1A53-977E-CEFC-F0B5AF5E8C22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FA7A9ED-6A1F-6888-3B7D-DD7FAC6E84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7</a:t>
            </a:fld>
            <a:r>
              <a:rPr lang="en-US" noProof="0" dirty="0"/>
              <a:t> / 39</a:t>
            </a:r>
          </a:p>
        </p:txBody>
      </p:sp>
      <p:sp>
        <p:nvSpPr>
          <p:cNvPr id="4" name="Google Shape;206;p15">
            <a:extLst>
              <a:ext uri="{FF2B5EF4-FFF2-40B4-BE49-F238E27FC236}">
                <a16:creationId xmlns:a16="http://schemas.microsoft.com/office/drawing/2014/main" id="{E060FFBB-C841-CA09-37CE-418241AFFA92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197452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5C34C0E-EE6D-6A01-04C3-49ED1617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AB736A43-6AF7-C410-7611-79957551EB0B}"/>
              </a:ext>
            </a:extLst>
          </p:cNvPr>
          <p:cNvSpPr/>
          <p:nvPr/>
        </p:nvSpPr>
        <p:spPr>
          <a:xfrm>
            <a:off x="4930138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/>
              <a:t>Multivariate (and non-linear) methods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504EAE7-AAEB-796A-8A45-04703C454793}"/>
              </a:ext>
            </a:extLst>
          </p:cNvPr>
          <p:cNvSpPr/>
          <p:nvPr/>
        </p:nvSpPr>
        <p:spPr>
          <a:xfrm>
            <a:off x="359997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Univariate (and linear) methods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7F6CCF1-0DAA-4FCB-BA56-26671D12679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2517815-8F64-3896-001B-61B5A3CD10F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2C70BF41-01CB-8874-A794-AACEB38C6F08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6A644002-6B8D-96F1-793B-9A51E87F2B30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FDE0BD5B-0F87-23C6-DFD2-5B54EBF9076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701F7CF-30EF-489B-BDE8-5378F811D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F7445E7A-48D5-9517-76A0-BF216776A27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41E4883-B06D-D94F-1B19-0777A22FFE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r>
              <a:rPr lang="en-US" noProof="0" dirty="0"/>
              <a:t> / 39</a:t>
            </a:r>
          </a:p>
        </p:txBody>
      </p:sp>
      <p:sp>
        <p:nvSpPr>
          <p:cNvPr id="24" name="Google Shape;222;p17">
            <a:extLst>
              <a:ext uri="{FF2B5EF4-FFF2-40B4-BE49-F238E27FC236}">
                <a16:creationId xmlns:a16="http://schemas.microsoft.com/office/drawing/2014/main" id="{C7FF8C8F-282E-8F6E-AE8A-B2EB383D89F9}"/>
              </a:ext>
            </a:extLst>
          </p:cNvPr>
          <p:cNvSpPr txBox="1">
            <a:spLocks/>
          </p:cNvSpPr>
          <p:nvPr/>
        </p:nvSpPr>
        <p:spPr>
          <a:xfrm>
            <a:off x="359999" y="1488066"/>
            <a:ext cx="3853854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Threshold-Based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Moving</a:t>
            </a:r>
            <a:r>
              <a:rPr lang="en-US" sz="1700" dirty="0">
                <a:latin typeface="+mn-lt"/>
              </a:rPr>
              <a:t>-</a:t>
            </a:r>
            <a:r>
              <a:rPr lang="en-US" sz="1700" noProof="0" dirty="0">
                <a:latin typeface="+mn-lt"/>
              </a:rPr>
              <a:t>Average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Wavelet Transform</a:t>
            </a:r>
          </a:p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5" name="Google Shape;222;p17">
            <a:extLst>
              <a:ext uri="{FF2B5EF4-FFF2-40B4-BE49-F238E27FC236}">
                <a16:creationId xmlns:a16="http://schemas.microsoft.com/office/drawing/2014/main" id="{074C0B5E-1645-888D-F057-83628D1B694C}"/>
              </a:ext>
            </a:extLst>
          </p:cNvPr>
          <p:cNvSpPr txBox="1">
            <a:spLocks/>
          </p:cNvSpPr>
          <p:nvPr/>
        </p:nvSpPr>
        <p:spPr>
          <a:xfrm>
            <a:off x="4930138" y="1488066"/>
            <a:ext cx="3853860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K-Means</a:t>
            </a: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DBSCAN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Isolation Forest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Autoencoder</a:t>
            </a: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6" name="Google Shape;222;p17">
            <a:extLst>
              <a:ext uri="{FF2B5EF4-FFF2-40B4-BE49-F238E27FC236}">
                <a16:creationId xmlns:a16="http://schemas.microsoft.com/office/drawing/2014/main" id="{0A6FB108-4AA9-8C97-4678-685F3C75263B}"/>
              </a:ext>
            </a:extLst>
          </p:cNvPr>
          <p:cNvSpPr txBox="1">
            <a:spLocks/>
          </p:cNvSpPr>
          <p:nvPr/>
        </p:nvSpPr>
        <p:spPr>
          <a:xfrm>
            <a:off x="359999" y="3560706"/>
            <a:ext cx="8424000" cy="8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Broad variety of techniques from simple to complex and data-driven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551BACD7-CAF0-DA0D-F031-1BD09F2CA240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114988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80D20D9-7245-792E-8DAC-9588249C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C152FB6F-D3D2-C9D2-E4E3-F106CB6F51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General Overview of Pipeline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79239B9-5220-2439-98F4-005B874DB73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CAC7CF4-8C11-80E6-F1EA-03971C97F62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614F7790-F3C0-C239-D15A-2C22A9E5F785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FEDBB18-A4DD-C8C2-EA5A-A5E2F6C7080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10A66AE0-A07E-DD01-9C5C-EEA4446587C4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BDC4EA2-47F3-3075-8CCB-2B73FD8DFBA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07AA1DC-FC1B-3094-FBB6-A78B5870183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88DF518-D6BB-C299-91A5-BC058ADAC4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r>
              <a:rPr lang="en-US" noProof="0" dirty="0"/>
              <a:t> / 39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426D271-C3BA-135F-D12D-97395D89F757}"/>
              </a:ext>
            </a:extLst>
          </p:cNvPr>
          <p:cNvSpPr/>
          <p:nvPr/>
        </p:nvSpPr>
        <p:spPr>
          <a:xfrm>
            <a:off x="153960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Data Processing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D37A6995-2903-A7B4-8BC2-7456AE948496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>
            <a:off x="3071229" y="2830110"/>
            <a:ext cx="7349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085B5A0-D837-3EF1-6525-343770A293DF}"/>
              </a:ext>
            </a:extLst>
          </p:cNvPr>
          <p:cNvSpPr/>
          <p:nvPr/>
        </p:nvSpPr>
        <p:spPr>
          <a:xfrm>
            <a:off x="380618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Building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1674AEA-A69E-6A29-3383-7E9478EC17AC}"/>
              </a:ext>
            </a:extLst>
          </p:cNvPr>
          <p:cNvSpPr/>
          <p:nvPr/>
        </p:nvSpPr>
        <p:spPr>
          <a:xfrm>
            <a:off x="3806189" y="1346317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Tuning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D251ADB-CAD3-A331-DD40-91AABF29E24F}"/>
              </a:ext>
            </a:extLst>
          </p:cNvPr>
          <p:cNvSpPr/>
          <p:nvPr/>
        </p:nvSpPr>
        <p:spPr>
          <a:xfrm>
            <a:off x="6072769" y="1939834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Visualization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B09723ED-FD23-9EFB-C02C-2BFB4815531D}"/>
              </a:ext>
            </a:extLst>
          </p:cNvPr>
          <p:cNvSpPr/>
          <p:nvPr/>
        </p:nvSpPr>
        <p:spPr>
          <a:xfrm>
            <a:off x="6072769" y="3126868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Evaluation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CBC3B5F-C3FB-DCB6-B836-2B1EFD1E0998}"/>
              </a:ext>
            </a:extLst>
          </p:cNvPr>
          <p:cNvCxnSpPr>
            <a:cxnSpLocks/>
          </p:cNvCxnSpPr>
          <p:nvPr/>
        </p:nvCxnSpPr>
        <p:spPr>
          <a:xfrm>
            <a:off x="430948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E13F18E-0692-11C0-33C4-BA3C1779C5E6}"/>
              </a:ext>
            </a:extLst>
          </p:cNvPr>
          <p:cNvCxnSpPr>
            <a:cxnSpLocks/>
          </p:cNvCxnSpPr>
          <p:nvPr/>
        </p:nvCxnSpPr>
        <p:spPr>
          <a:xfrm flipV="1">
            <a:off x="483526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9C3A7DBF-7F27-A810-2101-B71179380F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5337809" y="2236593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395AB48F-A542-7989-0333-6E4FA9F27D0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5337809" y="2830110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21EB328-F8BE-A634-E80F-C861BE7E4D59}"/>
              </a:ext>
            </a:extLst>
          </p:cNvPr>
          <p:cNvSpPr/>
          <p:nvPr/>
        </p:nvSpPr>
        <p:spPr>
          <a:xfrm>
            <a:off x="3806189" y="3720385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Pseudo Labeling</a:t>
            </a: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ED0177AB-B09F-E443-23E4-F213C3FF75D6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3071229" y="2830110"/>
            <a:ext cx="734960" cy="118703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7EA5655D-332D-AFB2-0F84-EA4DE072F224}"/>
              </a:ext>
            </a:extLst>
          </p:cNvPr>
          <p:cNvCxnSpPr>
            <a:cxnSpLocks/>
            <a:stCxn id="14" idx="3"/>
            <a:endCxn id="20" idx="2"/>
          </p:cNvCxnSpPr>
          <p:nvPr/>
        </p:nvCxnSpPr>
        <p:spPr>
          <a:xfrm flipV="1">
            <a:off x="5337809" y="3720385"/>
            <a:ext cx="1500770" cy="29675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Google Shape;206;p15">
            <a:extLst>
              <a:ext uri="{FF2B5EF4-FFF2-40B4-BE49-F238E27FC236}">
                <a16:creationId xmlns:a16="http://schemas.microsoft.com/office/drawing/2014/main" id="{4E8A2F42-FD52-4AF6-217A-026C9E6760A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1989573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1130671-11D4-0706-979A-F78C44E1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55E4E28B-1C42-4109-CA6D-602A7B1966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Approach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A point is identified as a peak if</a:t>
            </a:r>
            <a:r>
              <a:rPr lang="en-US" sz="1700" noProof="0" dirty="0">
                <a:latin typeface="+mn-lt"/>
              </a:rPr>
              <a:t>: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dirty="0">
                <a:latin typeface="+mn-lt"/>
              </a:rPr>
              <a:t>It is a local maximum</a:t>
            </a:r>
            <a:endParaRPr lang="en-US" sz="1543" noProof="0" dirty="0">
              <a:latin typeface="+mn-lt"/>
            </a:endParaRP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value exceeds a threshold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prominence exceeds a threshold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2B942FC-19D0-D8F2-0725-B8490D35E0C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066611A-8454-87BF-3830-26AE80FE7F62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F1547A34-CD6B-A3CB-8A59-1E6FB8EEBAC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8CD5708-1280-CBA8-1EF4-AAA2D138240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E2B1706-FDD3-E047-5343-57817DE41B3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DB2C7D4B-2214-97E6-B34F-99D95E57994A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8410B4E-FA8D-B38E-451A-050763E71C4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66C6B237-8E9E-C19E-1D91-123D2EA5FDE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2AF038B-F371-E724-E09F-1AF95EECC5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r>
              <a:rPr lang="en-US" noProof="0" dirty="0"/>
              <a:t> / 39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73076C0-2584-EAA5-23A5-EBEFC7DDF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9"/>
          <a:stretch>
            <a:fillRect/>
          </a:stretch>
        </p:blipFill>
        <p:spPr bwMode="auto">
          <a:xfrm>
            <a:off x="5272614" y="1317526"/>
            <a:ext cx="2988508" cy="142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765CF41C-390D-5069-71A8-B80B5FEC1107}"/>
              </a:ext>
            </a:extLst>
          </p:cNvPr>
          <p:cNvSpPr/>
          <p:nvPr/>
        </p:nvSpPr>
        <p:spPr>
          <a:xfrm>
            <a:off x="359998" y="3173506"/>
            <a:ext cx="8424000" cy="469647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Input-Feature-Variants</a:t>
            </a:r>
          </a:p>
        </p:txBody>
      </p:sp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7EA27407-CE4F-DC6C-3FAD-D0CB1B3411C2}"/>
              </a:ext>
            </a:extLst>
          </p:cNvPr>
          <p:cNvSpPr txBox="1">
            <a:spLocks/>
          </p:cNvSpPr>
          <p:nvPr/>
        </p:nvSpPr>
        <p:spPr>
          <a:xfrm>
            <a:off x="359998" y="3651293"/>
            <a:ext cx="4212001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b="1" dirty="0">
                <a:latin typeface="+mn-lt"/>
              </a:rPr>
              <a:t>Torque</a:t>
            </a:r>
            <a:r>
              <a:rPr lang="en-US" sz="1700" dirty="0">
                <a:latin typeface="+mn-lt"/>
              </a:rPr>
              <a:t> with removed DC-offset</a:t>
            </a:r>
          </a:p>
        </p:txBody>
      </p:sp>
      <p:sp>
        <p:nvSpPr>
          <p:cNvPr id="13" name="Google Shape;222;p17">
            <a:extLst>
              <a:ext uri="{FF2B5EF4-FFF2-40B4-BE49-F238E27FC236}">
                <a16:creationId xmlns:a16="http://schemas.microsoft.com/office/drawing/2014/main" id="{DF88E95E-500B-A532-1F1A-42FEA093ABB4}"/>
              </a:ext>
            </a:extLst>
          </p:cNvPr>
          <p:cNvSpPr txBox="1">
            <a:spLocks/>
          </p:cNvSpPr>
          <p:nvPr/>
        </p:nvSpPr>
        <p:spPr>
          <a:xfrm>
            <a:off x="4571999" y="3651293"/>
            <a:ext cx="4212000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Absolute gradient of the </a:t>
            </a:r>
            <a:r>
              <a:rPr lang="en-US" sz="1700" b="1" dirty="0">
                <a:latin typeface="+mn-lt"/>
              </a:rPr>
              <a:t>command-speed</a:t>
            </a:r>
            <a:endParaRPr lang="en-US" sz="1700" b="1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DD45580-2BBD-FCFD-803A-0EECF03E04C3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3340109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6DD028B-670D-062A-3E51-0098E453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BD2013B7-EF9A-D690-0D54-F7CE219F4C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Moving-Average-Based Approach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9298B66-0307-64C8-3F54-BD596B58F3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982ADC4-AA24-D2F3-C5F2-FBC57D23D1D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351152C-BC3F-C5BF-09EC-7CEADDD7092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3A0BF305-ECBC-79BC-FCD6-2C23940871A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8BEFB37-B1A8-7766-3B03-0A6D46854AB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5CA7C44B-9812-B4FC-3E62-EA0CE880B8FF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F28120F-8E3E-4A19-1626-D4C3A4D77D7A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C50BE5-8632-10E1-1791-B6790268C1F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F39E9A5-30A1-05FB-1802-8C269836EC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r>
              <a:rPr lang="en-US" noProof="0" dirty="0"/>
              <a:t> / 39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E1421EE-06E5-DB23-2149-8DF25E3C593E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Apply Moving-Average-Smoothing</a:t>
            </a:r>
            <a:endParaRPr lang="en-US" sz="1700" noProof="0" dirty="0">
              <a:latin typeface="+mn-lt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0DCFFB9-732C-143D-3BFD-2A5599050238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Determine the difference to the original signal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8238EC0-6AB2-0A50-4EF6-190F8BCBC81D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for local maxima that exceed the threshold</a:t>
            </a:r>
            <a:endParaRPr lang="en-US" sz="1700" noProof="0" dirty="0">
              <a:latin typeface="+mn-lt"/>
            </a:endParaRPr>
          </a:p>
        </p:txBody>
      </p:sp>
      <p:pic>
        <p:nvPicPr>
          <p:cNvPr id="14" name="Picture 19">
            <a:extLst>
              <a:ext uri="{FF2B5EF4-FFF2-40B4-BE49-F238E27FC236}">
                <a16:creationId xmlns:a16="http://schemas.microsoft.com/office/drawing/2014/main" id="{7221C828-03D1-33C3-C4A6-9E89DF8E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6" t="8706" r="25866" b="12812"/>
          <a:stretch>
            <a:fillRect/>
          </a:stretch>
        </p:blipFill>
        <p:spPr>
          <a:xfrm>
            <a:off x="5542787" y="1314979"/>
            <a:ext cx="2850614" cy="17367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1E1299D-71F4-2B7B-1561-D389AF7D04B2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99E31BB-AFA9-EC06-CF9B-CB0173322762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55FCB4EA-B256-F7BD-1D1B-FE6BCB938500}"/>
                  </a:ext>
                </a:extLst>
              </p:cNvPr>
              <p:cNvCxnSpPr>
                <a:cxnSpLocks/>
                <a:endCxn id="2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1FA1F55D-840F-4E70-80C8-EA812E03CAD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6" name="Gleichschenkliges Dreieck 25">
                  <a:extLst>
                    <a:ext uri="{FF2B5EF4-FFF2-40B4-BE49-F238E27FC236}">
                      <a16:creationId xmlns:a16="http://schemas.microsoft.com/office/drawing/2014/main" id="{F13267A8-3404-F7F5-5ECB-D5800E6F43C5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844F47A6-4C0C-2D4D-1FB8-8ED245CEA2E0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DBD5EB6F-0E88-7077-036E-3A5EC356C45D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167A70B4-7C7F-E8DB-54CE-2642B8B1FDBF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9133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EF0FBF1-428B-178A-2E3E-19301B36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2AEDFEE-FBDB-1E5D-D8FD-D02A77ACFA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Wavelet Transform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Using the Ricker wavelet as a basis function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Scale the wavelet and apply convolution on the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target signal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High response indicates strong similarity</a:t>
            </a:r>
          </a:p>
        </p:txBody>
      </p:sp>
      <p:pic>
        <p:nvPicPr>
          <p:cNvPr id="377" name="Google Shape;377;p33">
            <a:extLst>
              <a:ext uri="{FF2B5EF4-FFF2-40B4-BE49-F238E27FC236}">
                <a16:creationId xmlns:a16="http://schemas.microsoft.com/office/drawing/2014/main" id="{FD956299-0F44-0EDC-4959-36FA58D8C6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5089" b="4652"/>
          <a:stretch>
            <a:fillRect/>
          </a:stretch>
        </p:blipFill>
        <p:spPr>
          <a:xfrm>
            <a:off x="6213205" y="1189394"/>
            <a:ext cx="1990201" cy="1107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5EC45A9-5B4B-3C19-0A88-317712AED9C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830C361-C208-E0B9-F925-C17D2FD2897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D9556C8-C7E6-49DF-C2EE-798A4D33F50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1EB14B41-CE7F-12EE-2105-A3934F02969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2CE551F-A795-DFF8-1956-E1602A4EA3B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FA19D478-8F9E-DB56-8CF7-36D24C015038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D05EABF-0D82-9F87-BEBD-CBF028D6E09D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D93A135-6378-4E2C-9394-B108E1431B7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DB5948F-5451-351B-8505-4577093D27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r>
              <a:rPr lang="en-US" noProof="0" dirty="0"/>
              <a:t> / 39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C78D345-1002-A588-A1D5-35E08D81E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95" y="2571750"/>
            <a:ext cx="4655608" cy="116247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7EC1943-BC5A-932C-6523-5FDCF89D8608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[5, 6]</a:t>
            </a:r>
          </a:p>
        </p:txBody>
      </p:sp>
    </p:spTree>
    <p:extLst>
      <p:ext uri="{BB962C8B-B14F-4D97-AF65-F5344CB8AC3E}">
        <p14:creationId xmlns:p14="http://schemas.microsoft.com/office/powerpoint/2010/main" val="2114188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3A63E7DE-B10D-3D1A-58B1-4D3F368C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952F2EE-3AB3-D68E-892C-99CE3FD2D8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K-Means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A1BD546-03CB-3E58-447F-685948AEC80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A8A25AE-8B90-B48D-61D8-8BDBA414B4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CC6522E9-55F3-DE8F-2D9E-F92EA90A31D2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4925F6C9-2A0F-255C-E25D-40C9582B98AF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4215CBDF-9378-867B-C5D9-9A8722D5DA1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4FCDD600-D293-CA4A-24DF-496BA9843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200D138-C856-9628-42A7-8BF370F01203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B60A7B3-5021-D234-CF30-6EA1FFA9418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7D1DE76-24CC-B2F5-51C9-53B62172EB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r>
              <a:rPr lang="en-US" noProof="0" dirty="0"/>
              <a:t> / 39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021F1AE-704F-B28F-477E-C588A76194A3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DE4DBF9-1BD8-741B-06F0-7D992A7BE759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CEC9CD1-BA0D-FA82-2688-225C809CF07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Randomly initialize K centroids</a:t>
            </a:r>
            <a:endParaRPr lang="en-US" sz="1700" noProof="0" dirty="0">
              <a:latin typeface="+mn-lt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8332378-E9DD-2EE4-3FA8-9C680E47A006}"/>
              </a:ext>
            </a:extLst>
          </p:cNvPr>
          <p:cNvSpPr txBox="1"/>
          <p:nvPr/>
        </p:nvSpPr>
        <p:spPr>
          <a:xfrm>
            <a:off x="947840" y="3867209"/>
            <a:ext cx="783615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Recompute the centroids by calculating the mean of all points assigned to it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B6BC3393-AE0F-E9FD-2976-77FDBF143A2C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each point to the nearest c</a:t>
            </a:r>
            <a:r>
              <a:rPr lang="en-US" sz="1700" dirty="0">
                <a:latin typeface="+mn-lt"/>
              </a:rPr>
              <a:t>entroid</a:t>
            </a:r>
            <a:endParaRPr lang="en-US" sz="1700" noProof="0" dirty="0">
              <a:latin typeface="+mn-lt"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43979AE-BE5E-8BD1-65A4-2F7E98DDB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6" r="52837"/>
          <a:stretch>
            <a:fillRect/>
          </a:stretch>
        </p:blipFill>
        <p:spPr bwMode="auto">
          <a:xfrm>
            <a:off x="6678138" y="1508421"/>
            <a:ext cx="1715264" cy="23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78" name="Gruppieren 7177">
            <a:extLst>
              <a:ext uri="{FF2B5EF4-FFF2-40B4-BE49-F238E27FC236}">
                <a16:creationId xmlns:a16="http://schemas.microsoft.com/office/drawing/2014/main" id="{C528A08C-733B-A924-DD87-EA86FAF5419A}"/>
              </a:ext>
            </a:extLst>
          </p:cNvPr>
          <p:cNvGrpSpPr/>
          <p:nvPr/>
        </p:nvGrpSpPr>
        <p:grpSpPr>
          <a:xfrm>
            <a:off x="670350" y="1350148"/>
            <a:ext cx="160496" cy="3145416"/>
            <a:chOff x="670350" y="1350148"/>
            <a:chExt cx="160496" cy="3145416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02C021F1-892F-82C5-D52B-B78F37273CA7}"/>
                </a:ext>
              </a:extLst>
            </p:cNvPr>
            <p:cNvGrpSpPr/>
            <p:nvPr/>
          </p:nvGrpSpPr>
          <p:grpSpPr>
            <a:xfrm>
              <a:off x="670350" y="1350148"/>
              <a:ext cx="160496" cy="3145416"/>
              <a:chOff x="666368" y="1547019"/>
              <a:chExt cx="160496" cy="3145416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A8CD6AB5-6A13-5CBE-2F92-784A84AB3F91}"/>
                  </a:ext>
                </a:extLst>
              </p:cNvPr>
              <p:cNvGrpSpPr/>
              <p:nvPr/>
            </p:nvGrpSpPr>
            <p:grpSpPr>
              <a:xfrm>
                <a:off x="666368" y="1547019"/>
                <a:ext cx="160496" cy="3145416"/>
                <a:chOff x="666368" y="1547019"/>
                <a:chExt cx="160496" cy="3145416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DED33B77-694F-F4D2-C875-2EFC2F5D2253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6" y="1547019"/>
                  <a:ext cx="3428" cy="2940086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uppieren 38">
                  <a:extLst>
                    <a:ext uri="{FF2B5EF4-FFF2-40B4-BE49-F238E27FC236}">
                      <a16:creationId xmlns:a16="http://schemas.microsoft.com/office/drawing/2014/main" id="{69315F91-5811-63F7-7FB5-A699F65417F6}"/>
                    </a:ext>
                  </a:extLst>
                </p:cNvPr>
                <p:cNvGrpSpPr/>
                <p:nvPr/>
              </p:nvGrpSpPr>
              <p:grpSpPr>
                <a:xfrm>
                  <a:off x="666368" y="1664319"/>
                  <a:ext cx="160496" cy="3028116"/>
                  <a:chOff x="353365" y="1509897"/>
                  <a:chExt cx="176268" cy="3325691"/>
                </a:xfrm>
              </p:grpSpPr>
              <p:grpSp>
                <p:nvGrpSpPr>
                  <p:cNvPr id="3" name="Gruppieren 2">
                    <a:extLst>
                      <a:ext uri="{FF2B5EF4-FFF2-40B4-BE49-F238E27FC236}">
                        <a16:creationId xmlns:a16="http://schemas.microsoft.com/office/drawing/2014/main" id="{CDA4E912-2F42-1303-24EE-DAE75B28CA82}"/>
                      </a:ext>
                    </a:extLst>
                  </p:cNvPr>
                  <p:cNvGrpSpPr/>
                  <p:nvPr/>
                </p:nvGrpSpPr>
                <p:grpSpPr>
                  <a:xfrm>
                    <a:off x="353365" y="1509897"/>
                    <a:ext cx="176268" cy="3325691"/>
                    <a:chOff x="6762353" y="2615584"/>
                    <a:chExt cx="176268" cy="3325691"/>
                  </a:xfrm>
                </p:grpSpPr>
                <p:sp>
                  <p:nvSpPr>
                    <p:cNvPr id="15" name="Gleichschenkliges Dreieck 14">
                      <a:extLst>
                        <a:ext uri="{FF2B5EF4-FFF2-40B4-BE49-F238E27FC236}">
                          <a16:creationId xmlns:a16="http://schemas.microsoft.com/office/drawing/2014/main" id="{8C5E56FC-B6BA-FD49-02E5-CFE6DAACAC6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762353" y="5715767"/>
                      <a:ext cx="176268" cy="225508"/>
                    </a:xfrm>
                    <a:prstGeom prst="triangl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6" name="Ellipse 15">
                      <a:extLst>
                        <a:ext uri="{FF2B5EF4-FFF2-40B4-BE49-F238E27FC236}">
                          <a16:creationId xmlns:a16="http://schemas.microsoft.com/office/drawing/2014/main" id="{FCB1A9DF-BCEF-2063-4B43-DB6E92E0E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2615584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7" name="Ellipse 16">
                      <a:extLst>
                        <a:ext uri="{FF2B5EF4-FFF2-40B4-BE49-F238E27FC236}">
                          <a16:creationId xmlns:a16="http://schemas.microsoft.com/office/drawing/2014/main" id="{62E496D2-A4E1-CCBA-AD95-FABD1ECDB5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3311821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8" name="Ellipse 17">
                      <a:extLst>
                        <a:ext uri="{FF2B5EF4-FFF2-40B4-BE49-F238E27FC236}">
                          <a16:creationId xmlns:a16="http://schemas.microsoft.com/office/drawing/2014/main" id="{AE783A49-3717-E870-F011-14929D1F6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4704297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9" name="Ellipse 18">
                      <a:extLst>
                        <a:ext uri="{FF2B5EF4-FFF2-40B4-BE49-F238E27FC236}">
                          <a16:creationId xmlns:a16="http://schemas.microsoft.com/office/drawing/2014/main" id="{F9F47CE1-4494-E584-5907-3E34D4261C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5400535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cxnSp>
                <p:nvCxnSpPr>
                  <p:cNvPr id="25" name="Verbinder: gekrümmt 24">
                    <a:extLst>
                      <a:ext uri="{FF2B5EF4-FFF2-40B4-BE49-F238E27FC236}">
                        <a16:creationId xmlns:a16="http://schemas.microsoft.com/office/drawing/2014/main" id="{1794CF26-9921-55D2-A4B4-4EE135F2D126}"/>
                      </a:ext>
                    </a:extLst>
                  </p:cNvPr>
                  <p:cNvCxnSpPr>
                    <a:cxnSpLocks/>
                    <a:stCxn id="19" idx="2"/>
                    <a:endCxn id="18" idx="2"/>
                  </p:cNvCxnSpPr>
                  <p:nvPr/>
                </p:nvCxnSpPr>
                <p:spPr>
                  <a:xfrm rot="10800000">
                    <a:off x="396498" y="3643611"/>
                    <a:ext cx="13948" cy="696238"/>
                  </a:xfrm>
                  <a:prstGeom prst="curvedConnector3">
                    <a:avLst>
                      <a:gd name="adj1" fmla="val 2220000"/>
                    </a:avLst>
                  </a:prstGeom>
                  <a:ln w="19050">
                    <a:solidFill>
                      <a:srgbClr val="0068B4"/>
                    </a:solidFill>
                    <a:tail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88FA3B7C-0CA0-711D-28EA-5446A8BFB287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174" name="Gerader Verbinder 7173">
              <a:extLst>
                <a:ext uri="{FF2B5EF4-FFF2-40B4-BE49-F238E27FC236}">
                  <a16:creationId xmlns:a16="http://schemas.microsoft.com/office/drawing/2014/main" id="{131608A6-90DB-2DBE-05F5-71C5AECBEC29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8" y="2817275"/>
              <a:ext cx="379" cy="1472959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16F39627-B678-888D-5EEA-C55AD2415ECC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</p:spTree>
    <p:extLst>
      <p:ext uri="{BB962C8B-B14F-4D97-AF65-F5344CB8AC3E}">
        <p14:creationId xmlns:p14="http://schemas.microsoft.com/office/powerpoint/2010/main" val="149176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30AB386-0908-D59B-2839-FE887AB9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277E0DD-2C46-E1BF-A3EB-F1F21C787C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DBSCAN (</a:t>
            </a:r>
            <a:r>
              <a:rPr lang="en-US" sz="1700" i="1" dirty="0">
                <a:latin typeface="+mn-lt"/>
              </a:rPr>
              <a:t>Density-Based Spatial Clustering of Applications with Noise</a:t>
            </a:r>
            <a:r>
              <a:rPr lang="en-US" sz="1700" dirty="0">
                <a:latin typeface="+mn-lt"/>
              </a:rPr>
              <a:t>)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54FF386-1F5D-078B-4CFC-73B821CB4D4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C1130E7-3960-F8FB-8789-6E011BF86753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883D0F1-4266-B0C6-043C-EE3199DDA23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E1C9405D-C8CA-D8D9-3886-CE01D19E74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FE5991B-B9F5-EA3B-C5D6-794F1C81A18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D40189E-7AF5-CBD5-044B-5E4AE7461C97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F78B8D1-6EAE-6322-CA7F-3913BD13BD7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A052BDD-5F8F-8436-2899-67350E2AB35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6010B2E-D6D1-9FF1-3445-B646275DCC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r>
              <a:rPr lang="en-US" noProof="0" dirty="0"/>
              <a:t> / 39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D697E1D-D9D0-EA40-E609-80C9D1626B9D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5BAFD77-8E87-1CB3-D45C-6252A18113F5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E18C446-07D2-0991-45D6-F0E5DCA2855A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Grouping together points that are closely packed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60B226B8-F337-06E6-3EE4-801BCF5705DF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Marking those as outliers that lie alone in low-density regions</a:t>
            </a:r>
            <a:endParaRPr lang="en-US" sz="1700" noProof="0" dirty="0">
              <a:latin typeface="+mn-lt"/>
            </a:endParaRP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8A0A7478-9D9A-5D5A-263E-391FADFDB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4" t="6186" r="344"/>
          <a:stretch>
            <a:fillRect/>
          </a:stretch>
        </p:blipFill>
        <p:spPr bwMode="auto">
          <a:xfrm>
            <a:off x="6674709" y="1508421"/>
            <a:ext cx="1689832" cy="230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BA57BD1-C7FA-26D4-0EE3-E74CF2B3FC21}"/>
              </a:ext>
            </a:extLst>
          </p:cNvPr>
          <p:cNvGrpSpPr/>
          <p:nvPr/>
        </p:nvGrpSpPr>
        <p:grpSpPr>
          <a:xfrm>
            <a:off x="670351" y="1350148"/>
            <a:ext cx="160496" cy="2527183"/>
            <a:chOff x="670351" y="1350148"/>
            <a:chExt cx="160496" cy="2527183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CE296725-93E7-6C8F-F642-D51EFE15CD6D}"/>
                </a:ext>
              </a:extLst>
            </p:cNvPr>
            <p:cNvGrpSpPr/>
            <p:nvPr/>
          </p:nvGrpSpPr>
          <p:grpSpPr>
            <a:xfrm>
              <a:off x="670351" y="1350148"/>
              <a:ext cx="160496" cy="2527183"/>
              <a:chOff x="666369" y="1547019"/>
              <a:chExt cx="160496" cy="2527183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E1324477-05E8-8890-7169-4C14AD7B320B}"/>
                  </a:ext>
                </a:extLst>
              </p:cNvPr>
              <p:cNvGrpSpPr/>
              <p:nvPr/>
            </p:nvGrpSpPr>
            <p:grpSpPr>
              <a:xfrm>
                <a:off x="666369" y="1547019"/>
                <a:ext cx="160496" cy="2527183"/>
                <a:chOff x="666369" y="1547019"/>
                <a:chExt cx="160496" cy="2527183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5CF9CF67-4054-DF9C-3F4B-1CC1FAD2AB4F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7" y="1547019"/>
                  <a:ext cx="3427" cy="2321853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" name="Gruppieren 2">
                  <a:extLst>
                    <a:ext uri="{FF2B5EF4-FFF2-40B4-BE49-F238E27FC236}">
                      <a16:creationId xmlns:a16="http://schemas.microsoft.com/office/drawing/2014/main" id="{B63DCE2C-DC7C-5577-EF6D-58F2001ED475}"/>
                    </a:ext>
                  </a:extLst>
                </p:cNvPr>
                <p:cNvGrpSpPr/>
                <p:nvPr/>
              </p:nvGrpSpPr>
              <p:grpSpPr>
                <a:xfrm>
                  <a:off x="666369" y="1664319"/>
                  <a:ext cx="160496" cy="2409883"/>
                  <a:chOff x="6762354" y="2615584"/>
                  <a:chExt cx="176268" cy="2646699"/>
                </a:xfrm>
              </p:grpSpPr>
              <p:sp>
                <p:nvSpPr>
                  <p:cNvPr id="15" name="Gleichschenkliges Dreieck 14">
                    <a:extLst>
                      <a:ext uri="{FF2B5EF4-FFF2-40B4-BE49-F238E27FC236}">
                        <a16:creationId xmlns:a16="http://schemas.microsoft.com/office/drawing/2014/main" id="{F860287E-3684-3603-963D-3F2FEE51CE1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762354" y="5036775"/>
                    <a:ext cx="176268" cy="225508"/>
                  </a:xfrm>
                  <a:prstGeom prst="triangl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Ellipse 15">
                    <a:extLst>
                      <a:ext uri="{FF2B5EF4-FFF2-40B4-BE49-F238E27FC236}">
                        <a16:creationId xmlns:a16="http://schemas.microsoft.com/office/drawing/2014/main" id="{134EFEA8-92FD-3FA7-30E1-519AC27B25B6}"/>
                      </a:ext>
                    </a:extLst>
                  </p:cNvPr>
                  <p:cNvSpPr/>
                  <p:nvPr/>
                </p:nvSpPr>
                <p:spPr>
                  <a:xfrm>
                    <a:off x="6805486" y="2615584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Ellipse 16">
                    <a:extLst>
                      <a:ext uri="{FF2B5EF4-FFF2-40B4-BE49-F238E27FC236}">
                        <a16:creationId xmlns:a16="http://schemas.microsoft.com/office/drawing/2014/main" id="{9802481D-C048-1BE8-58B1-B51657A013BB}"/>
                      </a:ext>
                    </a:extLst>
                  </p:cNvPr>
                  <p:cNvSpPr/>
                  <p:nvPr/>
                </p:nvSpPr>
                <p:spPr>
                  <a:xfrm>
                    <a:off x="6805486" y="3311821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" name="Ellipse 17">
                    <a:extLst>
                      <a:ext uri="{FF2B5EF4-FFF2-40B4-BE49-F238E27FC236}">
                        <a16:creationId xmlns:a16="http://schemas.microsoft.com/office/drawing/2014/main" id="{3EE9CC09-E8A8-21BE-3902-317AE80799B9}"/>
                      </a:ext>
                    </a:extLst>
                  </p:cNvPr>
                  <p:cNvSpPr/>
                  <p:nvPr/>
                </p:nvSpPr>
                <p:spPr>
                  <a:xfrm>
                    <a:off x="6805486" y="4704297"/>
                    <a:ext cx="90000" cy="90000"/>
                  </a:xfrm>
                  <a:prstGeom prst="ellipse">
                    <a:avLst/>
                  </a:prstGeom>
                  <a:solidFill>
                    <a:srgbClr val="0068B4"/>
                  </a:solidFill>
                  <a:ln>
                    <a:solidFill>
                      <a:srgbClr val="0068B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7DBE6F67-0951-CE4F-18A6-C989C7B498B5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9F29E4CE-B3CB-F877-4376-6181E16A3988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9" y="2817275"/>
              <a:ext cx="378" cy="854726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E029580F-2341-2542-166D-B338FBE50CFB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</p:spTree>
    <p:extLst>
      <p:ext uri="{BB962C8B-B14F-4D97-AF65-F5344CB8AC3E}">
        <p14:creationId xmlns:p14="http://schemas.microsoft.com/office/powerpoint/2010/main" val="1643668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73B6B48-5DBE-2AF8-57CC-4C3B632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96DB8B13-BEC0-1D1F-BAF5-6E3E8BA48DA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Isolation Forest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F74A049-654E-458D-F1A1-8B6EAD49A735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CB63554-640B-6098-0C72-09CA35D16F9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7F3C4AB-4B84-98F7-1C5D-D2C232EA44B6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F78BA1A-C441-5BDC-E631-43714DD047EA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53A6C86-4942-4D2E-7FA5-E7666ED39BD9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0781FE1-7A37-4BA1-B3E8-45A8F17187C2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5655D89-ED08-64A7-A410-4729191498DF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70CE877-A16B-7D5B-1F54-0530778E66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r>
              <a:rPr lang="en-US" noProof="0" dirty="0"/>
              <a:t> / 39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6407492-DA74-0A0E-25C5-0BA8E61AEC34}"/>
              </a:ext>
            </a:extLst>
          </p:cNvPr>
          <p:cNvSpPr/>
          <p:nvPr/>
        </p:nvSpPr>
        <p:spPr>
          <a:xfrm>
            <a:off x="6316613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49BED88-809F-BC0D-D147-F77DA2620D44}"/>
              </a:ext>
            </a:extLst>
          </p:cNvPr>
          <p:cNvSpPr/>
          <p:nvPr/>
        </p:nvSpPr>
        <p:spPr>
          <a:xfrm>
            <a:off x="6124513" y="1394390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DEC4E2-531D-FACA-C197-40533ADA281F}"/>
              </a:ext>
            </a:extLst>
          </p:cNvPr>
          <p:cNvSpPr/>
          <p:nvPr/>
        </p:nvSpPr>
        <p:spPr>
          <a:xfrm>
            <a:off x="6508652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8E39B25-6D14-2EDC-CBC2-D2E35E6EBC7A}"/>
              </a:ext>
            </a:extLst>
          </p:cNvPr>
          <p:cNvSpPr/>
          <p:nvPr/>
        </p:nvSpPr>
        <p:spPr>
          <a:xfrm>
            <a:off x="6316613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6196B26-49E1-F4F9-7CD2-FC5C4ECC009B}"/>
              </a:ext>
            </a:extLst>
          </p:cNvPr>
          <p:cNvSpPr/>
          <p:nvPr/>
        </p:nvSpPr>
        <p:spPr>
          <a:xfrm>
            <a:off x="670075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DE524BD-2E8D-1792-33B8-B8F43E4C4DBA}"/>
              </a:ext>
            </a:extLst>
          </p:cNvPr>
          <p:cNvSpPr/>
          <p:nvPr/>
        </p:nvSpPr>
        <p:spPr>
          <a:xfrm>
            <a:off x="6124513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3D22010-4C16-4107-F2E3-1CB0645D3427}"/>
              </a:ext>
            </a:extLst>
          </p:cNvPr>
          <p:cNvSpPr/>
          <p:nvPr/>
        </p:nvSpPr>
        <p:spPr>
          <a:xfrm>
            <a:off x="63166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E855C4B-CADD-2288-9E81-3F0B193C4D69}"/>
              </a:ext>
            </a:extLst>
          </p:cNvPr>
          <p:cNvSpPr/>
          <p:nvPr/>
        </p:nvSpPr>
        <p:spPr>
          <a:xfrm>
            <a:off x="59324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B5F56CD-BBE1-A8E2-51A7-7B4211D62086}"/>
              </a:ext>
            </a:extLst>
          </p:cNvPr>
          <p:cNvCxnSpPr>
            <a:cxnSpLocks/>
            <a:stCxn id="3" idx="3"/>
            <a:endCxn id="13" idx="0"/>
          </p:cNvCxnSpPr>
          <p:nvPr/>
        </p:nvCxnSpPr>
        <p:spPr>
          <a:xfrm flipH="1">
            <a:off x="6220563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67AD66B3-78AF-E275-CB57-15A38DEF67CF}"/>
              </a:ext>
            </a:extLst>
          </p:cNvPr>
          <p:cNvCxnSpPr>
            <a:cxnSpLocks/>
            <a:stCxn id="3" idx="5"/>
            <a:endCxn id="14" idx="0"/>
          </p:cNvCxnSpPr>
          <p:nvPr/>
        </p:nvCxnSpPr>
        <p:spPr>
          <a:xfrm>
            <a:off x="6480581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C84ACB4-A807-CCA3-6D7F-A4CC7F6D6FB4}"/>
              </a:ext>
            </a:extLst>
          </p:cNvPr>
          <p:cNvCxnSpPr>
            <a:cxnSpLocks/>
            <a:stCxn id="14" idx="5"/>
            <a:endCxn id="16" idx="0"/>
          </p:cNvCxnSpPr>
          <p:nvPr/>
        </p:nvCxnSpPr>
        <p:spPr>
          <a:xfrm>
            <a:off x="6672620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19D5418-3458-A9AD-A895-446612DEA0DC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 flipH="1">
            <a:off x="6412663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D2D90C4-E025-F001-C6F4-F937E45CBB38}"/>
              </a:ext>
            </a:extLst>
          </p:cNvPr>
          <p:cNvCxnSpPr>
            <a:cxnSpLocks/>
            <a:stCxn id="15" idx="3"/>
            <a:endCxn id="17" idx="0"/>
          </p:cNvCxnSpPr>
          <p:nvPr/>
        </p:nvCxnSpPr>
        <p:spPr>
          <a:xfrm flipH="1">
            <a:off x="6220563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7C5BD0D-E8C7-9513-A2B6-7649608A8908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 flipH="1">
            <a:off x="6028463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39FE545-2CD1-1CEB-D9CE-C011C855B816}"/>
              </a:ext>
            </a:extLst>
          </p:cNvPr>
          <p:cNvCxnSpPr>
            <a:cxnSpLocks/>
            <a:stCxn id="17" idx="5"/>
            <a:endCxn id="19" idx="0"/>
          </p:cNvCxnSpPr>
          <p:nvPr/>
        </p:nvCxnSpPr>
        <p:spPr>
          <a:xfrm>
            <a:off x="6288481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E727F1DD-8D59-B82C-5546-0384F8FBAEDE}"/>
              </a:ext>
            </a:extLst>
          </p:cNvPr>
          <p:cNvSpPr/>
          <p:nvPr/>
        </p:nvSpPr>
        <p:spPr>
          <a:xfrm>
            <a:off x="7910922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78898DE-7210-AA2D-3626-E2A7FF9291F0}"/>
              </a:ext>
            </a:extLst>
          </p:cNvPr>
          <p:cNvSpPr/>
          <p:nvPr/>
        </p:nvSpPr>
        <p:spPr>
          <a:xfrm>
            <a:off x="7718822" y="1394390"/>
            <a:ext cx="192100" cy="192100"/>
          </a:xfrm>
          <a:prstGeom prst="ellips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9EEFE3A-9ED5-F740-41A3-76D5CA890796}"/>
              </a:ext>
            </a:extLst>
          </p:cNvPr>
          <p:cNvSpPr/>
          <p:nvPr/>
        </p:nvSpPr>
        <p:spPr>
          <a:xfrm>
            <a:off x="8102961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035DCCB3-9D32-30D9-C9AD-3F0E776727A9}"/>
              </a:ext>
            </a:extLst>
          </p:cNvPr>
          <p:cNvSpPr/>
          <p:nvPr/>
        </p:nvSpPr>
        <p:spPr>
          <a:xfrm>
            <a:off x="79109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4D0B181-03B6-3A9C-B7AD-37D3731F0FCB}"/>
              </a:ext>
            </a:extLst>
          </p:cNvPr>
          <p:cNvSpPr/>
          <p:nvPr/>
        </p:nvSpPr>
        <p:spPr>
          <a:xfrm>
            <a:off x="8295061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A5BBB05-8A26-6CD8-5A47-051585E2F315}"/>
              </a:ext>
            </a:extLst>
          </p:cNvPr>
          <p:cNvSpPr/>
          <p:nvPr/>
        </p:nvSpPr>
        <p:spPr>
          <a:xfrm>
            <a:off x="7718822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3CDC496-1165-F8EA-89BB-24EC065339DB}"/>
              </a:ext>
            </a:extLst>
          </p:cNvPr>
          <p:cNvSpPr/>
          <p:nvPr/>
        </p:nvSpPr>
        <p:spPr>
          <a:xfrm>
            <a:off x="79109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A8FB7951-F29B-B523-CF79-C12D127535C3}"/>
              </a:ext>
            </a:extLst>
          </p:cNvPr>
          <p:cNvSpPr/>
          <p:nvPr/>
        </p:nvSpPr>
        <p:spPr>
          <a:xfrm>
            <a:off x="75267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D1D1A934-8BB7-7BC7-75D5-363501DC68B8}"/>
              </a:ext>
            </a:extLst>
          </p:cNvPr>
          <p:cNvCxnSpPr>
            <a:cxnSpLocks/>
            <a:stCxn id="53" idx="3"/>
            <a:endCxn id="54" idx="0"/>
          </p:cNvCxnSpPr>
          <p:nvPr/>
        </p:nvCxnSpPr>
        <p:spPr>
          <a:xfrm flipH="1">
            <a:off x="7814872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B8478282-016C-3585-5A92-DC863156312E}"/>
              </a:ext>
            </a:extLst>
          </p:cNvPr>
          <p:cNvCxnSpPr>
            <a:cxnSpLocks/>
            <a:stCxn id="53" idx="5"/>
            <a:endCxn id="55" idx="0"/>
          </p:cNvCxnSpPr>
          <p:nvPr/>
        </p:nvCxnSpPr>
        <p:spPr>
          <a:xfrm>
            <a:off x="8074890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30DB282-BFCB-3447-8455-E83AC0534ADB}"/>
              </a:ext>
            </a:extLst>
          </p:cNvPr>
          <p:cNvCxnSpPr>
            <a:cxnSpLocks/>
            <a:stCxn id="55" idx="5"/>
            <a:endCxn id="57" idx="0"/>
          </p:cNvCxnSpPr>
          <p:nvPr/>
        </p:nvCxnSpPr>
        <p:spPr>
          <a:xfrm>
            <a:off x="8266929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561AD4B5-7A13-68B5-CF8C-D25741D32C82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 flipH="1">
            <a:off x="8006972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erader Verbinder 192">
            <a:extLst>
              <a:ext uri="{FF2B5EF4-FFF2-40B4-BE49-F238E27FC236}">
                <a16:creationId xmlns:a16="http://schemas.microsoft.com/office/drawing/2014/main" id="{A5930E52-5E70-1ADE-0C30-B42BD04855A9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 flipH="1">
            <a:off x="7814872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F83D32B8-B12A-355E-3059-7398E849849E}"/>
              </a:ext>
            </a:extLst>
          </p:cNvPr>
          <p:cNvCxnSpPr>
            <a:cxnSpLocks/>
            <a:stCxn id="58" idx="3"/>
            <a:endCxn id="60" idx="0"/>
          </p:cNvCxnSpPr>
          <p:nvPr/>
        </p:nvCxnSpPr>
        <p:spPr>
          <a:xfrm flipH="1">
            <a:off x="7622772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A8C1EA79-ABB7-CA6E-6585-9BCB026E7371}"/>
              </a:ext>
            </a:extLst>
          </p:cNvPr>
          <p:cNvCxnSpPr>
            <a:cxnSpLocks/>
            <a:stCxn id="58" idx="5"/>
            <a:endCxn id="59" idx="0"/>
          </p:cNvCxnSpPr>
          <p:nvPr/>
        </p:nvCxnSpPr>
        <p:spPr>
          <a:xfrm>
            <a:off x="7882790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Ellipse 195">
            <a:extLst>
              <a:ext uri="{FF2B5EF4-FFF2-40B4-BE49-F238E27FC236}">
                <a16:creationId xmlns:a16="http://schemas.microsoft.com/office/drawing/2014/main" id="{192637B9-B1C7-917E-CCBC-6CEFF8795DC7}"/>
              </a:ext>
            </a:extLst>
          </p:cNvPr>
          <p:cNvSpPr/>
          <p:nvPr/>
        </p:nvSpPr>
        <p:spPr>
          <a:xfrm>
            <a:off x="75267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157ECC07-956F-A014-663E-E3101D63AC2A}"/>
              </a:ext>
            </a:extLst>
          </p:cNvPr>
          <p:cNvCxnSpPr>
            <a:cxnSpLocks/>
            <a:stCxn id="54" idx="3"/>
            <a:endCxn id="196" idx="0"/>
          </p:cNvCxnSpPr>
          <p:nvPr/>
        </p:nvCxnSpPr>
        <p:spPr>
          <a:xfrm flipH="1">
            <a:off x="7622772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Ellipse 199">
            <a:extLst>
              <a:ext uri="{FF2B5EF4-FFF2-40B4-BE49-F238E27FC236}">
                <a16:creationId xmlns:a16="http://schemas.microsoft.com/office/drawing/2014/main" id="{DC6E3065-40E8-93C1-2EDB-AB5E76547B71}"/>
              </a:ext>
            </a:extLst>
          </p:cNvPr>
          <p:cNvSpPr/>
          <p:nvPr/>
        </p:nvSpPr>
        <p:spPr>
          <a:xfrm>
            <a:off x="6344745" y="3024253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A6A0B93D-EFA3-F584-6CC3-106054D1FD58}"/>
              </a:ext>
            </a:extLst>
          </p:cNvPr>
          <p:cNvSpPr/>
          <p:nvPr/>
        </p:nvSpPr>
        <p:spPr>
          <a:xfrm>
            <a:off x="6344684" y="329141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2" name="Textfeld 19">
            <a:extLst>
              <a:ext uri="{FF2B5EF4-FFF2-40B4-BE49-F238E27FC236}">
                <a16:creationId xmlns:a16="http://schemas.microsoft.com/office/drawing/2014/main" id="{0AF7B777-98CB-64D1-5874-6A313C72F129}"/>
              </a:ext>
            </a:extLst>
          </p:cNvPr>
          <p:cNvSpPr txBox="1"/>
          <p:nvPr/>
        </p:nvSpPr>
        <p:spPr>
          <a:xfrm>
            <a:off x="6575317" y="2941136"/>
            <a:ext cx="22052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Outlier</a:t>
            </a:r>
          </a:p>
          <a:p>
            <a:r>
              <a:rPr lang="en-US" sz="1700" dirty="0">
                <a:latin typeface="+mn-lt"/>
              </a:rPr>
              <a:t>Regular data point</a:t>
            </a:r>
          </a:p>
        </p:txBody>
      </p:sp>
      <p:sp>
        <p:nvSpPr>
          <p:cNvPr id="204" name="Textfeld 203">
            <a:extLst>
              <a:ext uri="{FF2B5EF4-FFF2-40B4-BE49-F238E27FC236}">
                <a16:creationId xmlns:a16="http://schemas.microsoft.com/office/drawing/2014/main" id="{C5E38BF2-E5EF-3A42-FB6F-92B1037BC169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Create random splits to isolate </a:t>
            </a:r>
            <a:r>
              <a:rPr lang="en-US" sz="1700" dirty="0">
                <a:latin typeface="+mn-lt"/>
              </a:rPr>
              <a:t>all data points</a:t>
            </a:r>
            <a:endParaRPr lang="en-US" sz="1700" noProof="0" dirty="0">
              <a:latin typeface="+mn-lt"/>
            </a:endParaRPr>
          </a:p>
        </p:txBody>
      </p:sp>
      <p:sp>
        <p:nvSpPr>
          <p:cNvPr id="205" name="Textfeld 204">
            <a:extLst>
              <a:ext uri="{FF2B5EF4-FFF2-40B4-BE49-F238E27FC236}">
                <a16:creationId xmlns:a16="http://schemas.microsoft.com/office/drawing/2014/main" id="{B997FEB9-585B-A25F-9AFC-B4A0BC40FDE1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anomaly score</a:t>
            </a:r>
          </a:p>
        </p:txBody>
      </p:sp>
      <p:sp>
        <p:nvSpPr>
          <p:cNvPr id="206" name="Textfeld 205">
            <a:extLst>
              <a:ext uri="{FF2B5EF4-FFF2-40B4-BE49-F238E27FC236}">
                <a16:creationId xmlns:a16="http://schemas.microsoft.com/office/drawing/2014/main" id="{D38EACB7-6425-00CE-00E8-C613EA41761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outliers using a threshold for the score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07" name="Gruppieren 206">
            <a:extLst>
              <a:ext uri="{FF2B5EF4-FFF2-40B4-BE49-F238E27FC236}">
                <a16:creationId xmlns:a16="http://schemas.microsoft.com/office/drawing/2014/main" id="{57DFF7C2-99A9-2F37-B9FF-E3B142A06F80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08" name="Gruppieren 207">
              <a:extLst>
                <a:ext uri="{FF2B5EF4-FFF2-40B4-BE49-F238E27FC236}">
                  <a16:creationId xmlns:a16="http://schemas.microsoft.com/office/drawing/2014/main" id="{790AA10F-FEDA-8F72-75F0-713795A0A629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0" name="Gerader Verbinder 209">
                <a:extLst>
                  <a:ext uri="{FF2B5EF4-FFF2-40B4-BE49-F238E27FC236}">
                    <a16:creationId xmlns:a16="http://schemas.microsoft.com/office/drawing/2014/main" id="{8C59F7E1-8760-9AA1-94AB-464745194EE8}"/>
                  </a:ext>
                </a:extLst>
              </p:cNvPr>
              <p:cNvCxnSpPr>
                <a:cxnSpLocks/>
                <a:endCxn id="212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1" name="Gruppieren 210">
                <a:extLst>
                  <a:ext uri="{FF2B5EF4-FFF2-40B4-BE49-F238E27FC236}">
                    <a16:creationId xmlns:a16="http://schemas.microsoft.com/office/drawing/2014/main" id="{AAD69ED2-54E2-05BE-9F87-73D25E9540FD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2" name="Gleichschenkliges Dreieck 211">
                  <a:extLst>
                    <a:ext uri="{FF2B5EF4-FFF2-40B4-BE49-F238E27FC236}">
                      <a16:creationId xmlns:a16="http://schemas.microsoft.com/office/drawing/2014/main" id="{FC190AA2-71EE-F566-C58F-11794CF44639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Ellipse 212">
                  <a:extLst>
                    <a:ext uri="{FF2B5EF4-FFF2-40B4-BE49-F238E27FC236}">
                      <a16:creationId xmlns:a16="http://schemas.microsoft.com/office/drawing/2014/main" id="{6E3A130B-8147-9682-273A-1730D3490DDA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Ellipse 213">
                  <a:extLst>
                    <a:ext uri="{FF2B5EF4-FFF2-40B4-BE49-F238E27FC236}">
                      <a16:creationId xmlns:a16="http://schemas.microsoft.com/office/drawing/2014/main" id="{E2D80DA5-D6B3-4BBF-3FD3-CB21E6CB2078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184FB634-E35F-0264-EF50-958659BD933D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CD3AB6C-5583-3FE1-C24F-4794F9E233A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</p:spTree>
    <p:extLst>
      <p:ext uri="{BB962C8B-B14F-4D97-AF65-F5344CB8AC3E}">
        <p14:creationId xmlns:p14="http://schemas.microsoft.com/office/powerpoint/2010/main" val="4080830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96F92FD-FB96-1F89-0FC0-EE3A46F2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C32DBDE-37D3-7822-290D-E8BA183F647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89671E7D-39B4-59B6-2D73-C9C217388AE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09AE5676-76BE-CD0A-C6C8-F4FC402167F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5A6E122-B581-B94D-39A2-6A98B98F74A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3B29B6C4-63A2-FA1C-BF66-87B34965771C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CB8FF58C-1FBE-B615-88D5-AEA971657B3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9A260FB-D2D0-70D9-D509-5DBBA403D6E0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2" name="Google Shape;206;p15">
            <a:extLst>
              <a:ext uri="{FF2B5EF4-FFF2-40B4-BE49-F238E27FC236}">
                <a16:creationId xmlns:a16="http://schemas.microsoft.com/office/drawing/2014/main" id="{516FDEA9-948D-5E54-2920-98AFA5B80DA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</a:t>
            </a:r>
            <a:r>
              <a:rPr lang="en-US" sz="800" b="1" dirty="0">
                <a:solidFill>
                  <a:schemeClr val="lt1"/>
                </a:solidFill>
                <a:latin typeface="+mn-lt"/>
              </a:rPr>
              <a:t>N. Weidemann</a:t>
            </a:r>
            <a:endParaRPr lang="en-US" sz="800" b="1" noProof="0" dirty="0">
              <a:solidFill>
                <a:schemeClr val="lt1"/>
              </a:solidFill>
              <a:latin typeface="+mn-lt"/>
            </a:endParaRP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F9B47E6-9EAA-CA0D-4E5B-3409E4ED07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r>
              <a:rPr lang="en-US" noProof="0" dirty="0"/>
              <a:t> / 39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1D39FF4-7EE5-A1EB-75E7-885F8EE43126}"/>
              </a:ext>
            </a:extLst>
          </p:cNvPr>
          <p:cNvSpPr/>
          <p:nvPr/>
        </p:nvSpPr>
        <p:spPr>
          <a:xfrm>
            <a:off x="6940586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F66AE34-0B7D-C80D-9001-691D090E59F4}"/>
              </a:ext>
            </a:extLst>
          </p:cNvPr>
          <p:cNvSpPr/>
          <p:nvPr/>
        </p:nvSpPr>
        <p:spPr>
          <a:xfrm>
            <a:off x="6934826" y="232872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CEF8FD7-F2E1-13D5-4790-5F0002F21E33}"/>
              </a:ext>
            </a:extLst>
          </p:cNvPr>
          <p:cNvSpPr/>
          <p:nvPr/>
        </p:nvSpPr>
        <p:spPr>
          <a:xfrm>
            <a:off x="7320552" y="1972149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CAB171C-F793-DC45-4C38-52DD1D4C659F}"/>
              </a:ext>
            </a:extLst>
          </p:cNvPr>
          <p:cNvSpPr/>
          <p:nvPr/>
        </p:nvSpPr>
        <p:spPr>
          <a:xfrm>
            <a:off x="7320552" y="2332462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8461DA9-0B66-9D83-D130-CAF5485A6AE4}"/>
              </a:ext>
            </a:extLst>
          </p:cNvPr>
          <p:cNvSpPr/>
          <p:nvPr/>
        </p:nvSpPr>
        <p:spPr>
          <a:xfrm>
            <a:off x="7700518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7C8C6B4-6D54-0DD8-8F43-06B6831BAE21}"/>
              </a:ext>
            </a:extLst>
          </p:cNvPr>
          <p:cNvSpPr/>
          <p:nvPr/>
        </p:nvSpPr>
        <p:spPr>
          <a:xfrm>
            <a:off x="8080484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27D1ADF-DDF1-3EE4-9F18-A45B426362F6}"/>
              </a:ext>
            </a:extLst>
          </p:cNvPr>
          <p:cNvSpPr/>
          <p:nvPr/>
        </p:nvSpPr>
        <p:spPr>
          <a:xfrm>
            <a:off x="7704819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B235E82-4662-C4C2-8F0E-ED79FC384AB8}"/>
              </a:ext>
            </a:extLst>
          </p:cNvPr>
          <p:cNvSpPr/>
          <p:nvPr/>
        </p:nvSpPr>
        <p:spPr>
          <a:xfrm>
            <a:off x="8080484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890EC71-8E83-182E-EA46-EB36335F4ED4}"/>
              </a:ext>
            </a:extLst>
          </p:cNvPr>
          <p:cNvSpPr/>
          <p:nvPr/>
        </p:nvSpPr>
        <p:spPr>
          <a:xfrm>
            <a:off x="7700518" y="161556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5B88058-F19E-8072-AAA6-500FC3CE85A5}"/>
              </a:ext>
            </a:extLst>
          </p:cNvPr>
          <p:cNvSpPr/>
          <p:nvPr/>
        </p:nvSpPr>
        <p:spPr>
          <a:xfrm>
            <a:off x="8080484" y="1612443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C5EE53B-B8FA-77D2-2633-589F2BB6995E}"/>
              </a:ext>
            </a:extLst>
          </p:cNvPr>
          <p:cNvSpPr/>
          <p:nvPr/>
        </p:nvSpPr>
        <p:spPr>
          <a:xfrm>
            <a:off x="8080484" y="1252737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22BC8B3B-57D6-5F47-8653-E00FDA3CA6B2}"/>
              </a:ext>
            </a:extLst>
          </p:cNvPr>
          <p:cNvSpPr/>
          <p:nvPr/>
        </p:nvSpPr>
        <p:spPr>
          <a:xfrm>
            <a:off x="7708736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C08CFCAA-AA6F-6677-2CD5-1A818FE5F490}"/>
              </a:ext>
            </a:extLst>
          </p:cNvPr>
          <p:cNvSpPr/>
          <p:nvPr/>
        </p:nvSpPr>
        <p:spPr>
          <a:xfrm>
            <a:off x="8080484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12C3B91-3DA2-3EBC-CC8D-29DA0A9D8C89}"/>
              </a:ext>
            </a:extLst>
          </p:cNvPr>
          <p:cNvSpPr/>
          <p:nvPr/>
        </p:nvSpPr>
        <p:spPr>
          <a:xfrm>
            <a:off x="8080484" y="304188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33A619D-582E-BF58-9499-35C959CD1B09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7512652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A116A2D-5DF1-D772-DC45-B1C7D6747808}"/>
              </a:ext>
            </a:extLst>
          </p:cNvPr>
          <p:cNvCxnSpPr>
            <a:cxnSpLocks/>
            <a:stCxn id="15" idx="6"/>
            <a:endCxn id="30" idx="2"/>
          </p:cNvCxnSpPr>
          <p:nvPr/>
        </p:nvCxnSpPr>
        <p:spPr>
          <a:xfrm flipV="1">
            <a:off x="7512652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84407F87-5B6F-7698-6CD1-BDECC04D92D6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>
          <a:xfrm>
            <a:off x="7512652" y="2068199"/>
            <a:ext cx="192167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65CDC9ED-3199-CC3F-DA06-9ADEEE74710B}"/>
              </a:ext>
            </a:extLst>
          </p:cNvPr>
          <p:cNvCxnSpPr>
            <a:cxnSpLocks/>
            <a:stCxn id="15" idx="6"/>
            <a:endCxn id="33" idx="2"/>
          </p:cNvCxnSpPr>
          <p:nvPr/>
        </p:nvCxnSpPr>
        <p:spPr>
          <a:xfrm>
            <a:off x="7512652" y="2068199"/>
            <a:ext cx="196084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BE0B6E2-D8A3-5AB8-3A33-AEBCB004948E}"/>
              </a:ext>
            </a:extLst>
          </p:cNvPr>
          <p:cNvCxnSpPr>
            <a:cxnSpLocks/>
            <a:stCxn id="16" idx="6"/>
            <a:endCxn id="33" idx="2"/>
          </p:cNvCxnSpPr>
          <p:nvPr/>
        </p:nvCxnSpPr>
        <p:spPr>
          <a:xfrm>
            <a:off x="7512652" y="2428512"/>
            <a:ext cx="196084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A89C9C5-862F-DB6F-5C4A-D11C667EF5F4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>
          <a:xfrm flipV="1">
            <a:off x="7512652" y="2424779"/>
            <a:ext cx="192167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BD593E1F-D17F-194C-AD98-526C88083F35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7512652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B63E764-C570-F906-9C24-B14747D67174}"/>
              </a:ext>
            </a:extLst>
          </p:cNvPr>
          <p:cNvCxnSpPr>
            <a:cxnSpLocks/>
            <a:stCxn id="30" idx="2"/>
            <a:endCxn id="16" idx="6"/>
          </p:cNvCxnSpPr>
          <p:nvPr/>
        </p:nvCxnSpPr>
        <p:spPr>
          <a:xfrm flipH="1">
            <a:off x="7512652" y="1711619"/>
            <a:ext cx="187866" cy="7168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C79CE026-AE2D-6C9A-FD10-867EF587E671}"/>
              </a:ext>
            </a:extLst>
          </p:cNvPr>
          <p:cNvCxnSpPr>
            <a:cxnSpLocks/>
            <a:stCxn id="35" idx="2"/>
            <a:endCxn id="33" idx="6"/>
          </p:cNvCxnSpPr>
          <p:nvPr/>
        </p:nvCxnSpPr>
        <p:spPr>
          <a:xfrm flipH="1" flipV="1">
            <a:off x="7900836" y="278135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CB031104-4862-71A5-F5E7-57DEF4203050}"/>
              </a:ext>
            </a:extLst>
          </p:cNvPr>
          <p:cNvCxnSpPr>
            <a:cxnSpLocks/>
            <a:stCxn id="34" idx="2"/>
            <a:endCxn id="33" idx="6"/>
          </p:cNvCxnSpPr>
          <p:nvPr/>
        </p:nvCxnSpPr>
        <p:spPr>
          <a:xfrm flipH="1">
            <a:off x="7900836" y="2781359"/>
            <a:ext cx="179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E80B8471-EC4C-F653-D176-DCC0D4A0C9C5}"/>
              </a:ext>
            </a:extLst>
          </p:cNvPr>
          <p:cNvCxnSpPr>
            <a:cxnSpLocks/>
            <a:stCxn id="29" idx="2"/>
            <a:endCxn id="33" idx="6"/>
          </p:cNvCxnSpPr>
          <p:nvPr/>
        </p:nvCxnSpPr>
        <p:spPr>
          <a:xfrm flipH="1">
            <a:off x="7900836" y="242477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Gerader Verbinder 199">
            <a:extLst>
              <a:ext uri="{FF2B5EF4-FFF2-40B4-BE49-F238E27FC236}">
                <a16:creationId xmlns:a16="http://schemas.microsoft.com/office/drawing/2014/main" id="{96519E16-AC3D-C93B-9896-00ED7BDB9595}"/>
              </a:ext>
            </a:extLst>
          </p:cNvPr>
          <p:cNvCxnSpPr>
            <a:cxnSpLocks/>
            <a:stCxn id="27" idx="2"/>
            <a:endCxn id="33" idx="6"/>
          </p:cNvCxnSpPr>
          <p:nvPr/>
        </p:nvCxnSpPr>
        <p:spPr>
          <a:xfrm flipH="1">
            <a:off x="7900836" y="2068199"/>
            <a:ext cx="179648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Gerader Verbinder 202">
            <a:extLst>
              <a:ext uri="{FF2B5EF4-FFF2-40B4-BE49-F238E27FC236}">
                <a16:creationId xmlns:a16="http://schemas.microsoft.com/office/drawing/2014/main" id="{128EBC76-584E-B731-5F70-DB9640DC3428}"/>
              </a:ext>
            </a:extLst>
          </p:cNvPr>
          <p:cNvCxnSpPr>
            <a:cxnSpLocks/>
            <a:stCxn id="31" idx="2"/>
            <a:endCxn id="33" idx="6"/>
          </p:cNvCxnSpPr>
          <p:nvPr/>
        </p:nvCxnSpPr>
        <p:spPr>
          <a:xfrm flipH="1">
            <a:off x="7900836" y="1708493"/>
            <a:ext cx="179648" cy="10728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E535C433-7266-F48B-0383-02816FBD6625}"/>
              </a:ext>
            </a:extLst>
          </p:cNvPr>
          <p:cNvCxnSpPr>
            <a:cxnSpLocks/>
            <a:stCxn id="32" idx="2"/>
            <a:endCxn id="33" idx="6"/>
          </p:cNvCxnSpPr>
          <p:nvPr/>
        </p:nvCxnSpPr>
        <p:spPr>
          <a:xfrm flipH="1">
            <a:off x="7900836" y="1348787"/>
            <a:ext cx="179648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Gerader Verbinder 208">
            <a:extLst>
              <a:ext uri="{FF2B5EF4-FFF2-40B4-BE49-F238E27FC236}">
                <a16:creationId xmlns:a16="http://schemas.microsoft.com/office/drawing/2014/main" id="{54034C47-2D6B-53D6-6D10-87DD70CC5304}"/>
              </a:ext>
            </a:extLst>
          </p:cNvPr>
          <p:cNvCxnSpPr>
            <a:cxnSpLocks/>
            <a:stCxn id="28" idx="6"/>
            <a:endCxn id="35" idx="2"/>
          </p:cNvCxnSpPr>
          <p:nvPr/>
        </p:nvCxnSpPr>
        <p:spPr>
          <a:xfrm>
            <a:off x="7896919" y="2424779"/>
            <a:ext cx="183565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E92707AA-88F1-0F3F-0FBB-2DEFFA4B0E7B}"/>
              </a:ext>
            </a:extLst>
          </p:cNvPr>
          <p:cNvCxnSpPr>
            <a:cxnSpLocks/>
            <a:stCxn id="28" idx="6"/>
            <a:endCxn id="34" idx="2"/>
          </p:cNvCxnSpPr>
          <p:nvPr/>
        </p:nvCxnSpPr>
        <p:spPr>
          <a:xfrm>
            <a:off x="7896919" y="242477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Gerader Verbinder 214">
            <a:extLst>
              <a:ext uri="{FF2B5EF4-FFF2-40B4-BE49-F238E27FC236}">
                <a16:creationId xmlns:a16="http://schemas.microsoft.com/office/drawing/2014/main" id="{2E288195-B20E-4418-AAC1-FA6143FB5219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>
            <a:off x="7896919" y="2424779"/>
            <a:ext cx="1835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r Verbinder 217">
            <a:extLst>
              <a:ext uri="{FF2B5EF4-FFF2-40B4-BE49-F238E27FC236}">
                <a16:creationId xmlns:a16="http://schemas.microsoft.com/office/drawing/2014/main" id="{BED38DBB-9D4A-5F1C-26B8-3888DA90836C}"/>
              </a:ext>
            </a:extLst>
          </p:cNvPr>
          <p:cNvCxnSpPr>
            <a:cxnSpLocks/>
            <a:stCxn id="28" idx="6"/>
            <a:endCxn id="27" idx="2"/>
          </p:cNvCxnSpPr>
          <p:nvPr/>
        </p:nvCxnSpPr>
        <p:spPr>
          <a:xfrm flipV="1">
            <a:off x="7896919" y="206819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Gerader Verbinder 220">
            <a:extLst>
              <a:ext uri="{FF2B5EF4-FFF2-40B4-BE49-F238E27FC236}">
                <a16:creationId xmlns:a16="http://schemas.microsoft.com/office/drawing/2014/main" id="{8634DA4D-AE97-E49D-F05C-60CE88F587DB}"/>
              </a:ext>
            </a:extLst>
          </p:cNvPr>
          <p:cNvCxnSpPr>
            <a:cxnSpLocks/>
            <a:stCxn id="28" idx="6"/>
            <a:endCxn id="31" idx="2"/>
          </p:cNvCxnSpPr>
          <p:nvPr/>
        </p:nvCxnSpPr>
        <p:spPr>
          <a:xfrm flipV="1">
            <a:off x="7896919" y="1708493"/>
            <a:ext cx="183565" cy="7162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Gerader Verbinder 224">
            <a:extLst>
              <a:ext uri="{FF2B5EF4-FFF2-40B4-BE49-F238E27FC236}">
                <a16:creationId xmlns:a16="http://schemas.microsoft.com/office/drawing/2014/main" id="{743BDDE8-BB30-50DB-E213-50C896ED0862}"/>
              </a:ext>
            </a:extLst>
          </p:cNvPr>
          <p:cNvCxnSpPr>
            <a:cxnSpLocks/>
            <a:stCxn id="28" idx="6"/>
            <a:endCxn id="32" idx="2"/>
          </p:cNvCxnSpPr>
          <p:nvPr/>
        </p:nvCxnSpPr>
        <p:spPr>
          <a:xfrm flipV="1">
            <a:off x="7896919" y="1348787"/>
            <a:ext cx="183565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Gerader Verbinder 227">
            <a:extLst>
              <a:ext uri="{FF2B5EF4-FFF2-40B4-BE49-F238E27FC236}">
                <a16:creationId xmlns:a16="http://schemas.microsoft.com/office/drawing/2014/main" id="{6536701A-58DD-EE61-DB71-A57956787764}"/>
              </a:ext>
            </a:extLst>
          </p:cNvPr>
          <p:cNvCxnSpPr>
            <a:cxnSpLocks/>
            <a:stCxn id="17" idx="6"/>
            <a:endCxn id="35" idx="2"/>
          </p:cNvCxnSpPr>
          <p:nvPr/>
        </p:nvCxnSpPr>
        <p:spPr>
          <a:xfrm>
            <a:off x="7892618" y="206819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C646CB29-289F-3923-485E-8F05AF8320CA}"/>
              </a:ext>
            </a:extLst>
          </p:cNvPr>
          <p:cNvCxnSpPr>
            <a:cxnSpLocks/>
            <a:stCxn id="17" idx="6"/>
            <a:endCxn id="34" idx="2"/>
          </p:cNvCxnSpPr>
          <p:nvPr/>
        </p:nvCxnSpPr>
        <p:spPr>
          <a:xfrm>
            <a:off x="7892618" y="206819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Gerader Verbinder 233">
            <a:extLst>
              <a:ext uri="{FF2B5EF4-FFF2-40B4-BE49-F238E27FC236}">
                <a16:creationId xmlns:a16="http://schemas.microsoft.com/office/drawing/2014/main" id="{4B7E0E08-59F1-AFDE-D3DB-70B3B9DF1941}"/>
              </a:ext>
            </a:extLst>
          </p:cNvPr>
          <p:cNvCxnSpPr>
            <a:cxnSpLocks/>
            <a:stCxn id="17" idx="6"/>
            <a:endCxn id="29" idx="2"/>
          </p:cNvCxnSpPr>
          <p:nvPr/>
        </p:nvCxnSpPr>
        <p:spPr>
          <a:xfrm>
            <a:off x="7892618" y="206819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Gerader Verbinder 236">
            <a:extLst>
              <a:ext uri="{FF2B5EF4-FFF2-40B4-BE49-F238E27FC236}">
                <a16:creationId xmlns:a16="http://schemas.microsoft.com/office/drawing/2014/main" id="{340B198E-AB28-7AAB-7877-8B9C88B3D1BB}"/>
              </a:ext>
            </a:extLst>
          </p:cNvPr>
          <p:cNvCxnSpPr>
            <a:cxnSpLocks/>
            <a:stCxn id="17" idx="6"/>
            <a:endCxn id="27" idx="2"/>
          </p:cNvCxnSpPr>
          <p:nvPr/>
        </p:nvCxnSpPr>
        <p:spPr>
          <a:xfrm>
            <a:off x="7892618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Gerader Verbinder 239">
            <a:extLst>
              <a:ext uri="{FF2B5EF4-FFF2-40B4-BE49-F238E27FC236}">
                <a16:creationId xmlns:a16="http://schemas.microsoft.com/office/drawing/2014/main" id="{9C60B81B-ED2C-FCED-35FF-C9394CD117A3}"/>
              </a:ext>
            </a:extLst>
          </p:cNvPr>
          <p:cNvCxnSpPr>
            <a:cxnSpLocks/>
            <a:stCxn id="17" idx="6"/>
            <a:endCxn id="31" idx="2"/>
          </p:cNvCxnSpPr>
          <p:nvPr/>
        </p:nvCxnSpPr>
        <p:spPr>
          <a:xfrm flipV="1">
            <a:off x="7892618" y="1708493"/>
            <a:ext cx="187866" cy="3597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Gerader Verbinder 242">
            <a:extLst>
              <a:ext uri="{FF2B5EF4-FFF2-40B4-BE49-F238E27FC236}">
                <a16:creationId xmlns:a16="http://schemas.microsoft.com/office/drawing/2014/main" id="{B6277C44-E45B-56B7-C76C-C86696CD667B}"/>
              </a:ext>
            </a:extLst>
          </p:cNvPr>
          <p:cNvCxnSpPr>
            <a:cxnSpLocks/>
            <a:stCxn id="17" idx="6"/>
            <a:endCxn id="32" idx="2"/>
          </p:cNvCxnSpPr>
          <p:nvPr/>
        </p:nvCxnSpPr>
        <p:spPr>
          <a:xfrm flipV="1">
            <a:off x="7892618" y="1348787"/>
            <a:ext cx="187866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Gerader Verbinder 245">
            <a:extLst>
              <a:ext uri="{FF2B5EF4-FFF2-40B4-BE49-F238E27FC236}">
                <a16:creationId xmlns:a16="http://schemas.microsoft.com/office/drawing/2014/main" id="{B55D5FD3-C56F-B737-0946-3CDC2920E46F}"/>
              </a:ext>
            </a:extLst>
          </p:cNvPr>
          <p:cNvCxnSpPr>
            <a:cxnSpLocks/>
            <a:stCxn id="32" idx="2"/>
            <a:endCxn id="30" idx="6"/>
          </p:cNvCxnSpPr>
          <p:nvPr/>
        </p:nvCxnSpPr>
        <p:spPr>
          <a:xfrm flipH="1">
            <a:off x="7892618" y="1348787"/>
            <a:ext cx="187866" cy="362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Gerader Verbinder 248">
            <a:extLst>
              <a:ext uri="{FF2B5EF4-FFF2-40B4-BE49-F238E27FC236}">
                <a16:creationId xmlns:a16="http://schemas.microsoft.com/office/drawing/2014/main" id="{29164AEE-A5E4-3BF4-34BE-8911395E986B}"/>
              </a:ext>
            </a:extLst>
          </p:cNvPr>
          <p:cNvCxnSpPr>
            <a:cxnSpLocks/>
            <a:stCxn id="31" idx="2"/>
            <a:endCxn id="30" idx="6"/>
          </p:cNvCxnSpPr>
          <p:nvPr/>
        </p:nvCxnSpPr>
        <p:spPr>
          <a:xfrm flipH="1">
            <a:off x="7892618" y="1708493"/>
            <a:ext cx="187866" cy="3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Gerader Verbinder 251">
            <a:extLst>
              <a:ext uri="{FF2B5EF4-FFF2-40B4-BE49-F238E27FC236}">
                <a16:creationId xmlns:a16="http://schemas.microsoft.com/office/drawing/2014/main" id="{41A6B309-8BE2-9C78-D3EE-477A06FED811}"/>
              </a:ext>
            </a:extLst>
          </p:cNvPr>
          <p:cNvCxnSpPr>
            <a:cxnSpLocks/>
            <a:stCxn id="27" idx="2"/>
            <a:endCxn id="30" idx="6"/>
          </p:cNvCxnSpPr>
          <p:nvPr/>
        </p:nvCxnSpPr>
        <p:spPr>
          <a:xfrm flipH="1" flipV="1">
            <a:off x="7892618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Gerader Verbinder 254">
            <a:extLst>
              <a:ext uri="{FF2B5EF4-FFF2-40B4-BE49-F238E27FC236}">
                <a16:creationId xmlns:a16="http://schemas.microsoft.com/office/drawing/2014/main" id="{7060528B-0A2A-7EE6-A216-2DE0B00A997A}"/>
              </a:ext>
            </a:extLst>
          </p:cNvPr>
          <p:cNvCxnSpPr>
            <a:cxnSpLocks/>
            <a:stCxn id="29" idx="2"/>
            <a:endCxn id="30" idx="6"/>
          </p:cNvCxnSpPr>
          <p:nvPr/>
        </p:nvCxnSpPr>
        <p:spPr>
          <a:xfrm flipH="1" flipV="1">
            <a:off x="7892618" y="171161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Gerader Verbinder 2049">
            <a:extLst>
              <a:ext uri="{FF2B5EF4-FFF2-40B4-BE49-F238E27FC236}">
                <a16:creationId xmlns:a16="http://schemas.microsoft.com/office/drawing/2014/main" id="{2BFD9C5A-5640-C440-F798-9F6B07A587C0}"/>
              </a:ext>
            </a:extLst>
          </p:cNvPr>
          <p:cNvCxnSpPr>
            <a:cxnSpLocks/>
            <a:stCxn id="34" idx="2"/>
            <a:endCxn id="30" idx="6"/>
          </p:cNvCxnSpPr>
          <p:nvPr/>
        </p:nvCxnSpPr>
        <p:spPr>
          <a:xfrm flipH="1" flipV="1">
            <a:off x="7892618" y="171161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Gerader Verbinder 2053">
            <a:extLst>
              <a:ext uri="{FF2B5EF4-FFF2-40B4-BE49-F238E27FC236}">
                <a16:creationId xmlns:a16="http://schemas.microsoft.com/office/drawing/2014/main" id="{807D0570-8A3C-3E5D-A16A-B761279CDF20}"/>
              </a:ext>
            </a:extLst>
          </p:cNvPr>
          <p:cNvCxnSpPr>
            <a:cxnSpLocks/>
            <a:stCxn id="35" idx="2"/>
            <a:endCxn id="30" idx="6"/>
          </p:cNvCxnSpPr>
          <p:nvPr/>
        </p:nvCxnSpPr>
        <p:spPr>
          <a:xfrm flipH="1" flipV="1">
            <a:off x="7892618" y="1711619"/>
            <a:ext cx="187866" cy="14263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Ellipse 2056">
            <a:extLst>
              <a:ext uri="{FF2B5EF4-FFF2-40B4-BE49-F238E27FC236}">
                <a16:creationId xmlns:a16="http://schemas.microsoft.com/office/drawing/2014/main" id="{5AA8439E-26AA-F2B8-B0D3-8FD390A30C3C}"/>
              </a:ext>
            </a:extLst>
          </p:cNvPr>
          <p:cNvSpPr/>
          <p:nvPr/>
        </p:nvSpPr>
        <p:spPr>
          <a:xfrm>
            <a:off x="6555623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8" name="Ellipse 2057">
            <a:extLst>
              <a:ext uri="{FF2B5EF4-FFF2-40B4-BE49-F238E27FC236}">
                <a16:creationId xmlns:a16="http://schemas.microsoft.com/office/drawing/2014/main" id="{2C5F9F71-0042-23A8-BBEB-A0350D237712}"/>
              </a:ext>
            </a:extLst>
          </p:cNvPr>
          <p:cNvSpPr/>
          <p:nvPr/>
        </p:nvSpPr>
        <p:spPr>
          <a:xfrm>
            <a:off x="6554735" y="2327618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9" name="Ellipse 2058">
            <a:extLst>
              <a:ext uri="{FF2B5EF4-FFF2-40B4-BE49-F238E27FC236}">
                <a16:creationId xmlns:a16="http://schemas.microsoft.com/office/drawing/2014/main" id="{B8DB423A-F228-00EE-96C6-A5BF9C96A21E}"/>
              </a:ext>
            </a:extLst>
          </p:cNvPr>
          <p:cNvSpPr/>
          <p:nvPr/>
        </p:nvSpPr>
        <p:spPr>
          <a:xfrm>
            <a:off x="6558600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0" name="Ellipse 2059">
            <a:extLst>
              <a:ext uri="{FF2B5EF4-FFF2-40B4-BE49-F238E27FC236}">
                <a16:creationId xmlns:a16="http://schemas.microsoft.com/office/drawing/2014/main" id="{788F7346-1501-D8EA-C125-15BDEA943886}"/>
              </a:ext>
            </a:extLst>
          </p:cNvPr>
          <p:cNvSpPr/>
          <p:nvPr/>
        </p:nvSpPr>
        <p:spPr>
          <a:xfrm>
            <a:off x="6553837" y="1252737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1" name="Ellipse 2060">
            <a:extLst>
              <a:ext uri="{FF2B5EF4-FFF2-40B4-BE49-F238E27FC236}">
                <a16:creationId xmlns:a16="http://schemas.microsoft.com/office/drawing/2014/main" id="{7906A0DA-EF1F-607B-CFEA-D556EC33C7E3}"/>
              </a:ext>
            </a:extLst>
          </p:cNvPr>
          <p:cNvSpPr/>
          <p:nvPr/>
        </p:nvSpPr>
        <p:spPr>
          <a:xfrm>
            <a:off x="6554735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2" name="Ellipse 2061">
            <a:extLst>
              <a:ext uri="{FF2B5EF4-FFF2-40B4-BE49-F238E27FC236}">
                <a16:creationId xmlns:a16="http://schemas.microsoft.com/office/drawing/2014/main" id="{469F44CC-3D20-D6C1-AC93-FF47EBF0FA4B}"/>
              </a:ext>
            </a:extLst>
          </p:cNvPr>
          <p:cNvSpPr/>
          <p:nvPr/>
        </p:nvSpPr>
        <p:spPr>
          <a:xfrm>
            <a:off x="6558600" y="304188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3" name="Ellipse 2062">
            <a:extLst>
              <a:ext uri="{FF2B5EF4-FFF2-40B4-BE49-F238E27FC236}">
                <a16:creationId xmlns:a16="http://schemas.microsoft.com/office/drawing/2014/main" id="{6BF2110E-E3BC-F2BC-98E5-7CD705EA22B0}"/>
              </a:ext>
            </a:extLst>
          </p:cNvPr>
          <p:cNvSpPr/>
          <p:nvPr/>
        </p:nvSpPr>
        <p:spPr>
          <a:xfrm>
            <a:off x="6942919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4" name="Ellipse 2063">
            <a:extLst>
              <a:ext uri="{FF2B5EF4-FFF2-40B4-BE49-F238E27FC236}">
                <a16:creationId xmlns:a16="http://schemas.microsoft.com/office/drawing/2014/main" id="{BB751A12-3D24-203C-32DA-E4E83845CCAC}"/>
              </a:ext>
            </a:extLst>
          </p:cNvPr>
          <p:cNvSpPr/>
          <p:nvPr/>
        </p:nvSpPr>
        <p:spPr>
          <a:xfrm>
            <a:off x="6942919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65" name="Gerader Verbinder 2064">
            <a:extLst>
              <a:ext uri="{FF2B5EF4-FFF2-40B4-BE49-F238E27FC236}">
                <a16:creationId xmlns:a16="http://schemas.microsoft.com/office/drawing/2014/main" id="{C23E8A9A-8426-7459-8117-4FA4598F5D00}"/>
              </a:ext>
            </a:extLst>
          </p:cNvPr>
          <p:cNvCxnSpPr>
            <a:cxnSpLocks/>
            <a:stCxn id="2064" idx="6"/>
            <a:endCxn id="16" idx="2"/>
          </p:cNvCxnSpPr>
          <p:nvPr/>
        </p:nvCxnSpPr>
        <p:spPr>
          <a:xfrm flipV="1">
            <a:off x="7135019" y="2428512"/>
            <a:ext cx="185533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Gerader Verbinder 2065">
            <a:extLst>
              <a:ext uri="{FF2B5EF4-FFF2-40B4-BE49-F238E27FC236}">
                <a16:creationId xmlns:a16="http://schemas.microsoft.com/office/drawing/2014/main" id="{60E31BCB-22F4-3691-E577-9393FEE90753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 flipV="1">
            <a:off x="7126926" y="2424779"/>
            <a:ext cx="193626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Gerader Verbinder 2070">
            <a:extLst>
              <a:ext uri="{FF2B5EF4-FFF2-40B4-BE49-F238E27FC236}">
                <a16:creationId xmlns:a16="http://schemas.microsoft.com/office/drawing/2014/main" id="{70A34D6E-6C6E-60FA-6113-1F013E123C25}"/>
              </a:ext>
            </a:extLst>
          </p:cNvPr>
          <p:cNvCxnSpPr>
            <a:cxnSpLocks/>
            <a:stCxn id="3" idx="6"/>
            <a:endCxn id="16" idx="2"/>
          </p:cNvCxnSpPr>
          <p:nvPr/>
        </p:nvCxnSpPr>
        <p:spPr>
          <a:xfrm>
            <a:off x="7132686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Gerader Verbinder 2073">
            <a:extLst>
              <a:ext uri="{FF2B5EF4-FFF2-40B4-BE49-F238E27FC236}">
                <a16:creationId xmlns:a16="http://schemas.microsoft.com/office/drawing/2014/main" id="{16AA00B0-584B-6773-C30E-ED61FEA2D2AA}"/>
              </a:ext>
            </a:extLst>
          </p:cNvPr>
          <p:cNvCxnSpPr>
            <a:cxnSpLocks/>
            <a:stCxn id="2063" idx="6"/>
            <a:endCxn id="16" idx="2"/>
          </p:cNvCxnSpPr>
          <p:nvPr/>
        </p:nvCxnSpPr>
        <p:spPr>
          <a:xfrm>
            <a:off x="7135019" y="1703371"/>
            <a:ext cx="185533" cy="7251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Gerader Verbinder 2076">
            <a:extLst>
              <a:ext uri="{FF2B5EF4-FFF2-40B4-BE49-F238E27FC236}">
                <a16:creationId xmlns:a16="http://schemas.microsoft.com/office/drawing/2014/main" id="{F5F75E80-1BAB-C96C-87BC-BC07A45B78AC}"/>
              </a:ext>
            </a:extLst>
          </p:cNvPr>
          <p:cNvCxnSpPr>
            <a:cxnSpLocks/>
            <a:stCxn id="2063" idx="6"/>
            <a:endCxn id="15" idx="2"/>
          </p:cNvCxnSpPr>
          <p:nvPr/>
        </p:nvCxnSpPr>
        <p:spPr>
          <a:xfrm>
            <a:off x="7135019" y="1703371"/>
            <a:ext cx="185533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Gerader Verbinder 2079">
            <a:extLst>
              <a:ext uri="{FF2B5EF4-FFF2-40B4-BE49-F238E27FC236}">
                <a16:creationId xmlns:a16="http://schemas.microsoft.com/office/drawing/2014/main" id="{52B4B1EB-852E-1727-0424-198559649C24}"/>
              </a:ext>
            </a:extLst>
          </p:cNvPr>
          <p:cNvCxnSpPr>
            <a:cxnSpLocks/>
            <a:stCxn id="3" idx="6"/>
            <a:endCxn id="15" idx="2"/>
          </p:cNvCxnSpPr>
          <p:nvPr/>
        </p:nvCxnSpPr>
        <p:spPr>
          <a:xfrm>
            <a:off x="7132686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Gerader Verbinder 2082">
            <a:extLst>
              <a:ext uri="{FF2B5EF4-FFF2-40B4-BE49-F238E27FC236}">
                <a16:creationId xmlns:a16="http://schemas.microsoft.com/office/drawing/2014/main" id="{68DC0066-1040-5605-FC07-A7332724B781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7126926" y="2068199"/>
            <a:ext cx="19362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6" name="Gerader Verbinder 2085">
            <a:extLst>
              <a:ext uri="{FF2B5EF4-FFF2-40B4-BE49-F238E27FC236}">
                <a16:creationId xmlns:a16="http://schemas.microsoft.com/office/drawing/2014/main" id="{25EFB1D9-339A-666D-E8D9-DEDDF185B08C}"/>
              </a:ext>
            </a:extLst>
          </p:cNvPr>
          <p:cNvCxnSpPr>
            <a:cxnSpLocks/>
            <a:stCxn id="2064" idx="6"/>
            <a:endCxn id="15" idx="2"/>
          </p:cNvCxnSpPr>
          <p:nvPr/>
        </p:nvCxnSpPr>
        <p:spPr>
          <a:xfrm flipV="1">
            <a:off x="7135019" y="2068199"/>
            <a:ext cx="185533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Gerader Verbinder 2088">
            <a:extLst>
              <a:ext uri="{FF2B5EF4-FFF2-40B4-BE49-F238E27FC236}">
                <a16:creationId xmlns:a16="http://schemas.microsoft.com/office/drawing/2014/main" id="{676F942F-3415-DA3A-F905-D96535958245}"/>
              </a:ext>
            </a:extLst>
          </p:cNvPr>
          <p:cNvCxnSpPr>
            <a:cxnSpLocks/>
            <a:stCxn id="2062" idx="6"/>
            <a:endCxn id="2064" idx="2"/>
          </p:cNvCxnSpPr>
          <p:nvPr/>
        </p:nvCxnSpPr>
        <p:spPr>
          <a:xfrm flipV="1">
            <a:off x="6750700" y="2781359"/>
            <a:ext cx="192219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Gerader Verbinder 2091">
            <a:extLst>
              <a:ext uri="{FF2B5EF4-FFF2-40B4-BE49-F238E27FC236}">
                <a16:creationId xmlns:a16="http://schemas.microsoft.com/office/drawing/2014/main" id="{4E8F319C-C9B8-0B58-EC29-828368BB6E22}"/>
              </a:ext>
            </a:extLst>
          </p:cNvPr>
          <p:cNvCxnSpPr>
            <a:cxnSpLocks/>
            <a:stCxn id="2061" idx="6"/>
            <a:endCxn id="2064" idx="2"/>
          </p:cNvCxnSpPr>
          <p:nvPr/>
        </p:nvCxnSpPr>
        <p:spPr>
          <a:xfrm>
            <a:off x="6746835" y="2781359"/>
            <a:ext cx="1960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Gerader Verbinder 2094">
            <a:extLst>
              <a:ext uri="{FF2B5EF4-FFF2-40B4-BE49-F238E27FC236}">
                <a16:creationId xmlns:a16="http://schemas.microsoft.com/office/drawing/2014/main" id="{9FFDED81-64AA-F51B-A4EE-9D18CC47C2DE}"/>
              </a:ext>
            </a:extLst>
          </p:cNvPr>
          <p:cNvCxnSpPr>
            <a:cxnSpLocks/>
            <a:stCxn id="2058" idx="6"/>
            <a:endCxn id="2064" idx="2"/>
          </p:cNvCxnSpPr>
          <p:nvPr/>
        </p:nvCxnSpPr>
        <p:spPr>
          <a:xfrm>
            <a:off x="6746835" y="2423668"/>
            <a:ext cx="196084" cy="357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Gerader Verbinder 2097">
            <a:extLst>
              <a:ext uri="{FF2B5EF4-FFF2-40B4-BE49-F238E27FC236}">
                <a16:creationId xmlns:a16="http://schemas.microsoft.com/office/drawing/2014/main" id="{04DAF948-146D-7F91-4561-723E949BD26C}"/>
              </a:ext>
            </a:extLst>
          </p:cNvPr>
          <p:cNvCxnSpPr>
            <a:cxnSpLocks/>
            <a:stCxn id="2057" idx="6"/>
            <a:endCxn id="2064" idx="2"/>
          </p:cNvCxnSpPr>
          <p:nvPr/>
        </p:nvCxnSpPr>
        <p:spPr>
          <a:xfrm>
            <a:off x="6747723" y="2068199"/>
            <a:ext cx="19519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1" name="Gerader Verbinder 2100">
            <a:extLst>
              <a:ext uri="{FF2B5EF4-FFF2-40B4-BE49-F238E27FC236}">
                <a16:creationId xmlns:a16="http://schemas.microsoft.com/office/drawing/2014/main" id="{A1D6520B-E4AD-DA20-A8B3-4A517D964170}"/>
              </a:ext>
            </a:extLst>
          </p:cNvPr>
          <p:cNvCxnSpPr>
            <a:cxnSpLocks/>
            <a:stCxn id="2059" idx="6"/>
            <a:endCxn id="2064" idx="2"/>
          </p:cNvCxnSpPr>
          <p:nvPr/>
        </p:nvCxnSpPr>
        <p:spPr>
          <a:xfrm>
            <a:off x="6750700" y="1703371"/>
            <a:ext cx="192219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4" name="Gerader Verbinder 2103">
            <a:extLst>
              <a:ext uri="{FF2B5EF4-FFF2-40B4-BE49-F238E27FC236}">
                <a16:creationId xmlns:a16="http://schemas.microsoft.com/office/drawing/2014/main" id="{E696641A-22B3-0B16-E818-F955D44F09E6}"/>
              </a:ext>
            </a:extLst>
          </p:cNvPr>
          <p:cNvCxnSpPr>
            <a:cxnSpLocks/>
            <a:stCxn id="2060" idx="6"/>
            <a:endCxn id="2064" idx="2"/>
          </p:cNvCxnSpPr>
          <p:nvPr/>
        </p:nvCxnSpPr>
        <p:spPr>
          <a:xfrm>
            <a:off x="6745937" y="1348787"/>
            <a:ext cx="196982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Gerader Verbinder 2106">
            <a:extLst>
              <a:ext uri="{FF2B5EF4-FFF2-40B4-BE49-F238E27FC236}">
                <a16:creationId xmlns:a16="http://schemas.microsoft.com/office/drawing/2014/main" id="{786EC6FE-AF9D-A396-FFBF-284A82644E06}"/>
              </a:ext>
            </a:extLst>
          </p:cNvPr>
          <p:cNvCxnSpPr>
            <a:cxnSpLocks/>
            <a:stCxn id="2060" idx="6"/>
            <a:endCxn id="14" idx="2"/>
          </p:cNvCxnSpPr>
          <p:nvPr/>
        </p:nvCxnSpPr>
        <p:spPr>
          <a:xfrm>
            <a:off x="6745937" y="1348787"/>
            <a:ext cx="188889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Gerader Verbinder 2109">
            <a:extLst>
              <a:ext uri="{FF2B5EF4-FFF2-40B4-BE49-F238E27FC236}">
                <a16:creationId xmlns:a16="http://schemas.microsoft.com/office/drawing/2014/main" id="{8C32A1FA-4C65-2479-C90C-9D94D3978DE0}"/>
              </a:ext>
            </a:extLst>
          </p:cNvPr>
          <p:cNvCxnSpPr>
            <a:cxnSpLocks/>
            <a:stCxn id="2059" idx="6"/>
            <a:endCxn id="14" idx="2"/>
          </p:cNvCxnSpPr>
          <p:nvPr/>
        </p:nvCxnSpPr>
        <p:spPr>
          <a:xfrm>
            <a:off x="6750700" y="1703371"/>
            <a:ext cx="184126" cy="721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3" name="Gerader Verbinder 2112">
            <a:extLst>
              <a:ext uri="{FF2B5EF4-FFF2-40B4-BE49-F238E27FC236}">
                <a16:creationId xmlns:a16="http://schemas.microsoft.com/office/drawing/2014/main" id="{C4A6775E-E3D7-7F4F-B98B-041EA1068BFF}"/>
              </a:ext>
            </a:extLst>
          </p:cNvPr>
          <p:cNvCxnSpPr>
            <a:cxnSpLocks/>
            <a:stCxn id="2057" idx="6"/>
            <a:endCxn id="14" idx="2"/>
          </p:cNvCxnSpPr>
          <p:nvPr/>
        </p:nvCxnSpPr>
        <p:spPr>
          <a:xfrm>
            <a:off x="6747723" y="2068199"/>
            <a:ext cx="187103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6" name="Gerader Verbinder 2115">
            <a:extLst>
              <a:ext uri="{FF2B5EF4-FFF2-40B4-BE49-F238E27FC236}">
                <a16:creationId xmlns:a16="http://schemas.microsoft.com/office/drawing/2014/main" id="{3E9FC45D-2DA3-92AC-106A-6BA9F1572CEC}"/>
              </a:ext>
            </a:extLst>
          </p:cNvPr>
          <p:cNvCxnSpPr>
            <a:cxnSpLocks/>
            <a:stCxn id="2058" idx="6"/>
            <a:endCxn id="14" idx="2"/>
          </p:cNvCxnSpPr>
          <p:nvPr/>
        </p:nvCxnSpPr>
        <p:spPr>
          <a:xfrm>
            <a:off x="6746835" y="2423668"/>
            <a:ext cx="187991" cy="1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9" name="Gerader Verbinder 2118">
            <a:extLst>
              <a:ext uri="{FF2B5EF4-FFF2-40B4-BE49-F238E27FC236}">
                <a16:creationId xmlns:a16="http://schemas.microsoft.com/office/drawing/2014/main" id="{CB647802-35A9-83ED-5344-027AFF2AD7C0}"/>
              </a:ext>
            </a:extLst>
          </p:cNvPr>
          <p:cNvCxnSpPr>
            <a:cxnSpLocks/>
            <a:stCxn id="2061" idx="6"/>
            <a:endCxn id="14" idx="2"/>
          </p:cNvCxnSpPr>
          <p:nvPr/>
        </p:nvCxnSpPr>
        <p:spPr>
          <a:xfrm flipV="1">
            <a:off x="6746835" y="2424779"/>
            <a:ext cx="187991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Gerader Verbinder 2121">
            <a:extLst>
              <a:ext uri="{FF2B5EF4-FFF2-40B4-BE49-F238E27FC236}">
                <a16:creationId xmlns:a16="http://schemas.microsoft.com/office/drawing/2014/main" id="{8AC95E08-65C0-509F-2F0A-758BF4C89EC2}"/>
              </a:ext>
            </a:extLst>
          </p:cNvPr>
          <p:cNvCxnSpPr>
            <a:cxnSpLocks/>
            <a:stCxn id="2062" idx="6"/>
            <a:endCxn id="14" idx="2"/>
          </p:cNvCxnSpPr>
          <p:nvPr/>
        </p:nvCxnSpPr>
        <p:spPr>
          <a:xfrm flipV="1">
            <a:off x="6750700" y="2424779"/>
            <a:ext cx="18412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5" name="Gerader Verbinder 2124">
            <a:extLst>
              <a:ext uri="{FF2B5EF4-FFF2-40B4-BE49-F238E27FC236}">
                <a16:creationId xmlns:a16="http://schemas.microsoft.com/office/drawing/2014/main" id="{625587FE-50EA-C37A-4EA1-23A7A17B6E08}"/>
              </a:ext>
            </a:extLst>
          </p:cNvPr>
          <p:cNvCxnSpPr>
            <a:cxnSpLocks/>
            <a:stCxn id="2062" idx="6"/>
            <a:endCxn id="3" idx="2"/>
          </p:cNvCxnSpPr>
          <p:nvPr/>
        </p:nvCxnSpPr>
        <p:spPr>
          <a:xfrm flipV="1">
            <a:off x="6750700" y="2068199"/>
            <a:ext cx="18988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Gerader Verbinder 2127">
            <a:extLst>
              <a:ext uri="{FF2B5EF4-FFF2-40B4-BE49-F238E27FC236}">
                <a16:creationId xmlns:a16="http://schemas.microsoft.com/office/drawing/2014/main" id="{E7CCC2D1-292D-EA7C-68D6-238B3152332F}"/>
              </a:ext>
            </a:extLst>
          </p:cNvPr>
          <p:cNvCxnSpPr>
            <a:cxnSpLocks/>
            <a:stCxn id="2061" idx="6"/>
            <a:endCxn id="3" idx="2"/>
          </p:cNvCxnSpPr>
          <p:nvPr/>
        </p:nvCxnSpPr>
        <p:spPr>
          <a:xfrm flipV="1">
            <a:off x="6746835" y="2068199"/>
            <a:ext cx="193751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1" name="Gerader Verbinder 2130">
            <a:extLst>
              <a:ext uri="{FF2B5EF4-FFF2-40B4-BE49-F238E27FC236}">
                <a16:creationId xmlns:a16="http://schemas.microsoft.com/office/drawing/2014/main" id="{96708DC3-00F7-7BBD-DC18-680137999B04}"/>
              </a:ext>
            </a:extLst>
          </p:cNvPr>
          <p:cNvCxnSpPr>
            <a:cxnSpLocks/>
            <a:stCxn id="2058" idx="6"/>
            <a:endCxn id="3" idx="2"/>
          </p:cNvCxnSpPr>
          <p:nvPr/>
        </p:nvCxnSpPr>
        <p:spPr>
          <a:xfrm flipV="1">
            <a:off x="6746835" y="2068199"/>
            <a:ext cx="193751" cy="355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4" name="Gerader Verbinder 2133">
            <a:extLst>
              <a:ext uri="{FF2B5EF4-FFF2-40B4-BE49-F238E27FC236}">
                <a16:creationId xmlns:a16="http://schemas.microsoft.com/office/drawing/2014/main" id="{5E1B9F3B-3891-6CB6-9768-722D7E4DE96F}"/>
              </a:ext>
            </a:extLst>
          </p:cNvPr>
          <p:cNvCxnSpPr>
            <a:cxnSpLocks/>
            <a:stCxn id="2057" idx="6"/>
            <a:endCxn id="3" idx="2"/>
          </p:cNvCxnSpPr>
          <p:nvPr/>
        </p:nvCxnSpPr>
        <p:spPr>
          <a:xfrm>
            <a:off x="6747723" y="2068199"/>
            <a:ext cx="1928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7" name="Gerader Verbinder 2136">
            <a:extLst>
              <a:ext uri="{FF2B5EF4-FFF2-40B4-BE49-F238E27FC236}">
                <a16:creationId xmlns:a16="http://schemas.microsoft.com/office/drawing/2014/main" id="{49CF1920-5585-2B67-9F61-C54F03A89053}"/>
              </a:ext>
            </a:extLst>
          </p:cNvPr>
          <p:cNvCxnSpPr>
            <a:cxnSpLocks/>
            <a:stCxn id="2059" idx="6"/>
            <a:endCxn id="3" idx="2"/>
          </p:cNvCxnSpPr>
          <p:nvPr/>
        </p:nvCxnSpPr>
        <p:spPr>
          <a:xfrm>
            <a:off x="6750700" y="1703371"/>
            <a:ext cx="18988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" name="Gerader Verbinder 2139">
            <a:extLst>
              <a:ext uri="{FF2B5EF4-FFF2-40B4-BE49-F238E27FC236}">
                <a16:creationId xmlns:a16="http://schemas.microsoft.com/office/drawing/2014/main" id="{39CCE4E1-B178-5F36-BC58-31D45B144518}"/>
              </a:ext>
            </a:extLst>
          </p:cNvPr>
          <p:cNvCxnSpPr>
            <a:cxnSpLocks/>
            <a:stCxn id="2060" idx="6"/>
            <a:endCxn id="3" idx="2"/>
          </p:cNvCxnSpPr>
          <p:nvPr/>
        </p:nvCxnSpPr>
        <p:spPr>
          <a:xfrm>
            <a:off x="6745937" y="1348787"/>
            <a:ext cx="194649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3" name="Gerader Verbinder 2142">
            <a:extLst>
              <a:ext uri="{FF2B5EF4-FFF2-40B4-BE49-F238E27FC236}">
                <a16:creationId xmlns:a16="http://schemas.microsoft.com/office/drawing/2014/main" id="{E429B884-5C82-1D55-55F6-73286677B1D9}"/>
              </a:ext>
            </a:extLst>
          </p:cNvPr>
          <p:cNvCxnSpPr>
            <a:cxnSpLocks/>
            <a:stCxn id="2060" idx="6"/>
            <a:endCxn id="2063" idx="2"/>
          </p:cNvCxnSpPr>
          <p:nvPr/>
        </p:nvCxnSpPr>
        <p:spPr>
          <a:xfrm>
            <a:off x="6745937" y="1348787"/>
            <a:ext cx="196982" cy="3545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Gerader Verbinder 2145">
            <a:extLst>
              <a:ext uri="{FF2B5EF4-FFF2-40B4-BE49-F238E27FC236}">
                <a16:creationId xmlns:a16="http://schemas.microsoft.com/office/drawing/2014/main" id="{723D6B4A-121A-631A-EF69-1284E5FA660A}"/>
              </a:ext>
            </a:extLst>
          </p:cNvPr>
          <p:cNvCxnSpPr>
            <a:cxnSpLocks/>
            <a:stCxn id="2059" idx="6"/>
            <a:endCxn id="2063" idx="2"/>
          </p:cNvCxnSpPr>
          <p:nvPr/>
        </p:nvCxnSpPr>
        <p:spPr>
          <a:xfrm>
            <a:off x="6750700" y="1703371"/>
            <a:ext cx="19221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9" name="Gerader Verbinder 2148">
            <a:extLst>
              <a:ext uri="{FF2B5EF4-FFF2-40B4-BE49-F238E27FC236}">
                <a16:creationId xmlns:a16="http://schemas.microsoft.com/office/drawing/2014/main" id="{8CFA7D2B-FCA8-6410-FCBE-CD97EA0530C3}"/>
              </a:ext>
            </a:extLst>
          </p:cNvPr>
          <p:cNvCxnSpPr>
            <a:cxnSpLocks/>
            <a:stCxn id="2057" idx="6"/>
            <a:endCxn id="2063" idx="2"/>
          </p:cNvCxnSpPr>
          <p:nvPr/>
        </p:nvCxnSpPr>
        <p:spPr>
          <a:xfrm flipV="1">
            <a:off x="6747723" y="1703371"/>
            <a:ext cx="19519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2" name="Gerader Verbinder 2151">
            <a:extLst>
              <a:ext uri="{FF2B5EF4-FFF2-40B4-BE49-F238E27FC236}">
                <a16:creationId xmlns:a16="http://schemas.microsoft.com/office/drawing/2014/main" id="{E0BEF78C-9DE2-E9FA-3BC1-0D2C6E12C424}"/>
              </a:ext>
            </a:extLst>
          </p:cNvPr>
          <p:cNvCxnSpPr>
            <a:cxnSpLocks/>
            <a:stCxn id="2058" idx="6"/>
            <a:endCxn id="2063" idx="2"/>
          </p:cNvCxnSpPr>
          <p:nvPr/>
        </p:nvCxnSpPr>
        <p:spPr>
          <a:xfrm flipV="1">
            <a:off x="6746835" y="1703371"/>
            <a:ext cx="196084" cy="7202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5" name="Gerader Verbinder 2154">
            <a:extLst>
              <a:ext uri="{FF2B5EF4-FFF2-40B4-BE49-F238E27FC236}">
                <a16:creationId xmlns:a16="http://schemas.microsoft.com/office/drawing/2014/main" id="{A16E7B43-5558-C7EA-A83D-E7DF56C4A259}"/>
              </a:ext>
            </a:extLst>
          </p:cNvPr>
          <p:cNvCxnSpPr>
            <a:cxnSpLocks/>
            <a:stCxn id="2061" idx="6"/>
            <a:endCxn id="2063" idx="2"/>
          </p:cNvCxnSpPr>
          <p:nvPr/>
        </p:nvCxnSpPr>
        <p:spPr>
          <a:xfrm flipV="1">
            <a:off x="6746835" y="1703371"/>
            <a:ext cx="196084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8" name="Gerader Verbinder 2157">
            <a:extLst>
              <a:ext uri="{FF2B5EF4-FFF2-40B4-BE49-F238E27FC236}">
                <a16:creationId xmlns:a16="http://schemas.microsoft.com/office/drawing/2014/main" id="{EF3E0744-3AC7-CF74-92A6-F0139E579992}"/>
              </a:ext>
            </a:extLst>
          </p:cNvPr>
          <p:cNvCxnSpPr>
            <a:cxnSpLocks/>
            <a:stCxn id="2062" idx="6"/>
            <a:endCxn id="2063" idx="2"/>
          </p:cNvCxnSpPr>
          <p:nvPr/>
        </p:nvCxnSpPr>
        <p:spPr>
          <a:xfrm flipV="1">
            <a:off x="6750700" y="1703371"/>
            <a:ext cx="192219" cy="14345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2" name="Pfeil: nach rechts 2161">
            <a:extLst>
              <a:ext uri="{FF2B5EF4-FFF2-40B4-BE49-F238E27FC236}">
                <a16:creationId xmlns:a16="http://schemas.microsoft.com/office/drawing/2014/main" id="{0E9564CA-94FE-CD43-FB45-9A552D786AE7}"/>
              </a:ext>
            </a:extLst>
          </p:cNvPr>
          <p:cNvSpPr/>
          <p:nvPr/>
        </p:nvSpPr>
        <p:spPr>
          <a:xfrm>
            <a:off x="8310063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3" name="Pfeil: nach rechts 2162">
            <a:extLst>
              <a:ext uri="{FF2B5EF4-FFF2-40B4-BE49-F238E27FC236}">
                <a16:creationId xmlns:a16="http://schemas.microsoft.com/office/drawing/2014/main" id="{48C5BC0E-EFAD-9821-1C3D-0A947705608D}"/>
              </a:ext>
            </a:extLst>
          </p:cNvPr>
          <p:cNvSpPr/>
          <p:nvPr/>
        </p:nvSpPr>
        <p:spPr>
          <a:xfrm>
            <a:off x="6295668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4" name="Ellipse 2163">
            <a:extLst>
              <a:ext uri="{FF2B5EF4-FFF2-40B4-BE49-F238E27FC236}">
                <a16:creationId xmlns:a16="http://schemas.microsoft.com/office/drawing/2014/main" id="{CB94ADB7-932B-D681-2CAC-769CBCF1463B}"/>
              </a:ext>
            </a:extLst>
          </p:cNvPr>
          <p:cNvSpPr/>
          <p:nvPr/>
        </p:nvSpPr>
        <p:spPr>
          <a:xfrm>
            <a:off x="6825138" y="3493203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5" name="Ellipse 2164">
            <a:extLst>
              <a:ext uri="{FF2B5EF4-FFF2-40B4-BE49-F238E27FC236}">
                <a16:creationId xmlns:a16="http://schemas.microsoft.com/office/drawing/2014/main" id="{D24B87A4-93EE-C481-4287-EEADEBB07EEF}"/>
              </a:ext>
            </a:extLst>
          </p:cNvPr>
          <p:cNvSpPr/>
          <p:nvPr/>
        </p:nvSpPr>
        <p:spPr>
          <a:xfrm>
            <a:off x="6825077" y="376036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6" name="Textfeld 19">
            <a:extLst>
              <a:ext uri="{FF2B5EF4-FFF2-40B4-BE49-F238E27FC236}">
                <a16:creationId xmlns:a16="http://schemas.microsoft.com/office/drawing/2014/main" id="{77B65175-A9A6-CB78-A3E4-E302B0B465BC}"/>
              </a:ext>
            </a:extLst>
          </p:cNvPr>
          <p:cNvSpPr txBox="1"/>
          <p:nvPr/>
        </p:nvSpPr>
        <p:spPr>
          <a:xfrm>
            <a:off x="7055711" y="3410086"/>
            <a:ext cx="189779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Encoder</a:t>
            </a:r>
          </a:p>
          <a:p>
            <a:r>
              <a:rPr lang="en-US" sz="1700" dirty="0">
                <a:latin typeface="+mn-lt"/>
              </a:rPr>
              <a:t>Latent space</a:t>
            </a:r>
            <a:endParaRPr lang="en-US" sz="1700" noProof="0" dirty="0">
              <a:latin typeface="+mn-lt"/>
            </a:endParaRPr>
          </a:p>
          <a:p>
            <a:r>
              <a:rPr lang="en-US" sz="1700" dirty="0">
                <a:latin typeface="+mn-lt"/>
              </a:rPr>
              <a:t>Decoder</a:t>
            </a:r>
          </a:p>
        </p:txBody>
      </p:sp>
      <p:sp>
        <p:nvSpPr>
          <p:cNvPr id="2167" name="Ellipse 2166">
            <a:extLst>
              <a:ext uri="{FF2B5EF4-FFF2-40B4-BE49-F238E27FC236}">
                <a16:creationId xmlns:a16="http://schemas.microsoft.com/office/drawing/2014/main" id="{2B4429BB-51A8-6030-9870-993E4F0AE5CA}"/>
              </a:ext>
            </a:extLst>
          </p:cNvPr>
          <p:cNvSpPr/>
          <p:nvPr/>
        </p:nvSpPr>
        <p:spPr>
          <a:xfrm>
            <a:off x="6824657" y="4012194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8" name="Textfeld 2167">
            <a:extLst>
              <a:ext uri="{FF2B5EF4-FFF2-40B4-BE49-F238E27FC236}">
                <a16:creationId xmlns:a16="http://schemas.microsoft.com/office/drawing/2014/main" id="{7C6419F3-DBB9-561B-DE0E-12B21327CA62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Training an autoencoder</a:t>
            </a:r>
          </a:p>
        </p:txBody>
      </p:sp>
      <p:sp>
        <p:nvSpPr>
          <p:cNvPr id="2169" name="Textfeld 2168">
            <a:extLst>
              <a:ext uri="{FF2B5EF4-FFF2-40B4-BE49-F238E27FC236}">
                <a16:creationId xmlns:a16="http://schemas.microsoft.com/office/drawing/2014/main" id="{64F4237F-1DBF-5687-D116-0354F7978C42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reconstruction error</a:t>
            </a:r>
          </a:p>
        </p:txBody>
      </p:sp>
      <p:sp>
        <p:nvSpPr>
          <p:cNvPr id="2170" name="Textfeld 2169">
            <a:extLst>
              <a:ext uri="{FF2B5EF4-FFF2-40B4-BE49-F238E27FC236}">
                <a16:creationId xmlns:a16="http://schemas.microsoft.com/office/drawing/2014/main" id="{99DEDC8E-09E2-5323-5327-ED4ACC651482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peaks based on a threshold for the error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171" name="Gruppieren 2170">
            <a:extLst>
              <a:ext uri="{FF2B5EF4-FFF2-40B4-BE49-F238E27FC236}">
                <a16:creationId xmlns:a16="http://schemas.microsoft.com/office/drawing/2014/main" id="{40A1BB80-C7D9-BB6C-2258-9D07E02A8E27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172" name="Gruppieren 2171">
              <a:extLst>
                <a:ext uri="{FF2B5EF4-FFF2-40B4-BE49-F238E27FC236}">
                  <a16:creationId xmlns:a16="http://schemas.microsoft.com/office/drawing/2014/main" id="{609385C0-E712-9568-ED0F-9EA20F366E28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74" name="Gerader Verbinder 2173">
                <a:extLst>
                  <a:ext uri="{FF2B5EF4-FFF2-40B4-BE49-F238E27FC236}">
                    <a16:creationId xmlns:a16="http://schemas.microsoft.com/office/drawing/2014/main" id="{581FF0E7-6F77-6F23-3DB6-17B0511410B4}"/>
                  </a:ext>
                </a:extLst>
              </p:cNvPr>
              <p:cNvCxnSpPr>
                <a:cxnSpLocks/>
                <a:endCxn id="217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75" name="Gruppieren 2174">
                <a:extLst>
                  <a:ext uri="{FF2B5EF4-FFF2-40B4-BE49-F238E27FC236}">
                    <a16:creationId xmlns:a16="http://schemas.microsoft.com/office/drawing/2014/main" id="{E3E0D4C3-85E6-C8DD-3D65-ABF0B6EE215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76" name="Gleichschenkliges Dreieck 2175">
                  <a:extLst>
                    <a:ext uri="{FF2B5EF4-FFF2-40B4-BE49-F238E27FC236}">
                      <a16:creationId xmlns:a16="http://schemas.microsoft.com/office/drawing/2014/main" id="{B377CCDC-1828-C9BD-ACB0-D023BC0D1877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7" name="Ellipse 2176">
                  <a:extLst>
                    <a:ext uri="{FF2B5EF4-FFF2-40B4-BE49-F238E27FC236}">
                      <a16:creationId xmlns:a16="http://schemas.microsoft.com/office/drawing/2014/main" id="{91FEC85C-3B57-04CA-F903-D179F27E06CE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8" name="Ellipse 2177">
                  <a:extLst>
                    <a:ext uri="{FF2B5EF4-FFF2-40B4-BE49-F238E27FC236}">
                      <a16:creationId xmlns:a16="http://schemas.microsoft.com/office/drawing/2014/main" id="{A57A1CB7-2F1F-3346-4B0C-4CFE988673A0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173" name="Ellipse 2172">
              <a:extLst>
                <a:ext uri="{FF2B5EF4-FFF2-40B4-BE49-F238E27FC236}">
                  <a16:creationId xmlns:a16="http://schemas.microsoft.com/office/drawing/2014/main" id="{BC75D86D-CA1D-B6D6-989F-EA6E6DE1BE4C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179" name="Google Shape;222;p17">
            <a:extLst>
              <a:ext uri="{FF2B5EF4-FFF2-40B4-BE49-F238E27FC236}">
                <a16:creationId xmlns:a16="http://schemas.microsoft.com/office/drawing/2014/main" id="{6E2AD721-294B-29C3-FA04-FE170654BDD1}"/>
              </a:ext>
            </a:extLst>
          </p:cNvPr>
          <p:cNvSpPr txBox="1">
            <a:spLocks/>
          </p:cNvSpPr>
          <p:nvPr/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dirty="0">
                <a:latin typeface="+mn-lt"/>
              </a:rPr>
              <a:t>Autoencoder</a:t>
            </a:r>
          </a:p>
        </p:txBody>
      </p:sp>
    </p:spTree>
    <p:extLst>
      <p:ext uri="{BB962C8B-B14F-4D97-AF65-F5344CB8AC3E}">
        <p14:creationId xmlns:p14="http://schemas.microsoft.com/office/powerpoint/2010/main" val="3414887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963F088-85AD-963F-B3D1-84329FA1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C5F0B37-FA6F-298F-1407-9B4F23238D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Determining the parameters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T</a:t>
            </a:r>
            <a:r>
              <a:rPr lang="en-US" sz="1700" noProof="0" dirty="0">
                <a:latin typeface="+mn-lt"/>
              </a:rPr>
              <a:t>he quality of the parameters is estimated purely from </a:t>
            </a:r>
            <a:r>
              <a:rPr lang="en-US" sz="1700" b="1" noProof="0" dirty="0">
                <a:latin typeface="+mn-lt"/>
              </a:rPr>
              <a:t>statistical metrics:</a:t>
            </a:r>
            <a:endParaRPr lang="en-US" sz="1700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Total number of peaks</a:t>
            </a:r>
            <a:endParaRPr lang="en-US" sz="1543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height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prominence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Count of sequences without peaks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Using </a:t>
            </a:r>
            <a:r>
              <a:rPr lang="en-US" sz="1700" b="1" noProof="0" dirty="0">
                <a:latin typeface="+mn-lt"/>
              </a:rPr>
              <a:t>Pareto-Front-Analysis</a:t>
            </a:r>
            <a:r>
              <a:rPr lang="en-US" sz="1700" noProof="0" dirty="0">
                <a:latin typeface="+mn-lt"/>
              </a:rPr>
              <a:t> to select the best solution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139A676-370C-8570-5333-363F3152D1D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CA50C20D-A2B8-17DB-68D6-83E1B7640C8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4" name="Richtungspfeil 33">
                <a:extLst>
                  <a:ext uri="{FF2B5EF4-FFF2-40B4-BE49-F238E27FC236}">
                    <a16:creationId xmlns:a16="http://schemas.microsoft.com/office/drawing/2014/main" id="{3C501578-F092-AF7D-93DD-37F6027DA5C7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5" name="Eingekerbter Richtungspfeil 1">
                <a:extLst>
                  <a:ext uri="{FF2B5EF4-FFF2-40B4-BE49-F238E27FC236}">
                    <a16:creationId xmlns:a16="http://schemas.microsoft.com/office/drawing/2014/main" id="{7D0D487A-D9F0-AF9B-6E23-CAD7BA7EA9C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Methodology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Eingekerbter Richtungspfeil 10">
                <a:extLst>
                  <a:ext uri="{FF2B5EF4-FFF2-40B4-BE49-F238E27FC236}">
                    <a16:creationId xmlns:a16="http://schemas.microsoft.com/office/drawing/2014/main" id="{0E200AE8-C3B0-4BA2-5258-5FBF7943A37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7" name="Eingekerbter Richtungspfeil 11">
                <a:extLst>
                  <a:ext uri="{FF2B5EF4-FFF2-40B4-BE49-F238E27FC236}">
                    <a16:creationId xmlns:a16="http://schemas.microsoft.com/office/drawing/2014/main" id="{67DBACE0-8BD0-2CD1-BC71-91F1114E07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3" name="Eingekerbter Richtungspfeil 11">
              <a:extLst>
                <a:ext uri="{FF2B5EF4-FFF2-40B4-BE49-F238E27FC236}">
                  <a16:creationId xmlns:a16="http://schemas.microsoft.com/office/drawing/2014/main" id="{56125CC7-81D9-0451-BC0A-0799F230831E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8" name="Google Shape;206;p15">
            <a:extLst>
              <a:ext uri="{FF2B5EF4-FFF2-40B4-BE49-F238E27FC236}">
                <a16:creationId xmlns:a16="http://schemas.microsoft.com/office/drawing/2014/main" id="{AAD4577F-BC91-8424-D25E-EEC97C6EBD6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27FF16BA-92C4-8E21-E6F7-D96B3EF3EC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r>
              <a:rPr lang="en-US" noProof="0" dirty="0"/>
              <a:t> / 39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7E03BF-C307-3A51-E144-85BA394CD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37" y="2832863"/>
            <a:ext cx="1557827" cy="1557827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BA30D2FC-FEB3-403D-94CD-6349CD1331E9}"/>
              </a:ext>
            </a:extLst>
          </p:cNvPr>
          <p:cNvCxnSpPr>
            <a:cxnSpLocks/>
          </p:cNvCxnSpPr>
          <p:nvPr/>
        </p:nvCxnSpPr>
        <p:spPr>
          <a:xfrm flipV="1">
            <a:off x="6545473" y="2832863"/>
            <a:ext cx="0" cy="15578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D8A595B-5C55-A03A-8F37-0920B0979C6E}"/>
              </a:ext>
            </a:extLst>
          </p:cNvPr>
          <p:cNvCxnSpPr>
            <a:cxnSpLocks/>
          </p:cNvCxnSpPr>
          <p:nvPr/>
        </p:nvCxnSpPr>
        <p:spPr>
          <a:xfrm>
            <a:off x="6545473" y="4390690"/>
            <a:ext cx="15571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392771D8-A8B4-C139-1A15-CC360B3D764F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[8]</a:t>
            </a:r>
          </a:p>
        </p:txBody>
      </p:sp>
    </p:spTree>
    <p:extLst>
      <p:ext uri="{BB962C8B-B14F-4D97-AF65-F5344CB8AC3E}">
        <p14:creationId xmlns:p14="http://schemas.microsoft.com/office/powerpoint/2010/main" val="342237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0E06195D-0629-2058-2B6A-A6BDAF89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D5356C76-A2CA-B1AA-B375-A96A76261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753663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0EF2E46-61CA-6EB2-B85B-757B9CB92E1A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1AAE43F-B1CE-FD17-5D65-41E844C018A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0195578-C7F7-BB9F-748D-EB18EC3BB1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18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284259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D06FB7C-A9C7-34D9-1879-F5931D4E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F46D9CFC-BC69-D075-6AFE-5F11BE552B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8800" lvl="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0F03134-2925-6E62-6697-8C8A3489157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BF19FF1-CF0C-5006-E827-E8634AC752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54EE36D-4F0C-97EE-B1CF-B421A1D3249C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B1AF6FA-7629-135C-D61A-4F6C09827AA9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0CF9651-AFEC-0844-662B-5DEE5513A7F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9A10E64D-95E9-B0B5-8E6D-9E0969368EF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E25B91E-2657-EA9F-E047-4343B1583496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7194FC4E-4EA2-5E09-76EB-F045653C654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E99098C-983D-3452-17E4-252F0A9A85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r>
              <a:rPr lang="en-US" noProof="0" dirty="0"/>
              <a:t> / 39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236DBDA1-D188-BF12-335F-70E67FDC0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847299"/>
              </p:ext>
            </p:extLst>
          </p:nvPr>
        </p:nvGraphicFramePr>
        <p:xfrm>
          <a:off x="359999" y="752085"/>
          <a:ext cx="8423999" cy="258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60">
                  <a:extLst>
                    <a:ext uri="{9D8B030D-6E8A-4147-A177-3AD203B41FA5}">
                      <a16:colId xmlns:a16="http://schemas.microsoft.com/office/drawing/2014/main" val="4273250222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2738435818"/>
                    </a:ext>
                  </a:extLst>
                </a:gridCol>
                <a:gridCol w="1505112">
                  <a:extLst>
                    <a:ext uri="{9D8B030D-6E8A-4147-A177-3AD203B41FA5}">
                      <a16:colId xmlns:a16="http://schemas.microsoft.com/office/drawing/2014/main" val="2739909526"/>
                    </a:ext>
                  </a:extLst>
                </a:gridCol>
                <a:gridCol w="1883697">
                  <a:extLst>
                    <a:ext uri="{9D8B030D-6E8A-4147-A177-3AD203B41FA5}">
                      <a16:colId xmlns:a16="http://schemas.microsoft.com/office/drawing/2014/main" val="2431807236"/>
                    </a:ext>
                  </a:extLst>
                </a:gridCol>
                <a:gridCol w="729472">
                  <a:extLst>
                    <a:ext uri="{9D8B030D-6E8A-4147-A177-3AD203B41FA5}">
                      <a16:colId xmlns:a16="http://schemas.microsoft.com/office/drawing/2014/main" val="3509772731"/>
                    </a:ext>
                  </a:extLst>
                </a:gridCol>
                <a:gridCol w="637134">
                  <a:extLst>
                    <a:ext uri="{9D8B030D-6E8A-4147-A177-3AD203B41FA5}">
                      <a16:colId xmlns:a16="http://schemas.microsoft.com/office/drawing/2014/main" val="1354858488"/>
                    </a:ext>
                  </a:extLst>
                </a:gridCol>
                <a:gridCol w="558007">
                  <a:extLst>
                    <a:ext uri="{9D8B030D-6E8A-4147-A177-3AD203B41FA5}">
                      <a16:colId xmlns:a16="http://schemas.microsoft.com/office/drawing/2014/main" val="3551615383"/>
                    </a:ext>
                  </a:extLst>
                </a:gridCol>
                <a:gridCol w="477558">
                  <a:extLst>
                    <a:ext uri="{9D8B030D-6E8A-4147-A177-3AD203B41FA5}">
                      <a16:colId xmlns:a16="http://schemas.microsoft.com/office/drawing/2014/main" val="3767899939"/>
                    </a:ext>
                  </a:extLst>
                </a:gridCol>
              </a:tblGrid>
              <a:tr h="3909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Features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PC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 dirty="0"/>
                        <a:t>MH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SWP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26571"/>
                  </a:ext>
                </a:extLst>
              </a:tr>
              <a:tr h="18762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2977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5.03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0.89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389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0.7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660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6.74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2156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Moving-Average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Torque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Window = 1250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Threshold = 2.0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56111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1.89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0.13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1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1446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Wavelet Transform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Min-Width = 100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Max-Width = 150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4964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509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K-Means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K-Clusters = 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365670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 dirty="0"/>
                        <a:t>1.2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74794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DBSCAN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noProof="0" dirty="0"/>
                        <a:t>Epsilon = 3.5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91936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3.2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894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Isolation Forest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Torque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Estimators = 100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73476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4.37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0.08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81689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Autoencoder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All inputs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Latent Dims = 8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33600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2.85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noProof="0" dirty="0"/>
                        <a:t>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2272770"/>
                  </a:ext>
                </a:extLst>
              </a:tr>
            </a:tbl>
          </a:graphicData>
        </a:graphic>
      </p:graphicFrame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6CE69B81-38AC-6119-613E-CB7E4301ABAB}"/>
              </a:ext>
            </a:extLst>
          </p:cNvPr>
          <p:cNvSpPr txBox="1">
            <a:spLocks/>
          </p:cNvSpPr>
          <p:nvPr/>
        </p:nvSpPr>
        <p:spPr>
          <a:xfrm>
            <a:off x="359999" y="3809329"/>
            <a:ext cx="8424000" cy="5813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400" dirty="0">
                <a:latin typeface="+mn-lt"/>
              </a:rPr>
              <a:t>PC: Peak-Count	MH: Mean Height	MP: Mean Prominence	    SWP: Sequences Without Peaks</a:t>
            </a:r>
          </a:p>
        </p:txBody>
      </p:sp>
    </p:spTree>
    <p:extLst>
      <p:ext uri="{BB962C8B-B14F-4D97-AF65-F5344CB8AC3E}">
        <p14:creationId xmlns:p14="http://schemas.microsoft.com/office/powerpoint/2010/main" val="3936933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DE9AA62-4CEB-02D7-AA20-1B35EA69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5A2C6425-D795-1F48-BD0B-850CF7A50366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Detection (Torque)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770A0A7-3AAE-3A40-C679-C5A9ABEE45D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7CF56EE2-4373-3660-CF3B-75889981F43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9C12100E-A100-4859-77E6-BD4D450A5EF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182A85F3-0BD7-A70B-9E48-FC0764949B3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94D2AFD7-E5E1-0A7F-19CF-AC0C75480A49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9EDF19A9-5237-19D2-A47A-3A098A58AC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67F9E773-E7E7-6B4F-3B74-D573963E0727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FBB1CF25-F7D6-7605-4465-816482B3E61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CA47C35F-E47F-44F0-3DA7-9CBA8B47B5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r>
              <a:rPr lang="en-US" noProof="0" dirty="0"/>
              <a:t> / 39</a:t>
            </a:r>
          </a:p>
        </p:txBody>
      </p:sp>
      <p:pic>
        <p:nvPicPr>
          <p:cNvPr id="3" name="Grafik 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8B99FEA5-2DA3-1420-67A4-B51495A19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4" y="1342681"/>
            <a:ext cx="3895250" cy="1638723"/>
          </a:xfrm>
          <a:prstGeom prst="rect">
            <a:avLst/>
          </a:prstGeom>
        </p:spPr>
      </p:pic>
      <p:pic>
        <p:nvPicPr>
          <p:cNvPr id="13" name="Grafik 12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109302CA-C311-605B-4DC6-ED7F22085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4" y="2981404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18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497271B-D6A6-21BB-1254-742487580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A6D83D43-2485-0131-80DE-79FE8455F9D2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Threshold-Based Detection (Cmd.-Speed)</a:t>
            </a:r>
          </a:p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16229E3C-9F65-37C5-89B8-C3CAFD682D5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2CAAE0D-0A29-349D-476D-42E5B6A5AC51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0324BADE-8417-962B-83A8-7E62CAD86ED5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F779B7E7-6573-67BF-8EF7-BC32F4B8FE48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5D6A2B4E-D0E7-E026-9DCC-DDA3B9CCED2F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0DAEA082-EEC2-F2E1-85D4-7BC0EE0AEFA9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4A2B2228-0A95-C253-5E22-FA5CD6794500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B88F4D44-1178-2F2E-3C6D-505A41D805D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CD7A83BA-7B75-1BCF-6736-FDF3CFE7FE7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r>
              <a:rPr lang="en-US" noProof="0" dirty="0"/>
              <a:t> / 39</a:t>
            </a:r>
          </a:p>
        </p:txBody>
      </p:sp>
      <p:pic>
        <p:nvPicPr>
          <p:cNvPr id="13" name="Grafik 1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CF87176F-2242-D2B0-1193-EB7B00A70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6" y="1342680"/>
            <a:ext cx="3895250" cy="1638724"/>
          </a:xfrm>
          <a:prstGeom prst="rect">
            <a:avLst/>
          </a:prstGeom>
        </p:spPr>
      </p:pic>
      <p:pic>
        <p:nvPicPr>
          <p:cNvPr id="17" name="Grafik 16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D8937CB6-F99C-0332-95DB-32E660A7B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5" y="2981403"/>
            <a:ext cx="3895249" cy="166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5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8C2AEE6-32AF-D7D3-4D57-2781E902A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84BCDC02-F4C9-5A11-C56C-0288A41AF200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Moving-Average-Based Detection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C4282A6-8D50-8EB6-CF90-4907208D7C3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E523477-D7C6-E1DF-A804-3714A7E08305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316A8861-23FC-65E3-4516-C51105B27C4A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6CA0F9D6-684D-3842-26F4-B834956B12F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B61F8B88-BC42-1260-44F8-1582C40D2DBD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9DDEBD02-E85A-C785-E349-B04F3141292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106477F8-49B2-93C9-52C2-B0922654AA64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50A7B090-23D0-5678-AE1A-19418561C010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D2250CD8-092F-44D8-0331-8418996E80C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r>
              <a:rPr lang="en-US" noProof="0" dirty="0"/>
              <a:t> / 39</a:t>
            </a:r>
          </a:p>
        </p:txBody>
      </p:sp>
      <p:pic>
        <p:nvPicPr>
          <p:cNvPr id="19" name="Picture 2" descr="A graph showing a graph of a graph&#10;&#10;AI-generated content may be incorrect.">
            <a:extLst>
              <a:ext uri="{FF2B5EF4-FFF2-40B4-BE49-F238E27FC236}">
                <a16:creationId xmlns:a16="http://schemas.microsoft.com/office/drawing/2014/main" id="{F77351FA-CC79-5D6E-91F0-163EBFD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4" y="1343330"/>
            <a:ext cx="3895250" cy="1638074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A2146FC0-0A22-A0DE-01FE-8C2F8A306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4" y="2981404"/>
            <a:ext cx="3895250" cy="1653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36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17B2AC0D-8256-237C-83AE-5675A33C5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23E8BF85-6A8E-D3C7-8BCE-1088229B59E5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Wavelet Transform</a:t>
            </a:r>
          </a:p>
          <a:p>
            <a:pPr lvl="0" indent="-338400" algn="ctr">
              <a:lnSpc>
                <a:spcPct val="95000"/>
              </a:lnSpc>
              <a:spcBef>
                <a:spcPts val="1200"/>
              </a:spcBef>
              <a:buNone/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58D53D2-09E1-7543-7522-58411C65022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7B56458-6E5A-7630-E82B-12D46A9D663F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F15C8CE0-235C-B34C-7CDE-E00D0ED8BEA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AA83D35E-CAD1-08FF-4198-6B0CAAD3F2D8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21A66082-A9D8-3809-124C-CBCB8701D500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A7DCC575-C2AB-EB52-05E8-1FD62F67DD1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DD3C7A18-B6B9-70D7-AFE7-A644B8F2A921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5EE15655-71B2-2774-D3F2-03C1F34F919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67EEFEF-2E7A-1A13-70A7-B3543E246F7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r>
              <a:rPr lang="en-US" noProof="0" dirty="0"/>
              <a:t> / 39</a:t>
            </a:r>
          </a:p>
        </p:txBody>
      </p:sp>
      <p:pic>
        <p:nvPicPr>
          <p:cNvPr id="3" name="Grafik 2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93985E6A-4A61-49EF-D722-2D552A953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7" y="1342681"/>
            <a:ext cx="3895250" cy="1638724"/>
          </a:xfrm>
          <a:prstGeom prst="rect">
            <a:avLst/>
          </a:prstGeom>
        </p:spPr>
      </p:pic>
      <p:pic>
        <p:nvPicPr>
          <p:cNvPr id="17" name="Grafik 16" descr="Ein Bild, das Reihe, Diagramm, Text, Screenshot enthält.&#10;&#10;KI-generierte Inhalte können fehlerhaft sein.">
            <a:extLst>
              <a:ext uri="{FF2B5EF4-FFF2-40B4-BE49-F238E27FC236}">
                <a16:creationId xmlns:a16="http://schemas.microsoft.com/office/drawing/2014/main" id="{2FEB318F-4A2A-C8E4-1785-9342990E5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7" y="2981405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2247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F39A8C1F-B522-BB9F-7E32-84923E0ED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B8FDFC66-3A6C-C726-AD5F-218ECD0CAD5C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Clustering with K-Means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2045637-AC74-9B9D-60C7-FD398234106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D9C2433-4CAC-57D9-8687-27A39266E4FE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2431F73B-BDE4-5EE2-9409-F014B617EAFF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763D4149-212C-6F4C-B084-F55E1E6C26D8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488ADF42-7F3B-2CCF-FB1C-5371BFD3FB7E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FC8BA9AB-A504-48DC-9C4C-03D3165E1C46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06E95D6E-F18C-FB32-F9A8-7006338B70F7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A54F375D-33D6-AD80-6B67-3E04587D3F0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18EC58CC-5BCF-1FFA-9FAD-5B458E098C0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r>
              <a:rPr lang="en-US" noProof="0" dirty="0"/>
              <a:t> / 39</a:t>
            </a:r>
          </a:p>
        </p:txBody>
      </p:sp>
      <p:pic>
        <p:nvPicPr>
          <p:cNvPr id="13" name="Grafik 12" descr="Ein Bild, das Text, Schrif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34AD6C52-D577-B9DA-0D85-2064F4D7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4" y="1342682"/>
            <a:ext cx="3895250" cy="1638723"/>
          </a:xfrm>
          <a:prstGeom prst="rect">
            <a:avLst/>
          </a:prstGeom>
        </p:spPr>
      </p:pic>
      <p:pic>
        <p:nvPicPr>
          <p:cNvPr id="17" name="Grafik 16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679F896C-AE35-4462-290F-D77FFF866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4" y="2981405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02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FEEA6405-5F0E-6C73-349C-E0F3C124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FD79390B-39F5-36DB-BEDB-57DDA1E88EE9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Clustering with DBSCAN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A986758-01F6-FF96-CF7B-D189447746A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16D599B-EE12-9F4C-C380-2E2DC0D44FCD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620DEA19-CB36-4609-3D2C-C979CA192197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8B08C664-6D50-4C49-26AD-62BEDCFE6F9B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99BBA1BD-7E56-74BC-473C-11277BE6A853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8F4BC032-BC11-71C0-54F1-7B5B0D9C549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6F7FA89-25E9-09CC-A83F-AC29766B6768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4D82368F-7B49-56F7-736E-61CEBE38C61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3A42D193-CDD8-91E3-B165-73AEFEF22AE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r>
              <a:rPr lang="en-US" noProof="0" dirty="0"/>
              <a:t> / 39</a:t>
            </a:r>
          </a:p>
        </p:txBody>
      </p:sp>
      <p:pic>
        <p:nvPicPr>
          <p:cNvPr id="3" name="Grafik 2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486B1638-230D-DDDF-0B6F-DF6336A20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7" y="1342682"/>
            <a:ext cx="3895250" cy="1638723"/>
          </a:xfrm>
          <a:prstGeom prst="rect">
            <a:avLst/>
          </a:prstGeom>
        </p:spPr>
      </p:pic>
      <p:pic>
        <p:nvPicPr>
          <p:cNvPr id="17" name="Grafik 16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7A8C8119-03D3-82C5-88DA-15D1DA053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4" y="2981405"/>
            <a:ext cx="3895249" cy="166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95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38F4DC2-F1A4-41AF-BE1A-0B65B68E6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A173D38C-F274-69CF-3272-97141585EE04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Isolation Forest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0A44590-9643-7016-561A-09029E81F55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173DB92-53A4-6A6A-5454-FEE2B22FF67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8B2A46A8-78CA-8AB0-7472-1A783AC4DE6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2A26DAEA-C9A8-2C62-E90E-A30D58405177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153C5CB5-E0FA-42EC-A48B-A9B9B475FA6E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795C3630-7BC1-B3C7-1619-A1151AF092CA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65A66CAF-5B69-F208-3213-D007F658D61A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8AAFC34C-057C-688E-F66E-4E71968C361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C15D3DD-6C7B-8645-D49F-EA27FA4B55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r>
              <a:rPr lang="en-US" noProof="0" dirty="0"/>
              <a:t> / 39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F169583-C3F8-5E04-A4C7-7644F0529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6" y="1343331"/>
            <a:ext cx="3895250" cy="1638074"/>
          </a:xfrm>
          <a:prstGeom prst="rect">
            <a:avLst/>
          </a:prstGeom>
        </p:spPr>
      </p:pic>
      <p:pic>
        <p:nvPicPr>
          <p:cNvPr id="19" name="Picture 14">
            <a:extLst>
              <a:ext uri="{FF2B5EF4-FFF2-40B4-BE49-F238E27FC236}">
                <a16:creationId xmlns:a16="http://schemas.microsoft.com/office/drawing/2014/main" id="{E55E5D27-EB6A-B920-4EF3-B18DD1EEBE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6" y="2981406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109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C8364D1-343A-F0D6-212B-8D0524E92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924183EA-7624-93FF-A9C6-25FD783938B7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8424000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Autoencoder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E00B810-C3AA-E7D2-E200-5B605DDD57C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32EE537-2619-194A-6BE6-4D98F97819B5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959DB562-3562-E0D4-DAFB-2B17A647912A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EE4D8A42-C3FE-9FBD-9A93-05A4A45B7CD7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13BA3A3B-DCC6-FB19-6045-711EC5DB16CB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77A371B0-370B-8F2F-36C0-26C273812827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982C86F8-BA4E-6EC0-6ED3-E41323ED81DF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693C99CD-B620-951E-7315-8122EFB44DE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33026619-BC33-8ACD-718B-A5DBC5B70D5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r>
              <a:rPr lang="en-US" noProof="0" dirty="0"/>
              <a:t> / 39</a:t>
            </a:r>
          </a:p>
        </p:txBody>
      </p:sp>
      <p:pic>
        <p:nvPicPr>
          <p:cNvPr id="3" name="Picture 3" descr="A graph showing a line of blue squares&#10;&#10;AI-generated content may be incorrect.">
            <a:extLst>
              <a:ext uri="{FF2B5EF4-FFF2-40B4-BE49-F238E27FC236}">
                <a16:creationId xmlns:a16="http://schemas.microsoft.com/office/drawing/2014/main" id="{6318A310-F672-DD8E-F069-20B78D006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377" y="1343331"/>
            <a:ext cx="3895250" cy="1638074"/>
          </a:xfrm>
          <a:prstGeom prst="rect">
            <a:avLst/>
          </a:prstGeom>
        </p:spPr>
      </p:pic>
      <p:pic>
        <p:nvPicPr>
          <p:cNvPr id="20" name="Picture 16" descr="A graph showing a number of data&#10;&#10;AI-generated content may be incorrect.">
            <a:extLst>
              <a:ext uri="{FF2B5EF4-FFF2-40B4-BE49-F238E27FC236}">
                <a16:creationId xmlns:a16="http://schemas.microsoft.com/office/drawing/2014/main" id="{EEDA9CA7-5ABC-C82D-D782-90734699A6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7" y="2981406"/>
            <a:ext cx="3895250" cy="166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676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E8C45650-3367-680A-6784-7D67021B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69AB15AA-D3BA-0CCC-E377-CCE07C692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2612632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E0E8A5E-9CD0-7BC3-7DAE-B415D1DD2154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C02AE32C-DAFF-649C-386D-3934316AD12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69448B5-627A-87FB-48BF-CA03A245AD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28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1575864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E23F47D-7BD5-40FE-C563-FC736929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8546646B-1CAF-0C87-C592-D27EEC14A5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Key criteria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Precision and recall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Computational costs</a:t>
            </a:r>
            <a:r>
              <a:rPr lang="en-US" sz="1543" dirty="0">
                <a:latin typeface="+mn-lt"/>
              </a:rPr>
              <a:t> and </a:t>
            </a:r>
            <a:r>
              <a:rPr lang="en-US" sz="1543" noProof="0" dirty="0">
                <a:latin typeface="+mn-lt"/>
              </a:rPr>
              <a:t>complexity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Generalization and robustness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Applicability</a:t>
            </a:r>
            <a:endParaRPr lang="en-US" sz="1543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8677835-5C0B-AE8F-B9D1-C987040CBB8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184ACAE8-C2B7-345E-23D9-33A76CBB36C0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39840150-3DF1-8238-79E7-53D3009B9C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E6933BF-1A9C-B65B-36B0-3AA8684AA8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9B94E8D-A8A8-2760-6FB7-B947336449D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ACC43ED-7F15-56B8-7124-2ACCBA4A7F52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EC616692-24A9-FC6C-1418-ED877773972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A944AF-4112-4A47-64FF-F64CD4B5D5C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5CE6430-2E03-9A3D-3FE8-84D66BC4A6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69075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BC95A36-FB80-DAC5-F327-DBF17380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3C6B6DE-3520-75B3-44AD-34B2CDE415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Comparison with Pseudo Labels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69080BD-8150-480A-7ACB-41AEFED2F85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A22A017-3761-0665-9B9B-4F9679808186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19BCD48-7965-57E6-AF4D-9E6CF3C3FD74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E2AB3A8-617A-9FF3-2677-ABCD0B1FB8C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6ED52007-B001-6513-F8B9-D195E9B347C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E81EE87-19DA-E272-FC4C-7C855F04CBE7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609E38A-DC99-573D-6076-4A2A7E700864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BCD7284F-32CF-60F1-D30D-E0579A4E092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7E59DC4F-C08A-DAFD-3EB7-ABDC012F12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r>
              <a:rPr lang="en-US" noProof="0" dirty="0"/>
              <a:t> / 39</a:t>
            </a:r>
          </a:p>
        </p:txBody>
      </p:sp>
      <p:graphicFrame>
        <p:nvGraphicFramePr>
          <p:cNvPr id="14" name="Diagramm 13">
            <a:extLst>
              <a:ext uri="{FF2B5EF4-FFF2-40B4-BE49-F238E27FC236}">
                <a16:creationId xmlns:a16="http://schemas.microsoft.com/office/drawing/2014/main" id="{287E3456-C002-AB75-32D7-3554893389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857205"/>
              </p:ext>
            </p:extLst>
          </p:nvPr>
        </p:nvGraphicFramePr>
        <p:xfrm>
          <a:off x="359999" y="1475334"/>
          <a:ext cx="8424000" cy="3128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947538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853EBBC-1777-6780-DA9F-770BB6CC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07F2E0B-E89B-3DF5-B399-AE564CFC0A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lvl="0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Computational Cost, Complexity and Generalizability</a:t>
            </a:r>
            <a:endParaRPr lang="en-US" sz="1700" noProof="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7AF4EA4-E833-D706-68F4-3B08C74D6B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34A3C03-223B-EC84-1AFD-048A09B7FA5D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4C5AE0F4-309C-0754-2976-A2B0779492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B8E16F45-9FBB-88F8-D6A3-6C2032896AA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3505A38-11D0-B9EA-15BA-D2018CFE99DF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D3735AE-90D0-266E-08C5-49EB8337F9ED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99FC9C4E-951A-BFDA-7C1B-7BB928413511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8E2B09A7-BA53-1F3A-C747-B113E3445FF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9A5D2452-6194-AB7B-B893-730F5517F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r>
              <a:rPr lang="en-US" noProof="0" dirty="0"/>
              <a:t> / 39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5C22DA6-F395-F207-140F-DCA5F4B5D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141" y="1300796"/>
            <a:ext cx="5705715" cy="325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40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8D12752-A1B1-EEB7-8577-EDE8CE5D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C35C87F-02FF-117B-3511-1C6AF78641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Best practice: Threshold-Based Detection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Best results based of visual inspections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Fast computation with low resource allocation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Few parameters to optimize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High precision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060F6B2-773F-DE07-07F4-2223BB68726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9ADA44BF-C5D8-37D1-33DC-01D2644CA109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B96BDF8-CA0E-C5F0-D0CA-CC04A2C58AA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6169087-9D9A-81F3-A528-AAE9F81094F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132C201-D0EB-55D5-D82F-B7722F3A1E93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07D8806B-A93A-8E22-A09B-4F6C22D917D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Evaluation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197DF9-654F-2667-ED1F-147ABFFB571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05DDAEE-3E2C-159A-CAA4-52CCB9242D1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F80790B-582B-860D-CAD8-7D3D7DF999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r>
              <a:rPr lang="en-US" noProof="0" dirty="0"/>
              <a:t>  / 39</a:t>
            </a:r>
          </a:p>
        </p:txBody>
      </p:sp>
    </p:spTree>
    <p:extLst>
      <p:ext uri="{BB962C8B-B14F-4D97-AF65-F5344CB8AC3E}">
        <p14:creationId xmlns:p14="http://schemas.microsoft.com/office/powerpoint/2010/main" val="153203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7C92AE72-99FF-3839-AE08-935D4E3F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58D2502F-BB62-DBCA-392E-DA7E5F8313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4709751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8E9EB11-B4DF-2EE2-ED1B-BE6F2A553045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62ABECB-6269-7B64-A5C9-0CDEA15C050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337FAD-55EC-A2D6-D456-B66403DDBD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33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3302428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4CF061D-0C69-A818-65E0-0CD6C6AA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03BC4A43-B96C-5C53-ADF4-508D3CBE1E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Recommended workflow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25E0BCF-603C-7AE0-6622-9704706656D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EA5DB48-19CC-2AD8-8ED3-CCA880FBA2D3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FBD5035-DAD6-241D-2FE4-75B598564F40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96377F49-D525-7D97-6A9D-FC9C009CD7E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B2BD9AE4-DE4C-3A53-BEFB-647210E568D5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0D58199-46E7-BC31-F818-46D69DE34AF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64AE62B-E503-AFB9-4BBC-9022739112E5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6BA3C3C-223D-FD3C-CECE-6AFD7EC3DF9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74A74EB-5208-4B5F-A0FB-2C3930E517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r>
              <a:rPr lang="en-US" noProof="0" dirty="0"/>
              <a:t> / 39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3A70435C-D139-0AA4-08A1-678ADD0B27A5}"/>
              </a:ext>
            </a:extLst>
          </p:cNvPr>
          <p:cNvSpPr/>
          <p:nvPr/>
        </p:nvSpPr>
        <p:spPr>
          <a:xfrm>
            <a:off x="376423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1. Start with a simple method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0EB8A4D-9436-3F21-9BBD-22B5C2A4B856}"/>
              </a:ext>
            </a:extLst>
          </p:cNvPr>
          <p:cNvSpPr/>
          <p:nvPr/>
        </p:nvSpPr>
        <p:spPr>
          <a:xfrm>
            <a:off x="2450437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Select and develop suitable input features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17371F64-C9A5-2B15-978A-7F29E60F3D24}"/>
              </a:ext>
            </a:extLst>
          </p:cNvPr>
          <p:cNvSpPr/>
          <p:nvPr/>
        </p:nvSpPr>
        <p:spPr>
          <a:xfrm>
            <a:off x="4524451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Optimize the parameters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19AD574-9CEB-0F95-C144-5788B37DC1B2}"/>
              </a:ext>
            </a:extLst>
          </p:cNvPr>
          <p:cNvSpPr/>
          <p:nvPr/>
        </p:nvSpPr>
        <p:spPr>
          <a:xfrm>
            <a:off x="7252378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Try a more complex approach</a:t>
            </a:r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EB8A14F-BB68-5D51-CC3E-237D8B2DD0BE}"/>
              </a:ext>
            </a:extLst>
          </p:cNvPr>
          <p:cNvCxnSpPr>
            <a:stCxn id="3" idx="3"/>
            <a:endCxn id="13" idx="1"/>
          </p:cNvCxnSpPr>
          <p:nvPr/>
        </p:nvCxnSpPr>
        <p:spPr>
          <a:xfrm>
            <a:off x="1908043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C6E52A8-5EBC-23E7-6DC6-C43C0EC7CF3C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982057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9E65F3E-EF5D-AE23-FA81-C0F9223EC56C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056071" y="2311413"/>
            <a:ext cx="11963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9BFABFD2-DE34-2B8D-C206-B114421CD49A}"/>
              </a:ext>
            </a:extLst>
          </p:cNvPr>
          <p:cNvSpPr/>
          <p:nvPr/>
        </p:nvSpPr>
        <p:spPr>
          <a:xfrm>
            <a:off x="4730191" y="3672663"/>
            <a:ext cx="1120140" cy="324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Done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1E1B22E1-AF76-9754-F35F-0D1EF4BB5EEA}"/>
              </a:ext>
            </a:extLst>
          </p:cNvPr>
          <p:cNvCxnSpPr>
            <a:cxnSpLocks/>
            <a:stCxn id="14" idx="2"/>
            <a:endCxn id="28" idx="0"/>
          </p:cNvCxnSpPr>
          <p:nvPr/>
        </p:nvCxnSpPr>
        <p:spPr>
          <a:xfrm>
            <a:off x="5290261" y="2819241"/>
            <a:ext cx="0" cy="853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36C68D9E-5978-C63C-971C-53AA0CF116F1}"/>
              </a:ext>
            </a:extLst>
          </p:cNvPr>
          <p:cNvSpPr txBox="1"/>
          <p:nvPr/>
        </p:nvSpPr>
        <p:spPr>
          <a:xfrm>
            <a:off x="4429201" y="3079048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Success</a:t>
            </a:r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B1CE632-30D2-E6E9-7DCC-94B66BD435A4}"/>
              </a:ext>
            </a:extLst>
          </p:cNvPr>
          <p:cNvSpPr txBox="1"/>
          <p:nvPr/>
        </p:nvSpPr>
        <p:spPr>
          <a:xfrm>
            <a:off x="6291074" y="2311412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Failure</a:t>
            </a:r>
            <a:endParaRPr lang="de-DE" dirty="0"/>
          </a:p>
        </p:txBody>
      </p:sp>
      <p:cxnSp>
        <p:nvCxnSpPr>
          <p:cNvPr id="20" name="Verbinder: gewinkelt 19">
            <a:extLst>
              <a:ext uri="{FF2B5EF4-FFF2-40B4-BE49-F238E27FC236}">
                <a16:creationId xmlns:a16="http://schemas.microsoft.com/office/drawing/2014/main" id="{CF250072-4BEB-8675-2275-9D0A9477F0CE}"/>
              </a:ext>
            </a:extLst>
          </p:cNvPr>
          <p:cNvCxnSpPr>
            <a:cxnSpLocks/>
            <a:stCxn id="15" idx="0"/>
            <a:endCxn id="14" idx="0"/>
          </p:cNvCxnSpPr>
          <p:nvPr/>
        </p:nvCxnSpPr>
        <p:spPr>
          <a:xfrm rot="16200000" flipV="1">
            <a:off x="6654225" y="439620"/>
            <a:ext cx="12700" cy="2727927"/>
          </a:xfrm>
          <a:prstGeom prst="bentConnector3">
            <a:avLst>
              <a:gd name="adj1" fmla="val 180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5524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Findings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Anomalies are likely caused by sudden changes in the commanded speed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Sharp edges seem to cause the peaks in the current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There seems to be an issue within the planning unit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3F46FF-78F3-EDF4-2A91-599E91D71AB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F64FD26-7069-C8C7-860C-861F448B8784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D3534C5C-D681-184C-82D8-97F482230ED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2C16C11-85A4-2224-D7B3-40F8830FC203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D7F2F355-8C3C-F887-D811-194322EF124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82DEC45-AE97-033B-D8B4-CF91AB3992AE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B5EAFD34-C48B-EB12-EA5E-A9BE53FA4F22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F3D3E75-2742-E634-6ECC-4F19D5EB2A1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E3F6DBB-32B2-E868-F2E2-BED822E514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r>
              <a:rPr lang="en-US" noProof="0" dirty="0"/>
              <a:t>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FD14BD5E-B74A-4D9C-D5BF-50F4D84E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6E87CCD9-98D3-A392-4674-F201C737F3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752799"/>
            <a:ext cx="8423998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3 different types of anomalies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Large outlier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Signal flickers to zero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Jumping between quantized levels</a:t>
            </a:r>
          </a:p>
        </p:txBody>
      </p:sp>
      <p:pic>
        <p:nvPicPr>
          <p:cNvPr id="3" name="Grafik 2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828240F6-921D-D520-67F7-0E609DAF1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197" y="1179117"/>
            <a:ext cx="4256801" cy="1714748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56055CC-F448-B01B-B2BD-A90FDCAF14D1}"/>
              </a:ext>
            </a:extLst>
          </p:cNvPr>
          <p:cNvGrpSpPr/>
          <p:nvPr/>
        </p:nvGrpSpPr>
        <p:grpSpPr>
          <a:xfrm>
            <a:off x="4978400" y="3074644"/>
            <a:ext cx="386576" cy="353943"/>
            <a:chOff x="5084956" y="3786878"/>
            <a:chExt cx="386576" cy="353943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A0DF536-28E6-886D-AAFD-CD296473A6BA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0E5CA5E-D098-2C69-5B78-F0D5026BDE2E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1.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581AA17-EC26-AD71-DC42-0D769F8E0BBF}"/>
              </a:ext>
            </a:extLst>
          </p:cNvPr>
          <p:cNvGrpSpPr/>
          <p:nvPr/>
        </p:nvGrpSpPr>
        <p:grpSpPr>
          <a:xfrm>
            <a:off x="5991552" y="3074645"/>
            <a:ext cx="386576" cy="353943"/>
            <a:chOff x="5084956" y="3786878"/>
            <a:chExt cx="386576" cy="353943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14C4FAEC-7AE4-3CEB-8964-576E494013BC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5E54C56-1182-F095-6610-2056FAD51730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2.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CC3397-FE63-6116-AB9D-92EEDE460642}"/>
              </a:ext>
            </a:extLst>
          </p:cNvPr>
          <p:cNvGrpSpPr/>
          <p:nvPr/>
        </p:nvGrpSpPr>
        <p:grpSpPr>
          <a:xfrm>
            <a:off x="7149883" y="3084241"/>
            <a:ext cx="386576" cy="353943"/>
            <a:chOff x="5084956" y="3786878"/>
            <a:chExt cx="386576" cy="353943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086B929-E218-9EBA-EBFB-E988CE8F97B0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15A2D2A8-800A-B925-F0EC-9CAFFD77AC6A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3.</a:t>
              </a:r>
            </a:p>
          </p:txBody>
        </p:sp>
      </p:grp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F29F345-B7B8-D131-6459-8D5D67D7A1F5}"/>
              </a:ext>
            </a:extLst>
          </p:cNvPr>
          <p:cNvCxnSpPr>
            <a:cxnSpLocks/>
          </p:cNvCxnSpPr>
          <p:nvPr/>
        </p:nvCxnSpPr>
        <p:spPr>
          <a:xfrm>
            <a:off x="4978400" y="2223741"/>
            <a:ext cx="134144" cy="8628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35CF70D-8E6A-3C26-4DB6-435A1D6C82B2}"/>
              </a:ext>
            </a:extLst>
          </p:cNvPr>
          <p:cNvCxnSpPr>
            <a:cxnSpLocks/>
          </p:cNvCxnSpPr>
          <p:nvPr/>
        </p:nvCxnSpPr>
        <p:spPr>
          <a:xfrm>
            <a:off x="5739120" y="1397619"/>
            <a:ext cx="356880" cy="16897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4BF44E1-246E-3E28-9B80-4168E8F04DCD}"/>
              </a:ext>
            </a:extLst>
          </p:cNvPr>
          <p:cNvCxnSpPr>
            <a:cxnSpLocks/>
          </p:cNvCxnSpPr>
          <p:nvPr/>
        </p:nvCxnSpPr>
        <p:spPr>
          <a:xfrm flipH="1">
            <a:off x="6186488" y="1436416"/>
            <a:ext cx="69479" cy="165020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FB553EB-1D2B-54A5-CDD5-12FB649760B7}"/>
              </a:ext>
            </a:extLst>
          </p:cNvPr>
          <p:cNvCxnSpPr>
            <a:cxnSpLocks/>
          </p:cNvCxnSpPr>
          <p:nvPr/>
        </p:nvCxnSpPr>
        <p:spPr>
          <a:xfrm flipH="1">
            <a:off x="6262688" y="1397619"/>
            <a:ext cx="504492" cy="17151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68FB2751-5B51-9584-542C-24881519017F}"/>
              </a:ext>
            </a:extLst>
          </p:cNvPr>
          <p:cNvCxnSpPr>
            <a:cxnSpLocks/>
          </p:cNvCxnSpPr>
          <p:nvPr/>
        </p:nvCxnSpPr>
        <p:spPr>
          <a:xfrm flipH="1">
            <a:off x="7367588" y="1493566"/>
            <a:ext cx="352425" cy="16097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36EAE1B-462D-43F9-897B-100062B7D1DB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6E5650B7-D268-289A-489D-BD4526CB8BBD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18" name="Richtungspfeil 33">
                <a:extLst>
                  <a:ext uri="{FF2B5EF4-FFF2-40B4-BE49-F238E27FC236}">
                    <a16:creationId xmlns:a16="http://schemas.microsoft.com/office/drawing/2014/main" id="{BC73EF5D-C6FD-D5CA-D00D-61D4A980F309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9" name="Eingekerbter Richtungspfeil 1">
                <a:extLst>
                  <a:ext uri="{FF2B5EF4-FFF2-40B4-BE49-F238E27FC236}">
                    <a16:creationId xmlns:a16="http://schemas.microsoft.com/office/drawing/2014/main" id="{1028804E-34BB-ED87-1E99-9A81E1B840CD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0" name="Eingekerbter Richtungspfeil 10">
                <a:extLst>
                  <a:ext uri="{FF2B5EF4-FFF2-40B4-BE49-F238E27FC236}">
                    <a16:creationId xmlns:a16="http://schemas.microsoft.com/office/drawing/2014/main" id="{A716177E-B9B6-0CE2-022D-155F363A19B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1" name="Eingekerbter Richtungspfeil 11">
                <a:extLst>
                  <a:ext uri="{FF2B5EF4-FFF2-40B4-BE49-F238E27FC236}">
                    <a16:creationId xmlns:a16="http://schemas.microsoft.com/office/drawing/2014/main" id="{3E952C75-F171-AB31-A374-9EBB47456F54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7" name="Eingekerbter Richtungspfeil 11">
              <a:extLst>
                <a:ext uri="{FF2B5EF4-FFF2-40B4-BE49-F238E27FC236}">
                  <a16:creationId xmlns:a16="http://schemas.microsoft.com/office/drawing/2014/main" id="{F600F88C-68A1-2027-BAEC-F1895CB7CBB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22" name="Google Shape;206;p15">
            <a:extLst>
              <a:ext uri="{FF2B5EF4-FFF2-40B4-BE49-F238E27FC236}">
                <a16:creationId xmlns:a16="http://schemas.microsoft.com/office/drawing/2014/main" id="{DF040971-EB00-9A4B-9C2D-9767F1022A1E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FFA71336-1D3D-0F09-C505-32B94ED520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1610348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51C19A9-2201-A6D7-65BC-AA94D4BB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948BFD99-BD37-5382-C8B4-1976B3EAC7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Ideas for improvement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Consider the width of each peak and its proximity to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neighboring peaks</a:t>
            </a: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Rescale the signals by a material-specific factor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C</a:t>
            </a:r>
            <a:r>
              <a:rPr lang="en-US" sz="1700" noProof="0" dirty="0">
                <a:latin typeface="+mn-lt"/>
              </a:rPr>
              <a:t>luster formation: peaks that are close to each other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are combined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19423D0-17CC-B61E-5165-831D7D99E17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AADE861-C048-40F9-9150-1FE3ED607FFB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E98BEBF-ECD0-7B48-F95A-6F5A6853FE0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FF6FBB7D-B844-BE2A-2D76-A2A839B75E1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7F502AE-0184-579E-6B8D-D7B4D1E6F6A2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E936871B-E189-4FBF-EE6D-83EF7158AAB1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41BF44-A500-8315-087F-313184E25E7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CD166FA-DEA3-ABAE-D707-1CA537A8740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21ABD78-CE0B-DEA7-259C-8DAEBA678D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r>
              <a:rPr lang="en-US" noProof="0" dirty="0"/>
              <a:t> / 39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6DF7811-37E1-4E49-5F8F-74AC981F92C6}"/>
              </a:ext>
            </a:extLst>
          </p:cNvPr>
          <p:cNvGrpSpPr/>
          <p:nvPr/>
        </p:nvGrpSpPr>
        <p:grpSpPr>
          <a:xfrm>
            <a:off x="7569197" y="3012474"/>
            <a:ext cx="708662" cy="1378225"/>
            <a:chOff x="4114798" y="2834640"/>
            <a:chExt cx="800102" cy="1556060"/>
          </a:xfrm>
        </p:grpSpPr>
        <p:pic>
          <p:nvPicPr>
            <p:cNvPr id="3" name="Grafik 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75D76BCB-57BC-00F8-5586-40B7D4BD8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823" t="3570" r="52097" b="12847"/>
            <a:stretch>
              <a:fillRect/>
            </a:stretch>
          </p:blipFill>
          <p:spPr>
            <a:xfrm>
              <a:off x="4114799" y="2834640"/>
              <a:ext cx="800101" cy="1556060"/>
            </a:xfrm>
            <a:prstGeom prst="rect">
              <a:avLst/>
            </a:prstGeom>
          </p:spPr>
        </p:pic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266C7171-ADE3-DD5A-DAD9-CF34CE9FDE84}"/>
                </a:ext>
              </a:extLst>
            </p:cNvPr>
            <p:cNvSpPr/>
            <p:nvPr/>
          </p:nvSpPr>
          <p:spPr>
            <a:xfrm>
              <a:off x="4114798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AD6224C-324E-4F57-13D8-0018D85C39D6}"/>
              </a:ext>
            </a:extLst>
          </p:cNvPr>
          <p:cNvGrpSpPr/>
          <p:nvPr/>
        </p:nvGrpSpPr>
        <p:grpSpPr>
          <a:xfrm>
            <a:off x="5923277" y="3012475"/>
            <a:ext cx="708661" cy="1378225"/>
            <a:chOff x="5768339" y="2834640"/>
            <a:chExt cx="800101" cy="1556060"/>
          </a:xfrm>
        </p:grpSpPr>
        <p:pic>
          <p:nvPicPr>
            <p:cNvPr id="13" name="Grafik 1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01CFAE39-F31F-E2F4-AE45-69DA3C1B8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758" t="3563" r="52201" b="13035"/>
            <a:stretch>
              <a:fillRect/>
            </a:stretch>
          </p:blipFill>
          <p:spPr>
            <a:xfrm>
              <a:off x="5768340" y="2834640"/>
              <a:ext cx="800100" cy="1556060"/>
            </a:xfrm>
            <a:prstGeom prst="rect">
              <a:avLst/>
            </a:prstGeom>
          </p:spPr>
        </p:pic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8FCCBC8-810C-4303-5F3F-05784024AED8}"/>
                </a:ext>
              </a:extLst>
            </p:cNvPr>
            <p:cNvSpPr/>
            <p:nvPr/>
          </p:nvSpPr>
          <p:spPr>
            <a:xfrm>
              <a:off x="5768339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A3FEF554-0FCF-D7A7-C306-A504A396D1FA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 flipV="1">
            <a:off x="6631938" y="3701587"/>
            <a:ext cx="93726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9CCFC0AE-DAB7-2ED6-30B9-0B7CCBE1B254}"/>
              </a:ext>
            </a:extLst>
          </p:cNvPr>
          <p:cNvGrpSpPr/>
          <p:nvPr/>
        </p:nvGrpSpPr>
        <p:grpSpPr>
          <a:xfrm>
            <a:off x="5923277" y="1083077"/>
            <a:ext cx="2354582" cy="1181100"/>
            <a:chOff x="5459727" y="1046093"/>
            <a:chExt cx="2354582" cy="1181100"/>
          </a:xfrm>
        </p:grpSpPr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F7FAE6C6-9B99-AA02-5286-9FB96F7EFA21}"/>
                </a:ext>
              </a:extLst>
            </p:cNvPr>
            <p:cNvGrpSpPr/>
            <p:nvPr/>
          </p:nvGrpSpPr>
          <p:grpSpPr>
            <a:xfrm>
              <a:off x="5459727" y="1046093"/>
              <a:ext cx="2354582" cy="1181100"/>
              <a:chOff x="5372098" y="1005840"/>
              <a:chExt cx="2354582" cy="1181100"/>
            </a:xfrm>
          </p:grpSpPr>
          <p:pic>
            <p:nvPicPr>
              <p:cNvPr id="20" name="Grafik 19" descr="Ein Bild, das Reihe, Diagramm, Text, Zahl enthält.&#10;&#10;KI-generierte Inhalte können fehlerhaft sein.">
                <a:extLst>
                  <a:ext uri="{FF2B5EF4-FFF2-40B4-BE49-F238E27FC236}">
                    <a16:creationId xmlns:a16="http://schemas.microsoft.com/office/drawing/2014/main" id="{5F4E4FFB-7C5A-4785-BD9F-75FC37C9D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550" t="4560" r="20746" b="9882"/>
              <a:stretch>
                <a:fillRect/>
              </a:stretch>
            </p:blipFill>
            <p:spPr>
              <a:xfrm>
                <a:off x="5372099" y="1005840"/>
                <a:ext cx="2354581" cy="1181099"/>
              </a:xfrm>
              <a:prstGeom prst="rect">
                <a:avLst/>
              </a:prstGeom>
            </p:spPr>
          </p:pic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49222142-AA45-02EE-F79D-EFFCE29AB565}"/>
                  </a:ext>
                </a:extLst>
              </p:cNvPr>
              <p:cNvSpPr/>
              <p:nvPr/>
            </p:nvSpPr>
            <p:spPr>
              <a:xfrm>
                <a:off x="5372098" y="1005840"/>
                <a:ext cx="2354582" cy="11811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F63F46B7-8A07-2D72-B22E-0A857CA8C50C}"/>
                </a:ext>
              </a:extLst>
            </p:cNvPr>
            <p:cNvCxnSpPr>
              <a:cxnSpLocks/>
            </p:cNvCxnSpPr>
            <p:nvPr/>
          </p:nvCxnSpPr>
          <p:spPr>
            <a:xfrm>
              <a:off x="5707380" y="1579245"/>
              <a:ext cx="36639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5EEAAEBA-8B00-02F1-8BD7-7C4E8FDCC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352" y="2161434"/>
              <a:ext cx="1151573" cy="384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DE2DF4DB-0449-2412-0CF7-E7742C184A07}"/>
                </a:ext>
              </a:extLst>
            </p:cNvPr>
            <p:cNvCxnSpPr/>
            <p:nvPr/>
          </p:nvCxnSpPr>
          <p:spPr>
            <a:xfrm>
              <a:off x="5868352" y="1108004"/>
              <a:ext cx="0" cy="105727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7988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349" name="Google Shape;349;p30"/>
          <p:cNvSpPr txBox="1">
            <a:spLocks noGrp="1"/>
          </p:cNvSpPr>
          <p:nvPr>
            <p:ph type="ctrTitle"/>
          </p:nvPr>
        </p:nvSpPr>
        <p:spPr>
          <a:xfrm>
            <a:off x="800175" y="1113952"/>
            <a:ext cx="6858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-US" sz="2200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endParaRPr lang="en-US" sz="2200" noProof="0" dirty="0">
              <a:latin typeface="+mn-lt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800176" y="2768541"/>
            <a:ext cx="44829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3" b="1" noProof="0" dirty="0">
                <a:solidFill>
                  <a:srgbClr val="0068B4"/>
                </a:solidFill>
                <a:latin typeface="+mn-lt"/>
                <a:ea typeface="Arial"/>
                <a:cs typeface="Arial"/>
                <a:sym typeface="Arial"/>
              </a:rPr>
              <a:t>Thank You For Your Attention!</a:t>
            </a:r>
            <a:endParaRPr lang="en-US" noProof="0" dirty="0">
              <a:latin typeface="+mn-lt"/>
            </a:endParaRPr>
          </a:p>
        </p:txBody>
      </p:sp>
      <p:sp>
        <p:nvSpPr>
          <p:cNvPr id="351" name="Google Shape;351;p30"/>
          <p:cNvSpPr txBox="1"/>
          <p:nvPr/>
        </p:nvSpPr>
        <p:spPr>
          <a:xfrm>
            <a:off x="627825" y="3444775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Nestor Weidemann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nestor.weidemann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627825" y="4086350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Nathira Wijemanne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nathira.wijemanne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996C8959-D708-A593-FE16-18FB48E4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>
            <a:extLst>
              <a:ext uri="{FF2B5EF4-FFF2-40B4-BE49-F238E27FC236}">
                <a16:creationId xmlns:a16="http://schemas.microsoft.com/office/drawing/2014/main" id="{C3796DEB-4CBE-538C-F188-8D41F67BA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References for Graphics</a:t>
            </a:r>
          </a:p>
        </p:txBody>
      </p:sp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CE5A2697-1B52-D0FD-D961-77AFD850CA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030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[1] </a:t>
            </a:r>
            <a:r>
              <a:rPr lang="en-US" sz="1700" dirty="0">
                <a:latin typeface="+mn-lt"/>
                <a:hlinkClick r:id="rId3"/>
              </a:rPr>
              <a:t>https://www.hubs.com/de/wissensbasis/3d-druck-vs-cnc-bearbeitung/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[2] </a:t>
            </a:r>
            <a:r>
              <a:rPr lang="en-US" sz="1700" dirty="0">
                <a:latin typeface="+mn-lt"/>
                <a:hlinkClick r:id="rId4"/>
              </a:rPr>
              <a:t>https://www.fptindustrie.com/deu/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[3] </a:t>
            </a:r>
            <a:r>
              <a:rPr lang="en-US" sz="1700" dirty="0">
                <a:latin typeface="+mn-lt"/>
                <a:hlinkClick r:id="rId5"/>
              </a:rPr>
              <a:t>https://www.mdpi.com/1996-1073/17/15/3659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[4]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6"/>
              </a:rPr>
              <a:t>https://en.wikipedia.org/wiki/Topographic_prominence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[5] </a:t>
            </a:r>
            <a:r>
              <a:rPr lang="en-US" sz="1700" dirty="0">
                <a:latin typeface="+mn-lt"/>
                <a:hlinkClick r:id="rId7"/>
              </a:rPr>
              <a:t>https://en.wikipedia.org/wiki/Ricker_wavelet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[6]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8"/>
              </a:rPr>
              <a:t>https://www.researchgate.net/figure/Convolution-of-a-signal-with-a-wavelet-function-Part-of-this-figure-is-taken-from-1_fig1_51918746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[7]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9"/>
              </a:rPr>
              <a:t>https://blog.dailydoseofds.com/p/the-limitations-of-dbscan-clustering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dirty="0">
                <a:latin typeface="+mn-lt"/>
              </a:rPr>
              <a:t>[8] </a:t>
            </a:r>
            <a:r>
              <a:rPr lang="en-US" sz="1700" dirty="0">
                <a:latin typeface="+mn-lt"/>
                <a:hlinkClick r:id="rId10"/>
              </a:rPr>
              <a:t>https://www.researchgate.net/figure/Pareto-front-distribution-of-the-optimization-problem_fig1_374617028</a:t>
            </a:r>
            <a:endParaRPr lang="en-US" sz="1700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F1AC336-3D3C-2F8A-A99B-7A53F2ABF7C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4DBA4F-F8EA-7194-535B-A282D0EFF3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/>
              <a:t>39 / </a:t>
            </a: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31448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00"/>
              <a:buFont typeface="Arial"/>
              <a:buNone/>
            </a:pPr>
            <a:r>
              <a:rPr lang="en-US" noProof="0" dirty="0">
                <a:latin typeface="+mn-lt"/>
              </a:rPr>
              <a:t>Backup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AF241EE-F10E-3336-7AF1-9484C9DC835B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32B27E1-B663-C083-6E4B-5F2960EF9C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40</a:t>
            </a:fld>
            <a:endParaRPr lang="en-US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F011F7B-CD5A-F8D7-DF4A-73C37E87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20650" lvl="0" indent="0">
                  <a:lnSpc>
                    <a:spcPct val="115000"/>
                  </a:lnSpc>
                  <a:spcBef>
                    <a:spcPts val="1200"/>
                  </a:spcBef>
                  <a:buSzPts val="1700"/>
                  <a:buNone/>
                </a:pPr>
                <a:r>
                  <a:rPr lang="en-US" sz="1700" noProof="0" dirty="0">
                    <a:latin typeface="+mn-lt"/>
                  </a:rPr>
                  <a:t>F1-Score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r>
                  <a:rPr lang="en-US" sz="1700" noProof="0" dirty="0">
                    <a:latin typeface="+mn-lt"/>
                  </a:rPr>
                  <a:t>Combines precision and recall into one metric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de-DE" sz="1700" b="0" i="0" noProof="0" dirty="0">
                  <a:latin typeface="Cambria Math" panose="02040503050406030204" pitchFamily="18" charset="0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sz="17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=2∗</m:t>
                    </m:r>
                    <m:f>
                      <m:fPr>
                        <m:ctrlPr>
                          <a:rPr lang="de-DE" sz="17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den>
                    </m:f>
                  </m:oMath>
                </a14:m>
                <a:endParaRPr lang="en-US" sz="1700" noProof="0" dirty="0">
                  <a:latin typeface="+mn-lt"/>
                </a:endParaRPr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543" b="0" i="0" noProof="0" smtClean="0">
                        <a:latin typeface="Cambria Math" panose="02040503050406030204" pitchFamily="18" charset="0"/>
                      </a:rPr>
                      <m:t>Precision</m:t>
                    </m:r>
                    <m:r>
                      <a:rPr lang="de-DE" sz="1543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543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</m:oMath>
                </a14:m>
                <a:endParaRPr lang="de-DE" sz="1543" b="0" noProof="0" dirty="0"/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Recall</m:t>
                    </m:r>
                    <m:r>
                      <a:rPr lang="de-DE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FN</m:t>
                        </m:r>
                      </m:den>
                    </m:f>
                  </m:oMath>
                </a14:m>
                <a:endParaRPr lang="en-US" sz="1543" noProof="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noProof="0" dirty="0">
                  <a:latin typeface="+mn-lt"/>
                </a:endParaRPr>
              </a:p>
            </p:txBody>
          </p:sp>
        </mc:Choice>
        <mc:Fallback xmlns="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965E3C8E-66D3-F60F-02C1-3F31177DDB0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6F0BD6B-3A14-7CB2-2765-7FDA3F9DE1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09804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Number of Rows: ~1.6 Million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Time Series data across: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Machine Types (CMX1, DMC2)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Materials (AL, S)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Components (CP1, CP2)</a:t>
            </a: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noProof="0" dirty="0">
                <a:latin typeface="+mn-lt"/>
              </a:rPr>
              <a:t>   -&gt;  8 different measurements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Variables measured across 4 axes: X (1), Y (2), Z (3) and Spindle (6)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Target Variable: Current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Possible Input Variables: Load, Motor shaft positions (actual &amp; desired), Control deviation, Torque, Feedforward velocity, Feedforward torque, Commanded Speed, and etc.</a:t>
            </a:r>
          </a:p>
          <a:p>
            <a:pPr marL="1028609" lvl="3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B3CA6D72-C513-6CC0-C4CA-495B6483C1E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4EEAA4-0853-486D-ED5A-39F6DE00E3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 lang="en-US" noProof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41" name="Google Shape;241;p19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Relationships: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axes: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Torque 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CMX1,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DMC2, Y &amp;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Encoder Positions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2, Y: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(~0.7 correlation)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4CF7E2F-AFB4-1C7D-B0B7-3A184EFB2D8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5BF0DCA-1EED-C592-8BBA-1535AA4E46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43</a:t>
            </a:fld>
            <a:endParaRPr lang="en-US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3172</Words>
  <Application>Microsoft Office PowerPoint</Application>
  <PresentationFormat>Bildschirmpräsentation (16:9)</PresentationFormat>
  <Paragraphs>667</Paragraphs>
  <Slides>43</Slides>
  <Notes>43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43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Wingdings</vt:lpstr>
      <vt:lpstr>Office Theme</vt:lpstr>
      <vt:lpstr>Peak Detection in Time Series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Peak Detection in Time Series </vt:lpstr>
      <vt:lpstr>References for Graphics</vt:lpstr>
      <vt:lpstr>Backup</vt:lpstr>
      <vt:lpstr>PowerPoint-Präsentation</vt:lpstr>
      <vt:lpstr>Dataset</vt:lpstr>
      <vt:lpstr>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Nestor Weidemann</cp:lastModifiedBy>
  <cp:revision>410</cp:revision>
  <dcterms:modified xsi:type="dcterms:W3CDTF">2025-09-07T15:36:34Z</dcterms:modified>
</cp:coreProperties>
</file>