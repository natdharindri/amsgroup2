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diagrams/data2.xml" ContentType="application/vnd.openxmlformats-officedocument.drawingml.diagramData+xml"/>
  <Override PartName="/ppt/diagrams/layout2.xml" ContentType="application/vnd.openxmlformats-officedocument.drawingml.diagramLayout+xml"/>
  <Override PartName="/ppt/diagrams/quickStyle2.xml" ContentType="application/vnd.openxmlformats-officedocument.drawingml.diagramStyle+xml"/>
  <Override PartName="/ppt/diagrams/colors2.xml" ContentType="application/vnd.openxmlformats-officedocument.drawingml.diagramColors+xml"/>
  <Override PartName="/ppt/diagrams/drawing2.xml" ContentType="application/vnd.ms-office.drawingml.diagramDrawing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diagrams/data3.xml" ContentType="application/vnd.openxmlformats-officedocument.drawingml.diagramData+xml"/>
  <Override PartName="/ppt/diagrams/layout3.xml" ContentType="application/vnd.openxmlformats-officedocument.drawingml.diagramLayout+xml"/>
  <Override PartName="/ppt/diagrams/quickStyle3.xml" ContentType="application/vnd.openxmlformats-officedocument.drawingml.diagramStyle+xml"/>
  <Override PartName="/ppt/diagrams/colors3.xml" ContentType="application/vnd.openxmlformats-officedocument.drawingml.diagramColors+xml"/>
  <Override PartName="/ppt/diagrams/drawing3.xml" ContentType="application/vnd.ms-office.drawingml.diagramDrawing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diagrams/data4.xml" ContentType="application/vnd.openxmlformats-officedocument.drawingml.diagramData+xml"/>
  <Override PartName="/ppt/diagrams/layout4.xml" ContentType="application/vnd.openxmlformats-officedocument.drawingml.diagramLayout+xml"/>
  <Override PartName="/ppt/diagrams/quickStyle4.xml" ContentType="application/vnd.openxmlformats-officedocument.drawingml.diagramStyle+xml"/>
  <Override PartName="/ppt/diagrams/colors4.xml" ContentType="application/vnd.openxmlformats-officedocument.drawingml.diagramColors+xml"/>
  <Override PartName="/ppt/diagrams/drawing4.xml" ContentType="application/vnd.ms-office.drawingml.diagramDrawing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diagrams/data5.xml" ContentType="application/vnd.openxmlformats-officedocument.drawingml.diagramData+xml"/>
  <Override PartName="/ppt/diagrams/layout5.xml" ContentType="application/vnd.openxmlformats-officedocument.drawingml.diagramLayout+xml"/>
  <Override PartName="/ppt/diagrams/quickStyle5.xml" ContentType="application/vnd.openxmlformats-officedocument.drawingml.diagramStyle+xml"/>
  <Override PartName="/ppt/diagrams/colors5.xml" ContentType="application/vnd.openxmlformats-officedocument.drawingml.diagramColors+xml"/>
  <Override PartName="/ppt/diagrams/drawing5.xml" ContentType="application/vnd.ms-office.drawingml.diagramDrawing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trictFirstAndLastChars="0" saveSubsetFonts="1" autoCompressPictures="0">
  <p:sldMasterIdLst>
    <p:sldMasterId id="2147483659" r:id="rId1"/>
  </p:sldMasterIdLst>
  <p:notesMasterIdLst>
    <p:notesMasterId r:id="rId45"/>
  </p:notesMasterIdLst>
  <p:handoutMasterIdLst>
    <p:handoutMasterId r:id="rId46"/>
  </p:handoutMasterIdLst>
  <p:sldIdLst>
    <p:sldId id="256" r:id="rId2"/>
    <p:sldId id="321" r:id="rId3"/>
    <p:sldId id="260" r:id="rId4"/>
    <p:sldId id="333" r:id="rId5"/>
    <p:sldId id="258" r:id="rId6"/>
    <p:sldId id="312" r:id="rId7"/>
    <p:sldId id="323" r:id="rId8"/>
    <p:sldId id="301" r:id="rId9"/>
    <p:sldId id="341" r:id="rId10"/>
    <p:sldId id="304" r:id="rId11"/>
    <p:sldId id="330" r:id="rId12"/>
    <p:sldId id="305" r:id="rId13"/>
    <p:sldId id="328" r:id="rId14"/>
    <p:sldId id="343" r:id="rId15"/>
    <p:sldId id="307" r:id="rId16"/>
    <p:sldId id="314" r:id="rId17"/>
    <p:sldId id="300" r:id="rId18"/>
    <p:sldId id="324" r:id="rId19"/>
    <p:sldId id="289" r:id="rId20"/>
    <p:sldId id="295" r:id="rId21"/>
    <p:sldId id="345" r:id="rId22"/>
    <p:sldId id="346" r:id="rId23"/>
    <p:sldId id="347" r:id="rId24"/>
    <p:sldId id="349" r:id="rId25"/>
    <p:sldId id="350" r:id="rId26"/>
    <p:sldId id="348" r:id="rId27"/>
    <p:sldId id="351" r:id="rId28"/>
    <p:sldId id="325" r:id="rId29"/>
    <p:sldId id="286" r:id="rId30"/>
    <p:sldId id="338" r:id="rId31"/>
    <p:sldId id="344" r:id="rId32"/>
    <p:sldId id="332" r:id="rId33"/>
    <p:sldId id="326" r:id="rId34"/>
    <p:sldId id="337" r:id="rId35"/>
    <p:sldId id="272" r:id="rId36"/>
    <p:sldId id="309" r:id="rId37"/>
    <p:sldId id="311" r:id="rId38"/>
    <p:sldId id="273" r:id="rId39"/>
    <p:sldId id="302" r:id="rId40"/>
    <p:sldId id="274" r:id="rId41"/>
    <p:sldId id="339" r:id="rId42"/>
    <p:sldId id="261" r:id="rId43"/>
    <p:sldId id="262" r:id="rId44"/>
  </p:sldIdLst>
  <p:sldSz cx="9144000" cy="5143500" type="screen16x9"/>
  <p:notesSz cx="7099300" cy="10234613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521415D9-36F7-43E2-AB2F-B90AF26B5E84}">
      <p14:sectionLst xmlns:p14="http://schemas.microsoft.com/office/powerpoint/2010/main">
        <p14:section name="Title" id="{94C4D8B0-684E-4A55-A759-F44F9379F256}">
          <p14:sldIdLst>
            <p14:sldId id="256"/>
          </p14:sldIdLst>
        </p14:section>
        <p14:section name="Introduction" id="{17498547-D415-4410-A05B-B69752FB45B3}">
          <p14:sldIdLst>
            <p14:sldId id="321"/>
            <p14:sldId id="260"/>
            <p14:sldId id="333"/>
            <p14:sldId id="258"/>
            <p14:sldId id="312"/>
          </p14:sldIdLst>
        </p14:section>
        <p14:section name="Experimental Setup" id="{75D40815-6EC9-445C-819C-94C0A61B11EE}">
          <p14:sldIdLst>
            <p14:sldId id="323"/>
            <p14:sldId id="301"/>
            <p14:sldId id="341"/>
            <p14:sldId id="304"/>
            <p14:sldId id="330"/>
            <p14:sldId id="305"/>
            <p14:sldId id="328"/>
            <p14:sldId id="343"/>
            <p14:sldId id="307"/>
            <p14:sldId id="314"/>
            <p14:sldId id="300"/>
          </p14:sldIdLst>
        </p14:section>
        <p14:section name="Results" id="{D4876272-DCFB-4840-A217-49AA4AFB24B5}">
          <p14:sldIdLst>
            <p14:sldId id="324"/>
            <p14:sldId id="289"/>
            <p14:sldId id="295"/>
            <p14:sldId id="345"/>
            <p14:sldId id="346"/>
            <p14:sldId id="347"/>
            <p14:sldId id="349"/>
            <p14:sldId id="350"/>
            <p14:sldId id="348"/>
            <p14:sldId id="351"/>
          </p14:sldIdLst>
        </p14:section>
        <p14:section name="Evaluation" id="{E8E05414-9758-4E5F-BB14-F948F863867C}">
          <p14:sldIdLst>
            <p14:sldId id="325"/>
            <p14:sldId id="286"/>
            <p14:sldId id="338"/>
            <p14:sldId id="344"/>
            <p14:sldId id="332"/>
          </p14:sldIdLst>
        </p14:section>
        <p14:section name="Conclusion" id="{5910DA95-3962-488F-934A-97448723AE4C}">
          <p14:sldIdLst>
            <p14:sldId id="326"/>
            <p14:sldId id="337"/>
            <p14:sldId id="272"/>
            <p14:sldId id="309"/>
            <p14:sldId id="311"/>
            <p14:sldId id="273"/>
            <p14:sldId id="302"/>
          </p14:sldIdLst>
        </p14:section>
        <p14:section name="Backup" id="{6A084026-131E-4692-AED0-E4CBC0122119}">
          <p14:sldIdLst>
            <p14:sldId id="274"/>
            <p14:sldId id="339"/>
            <p14:sldId id="261"/>
            <p14:sldId id="262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19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8B4"/>
    <a:srgbClr val="F2F2F2"/>
    <a:srgbClr val="FF4B4B"/>
    <a:srgbClr val="D1D1D1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465" autoAdjust="0"/>
    <p:restoredTop sz="85109" autoAdjust="0"/>
  </p:normalViewPr>
  <p:slideViewPr>
    <p:cSldViewPr snapToGrid="0">
      <p:cViewPr varScale="1">
        <p:scale>
          <a:sx n="124" d="100"/>
          <a:sy n="124" d="100"/>
        </p:scale>
        <p:origin x="1236" y="90"/>
      </p:cViewPr>
      <p:guideLst>
        <p:guide orient="horz" pos="1619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presProps" Target="presProps.xml"/><Relationship Id="rId50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heme" Target="theme/theme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viewProps" Target="viewProps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handoutMaster" Target="handoutMasters/handoutMaster1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de-DE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Tabelle1!$B$1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0068B4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Tabelle1!$B$2:$B$9</c:f>
              <c:numCache>
                <c:formatCode>General</c:formatCode>
                <c:ptCount val="8"/>
                <c:pt idx="0">
                  <c:v>0.90309643900000003</c:v>
                </c:pt>
                <c:pt idx="1">
                  <c:v>0.71694653399999997</c:v>
                </c:pt>
                <c:pt idx="2">
                  <c:v>0.56879999999999997</c:v>
                </c:pt>
                <c:pt idx="3">
                  <c:v>4.3922536999999998E-2</c:v>
                </c:pt>
                <c:pt idx="4">
                  <c:v>0.489152321</c:v>
                </c:pt>
                <c:pt idx="5">
                  <c:v>0.469192251</c:v>
                </c:pt>
                <c:pt idx="6">
                  <c:v>0.21590000000000001</c:v>
                </c:pt>
                <c:pt idx="7">
                  <c:v>0.47349999999999998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C474-429E-9B24-545124B0556E}"/>
            </c:ext>
          </c:extLst>
        </c:ser>
        <c:ser>
          <c:idx val="1"/>
          <c:order val="1"/>
          <c:tx>
            <c:strRef>
              <c:f>Tabelle1!$C$1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chemeClr val="bg1">
                <a:lumMod val="65000"/>
              </a:schemeClr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Tabelle1!$C$2:$C$9</c:f>
              <c:numCache>
                <c:formatCode>General</c:formatCode>
                <c:ptCount val="8"/>
                <c:pt idx="0">
                  <c:v>1.2645300999999999E-2</c:v>
                </c:pt>
                <c:pt idx="1">
                  <c:v>7.2678159999999999E-3</c:v>
                </c:pt>
                <c:pt idx="2">
                  <c:v>0.48349999999999999</c:v>
                </c:pt>
                <c:pt idx="3">
                  <c:v>2.9398200000000001E-3</c:v>
                </c:pt>
                <c:pt idx="4">
                  <c:v>0.47799675400000002</c:v>
                </c:pt>
                <c:pt idx="5">
                  <c:v>0.27147386099999998</c:v>
                </c:pt>
                <c:pt idx="6">
                  <c:v>0.1265</c:v>
                </c:pt>
                <c:pt idx="7">
                  <c:v>0.39389999999999997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C474-429E-9B24-545124B0556E}"/>
            </c:ext>
          </c:extLst>
        </c:ser>
        <c:ser>
          <c:idx val="2"/>
          <c:order val="2"/>
          <c:tx>
            <c:strRef>
              <c:f>Tabelle1!$D$1</c:f>
              <c:strCache>
                <c:ptCount val="1"/>
                <c:pt idx="0">
                  <c:v>F1</c:v>
                </c:pt>
              </c:strCache>
            </c:strRef>
          </c:tx>
          <c:spPr>
            <a:solidFill>
              <a:schemeClr val="accent5"/>
            </a:solidFill>
            <a:ln>
              <a:noFill/>
            </a:ln>
            <a:effectLst/>
          </c:spPr>
          <c:invertIfNegative val="0"/>
          <c:cat>
            <c:strRef>
              <c:f>Tabelle1!$A$2:$A$9</c:f>
              <c:strCache>
                <c:ptCount val="8"/>
                <c:pt idx="0">
                  <c:v>Threshold-
Based
(Torque)</c:v>
                </c:pt>
                <c:pt idx="1">
                  <c:v>Threshold-
Based
(Cmd.-Speed)</c:v>
                </c:pt>
                <c:pt idx="2">
                  <c:v>Moving-
Average</c:v>
                </c:pt>
                <c:pt idx="3">
                  <c:v>Wavelet-
Transform</c:v>
                </c:pt>
                <c:pt idx="4">
                  <c:v>DBSCAN</c:v>
                </c:pt>
                <c:pt idx="5">
                  <c:v>K-Means</c:v>
                </c:pt>
                <c:pt idx="6">
                  <c:v>Auto-
encoder</c:v>
                </c:pt>
                <c:pt idx="7">
                  <c:v>Isolation
Tree</c:v>
                </c:pt>
              </c:strCache>
            </c:strRef>
          </c:cat>
          <c:val>
            <c:numRef>
              <c:f>Tabelle1!$D$2:$D$9</c:f>
              <c:numCache>
                <c:formatCode>General</c:formatCode>
                <c:ptCount val="8"/>
                <c:pt idx="0">
                  <c:v>2.2614430000000001E-2</c:v>
                </c:pt>
                <c:pt idx="1">
                  <c:v>1.4304742E-2</c:v>
                </c:pt>
                <c:pt idx="2">
                  <c:v>0.39329999999999998</c:v>
                </c:pt>
                <c:pt idx="3">
                  <c:v>5.4127189999999999E-3</c:v>
                </c:pt>
                <c:pt idx="4">
                  <c:v>0.424912446</c:v>
                </c:pt>
                <c:pt idx="5">
                  <c:v>0.23594011000000001</c:v>
                </c:pt>
                <c:pt idx="6">
                  <c:v>0.15429999999999999</c:v>
                </c:pt>
                <c:pt idx="7">
                  <c:v>0.32490000000000002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764-4379-9495-FB71ADE4F1F1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overlap val="-27"/>
        <c:axId val="1194809840"/>
        <c:axId val="1194810320"/>
      </c:barChart>
      <c:catAx>
        <c:axId val="1194809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0" spcFirstLastPara="1" vertOverflow="ellipsis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10320"/>
        <c:crosses val="autoZero"/>
        <c:auto val="1"/>
        <c:lblAlgn val="ctr"/>
        <c:lblOffset val="100"/>
        <c:noMultiLvlLbl val="0"/>
      </c:catAx>
      <c:valAx>
        <c:axId val="1194810320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pPr>
            <a:endParaRPr lang="de-DE"/>
          </a:p>
        </c:txPr>
        <c:crossAx val="1194809840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197" b="0" i="0" u="none" strike="noStrike" kern="1200" baseline="0">
              <a:solidFill>
                <a:schemeClr val="tx1"/>
              </a:solidFill>
              <a:latin typeface="+mn-lt"/>
              <a:ea typeface="+mn-ea"/>
              <a:cs typeface="+mn-cs"/>
            </a:defRPr>
          </a:pPr>
          <a:endParaRPr lang="de-DE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>
      <a:noFill/>
    </a:ln>
    <a:effectLst/>
  </c:spPr>
  <c:txPr>
    <a:bodyPr rot="5400000" vert="horz" anchor="b" anchorCtr="1"/>
    <a:lstStyle/>
    <a:p>
      <a:pPr>
        <a:defRPr/>
      </a:pPr>
      <a:endParaRPr lang="de-DE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1">
  <a:schemeClr val="accent1"/>
  <a:schemeClr val="accent3"/>
  <a:schemeClr val="accent5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33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33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197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862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1197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2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3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4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colors5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/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2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3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4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chemeClr val="bg1">
            <a:lumMod val="65000"/>
          </a:schemeClr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ata5.xml><?xml version="1.0" encoding="utf-8"?>
<dgm:dataModel xmlns:dgm="http://schemas.openxmlformats.org/drawingml/2006/diagram" xmlns:a="http://schemas.openxmlformats.org/drawingml/2006/main">
  <dgm:ptLst>
    <dgm:pt modelId="{40FAE443-E21C-44AA-A81B-599F7B6D587E}" type="doc">
      <dgm:prSet loTypeId="urn:microsoft.com/office/officeart/2005/8/layout/chevron2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endParaRPr lang="de-DE"/>
        </a:p>
      </dgm:t>
    </dgm:pt>
    <dgm:pt modelId="{3FC327D8-965A-4B02-9DD8-7214A72A8512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1.</a:t>
          </a:r>
        </a:p>
      </dgm:t>
    </dgm:pt>
    <dgm:pt modelId="{191F04B0-969F-4528-A273-737D82991ED9}" type="parTrans" cxnId="{4877C629-6C8F-4262-B51E-1A7AF2EB2C02}">
      <dgm:prSet/>
      <dgm:spPr/>
      <dgm:t>
        <a:bodyPr/>
        <a:lstStyle/>
        <a:p>
          <a:endParaRPr lang="de-DE" sz="1700"/>
        </a:p>
      </dgm:t>
    </dgm:pt>
    <dgm:pt modelId="{763BFB95-8321-4B23-863B-5F3B4180E03F}" type="sibTrans" cxnId="{4877C629-6C8F-4262-B51E-1A7AF2EB2C02}">
      <dgm:prSet/>
      <dgm:spPr/>
      <dgm:t>
        <a:bodyPr/>
        <a:lstStyle/>
        <a:p>
          <a:endParaRPr lang="de-DE" sz="1700"/>
        </a:p>
      </dgm:t>
    </dgm:pt>
    <dgm:pt modelId="{2AE14FCD-CF77-4A93-A2FA-3A1F74D9932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gm:t>
    </dgm:pt>
    <dgm:pt modelId="{E1EB3A52-294F-47B8-926D-A32404AE09F5}" type="parTrans" cxnId="{78547DEA-3F19-48E3-AA84-8CFF9F731F2C}">
      <dgm:prSet/>
      <dgm:spPr/>
      <dgm:t>
        <a:bodyPr/>
        <a:lstStyle/>
        <a:p>
          <a:endParaRPr lang="de-DE" sz="1700"/>
        </a:p>
      </dgm:t>
    </dgm:pt>
    <dgm:pt modelId="{0595F7E2-046E-45BF-BED1-AD30EB04FF0A}" type="sibTrans" cxnId="{78547DEA-3F19-48E3-AA84-8CFF9F731F2C}">
      <dgm:prSet/>
      <dgm:spPr/>
      <dgm:t>
        <a:bodyPr/>
        <a:lstStyle/>
        <a:p>
          <a:endParaRPr lang="de-DE" sz="1700"/>
        </a:p>
      </dgm:t>
    </dgm:pt>
    <dgm:pt modelId="{00C9378B-5E27-4A82-B881-8A08C576EFB0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2.</a:t>
          </a:r>
        </a:p>
      </dgm:t>
    </dgm:pt>
    <dgm:pt modelId="{43DC5520-B642-4C76-BA53-584E98F21C2D}" type="parTrans" cxnId="{8F1CB2B3-932B-4BBA-9BB5-5F40EA5E5EFD}">
      <dgm:prSet/>
      <dgm:spPr/>
      <dgm:t>
        <a:bodyPr/>
        <a:lstStyle/>
        <a:p>
          <a:endParaRPr lang="de-DE" sz="1700"/>
        </a:p>
      </dgm:t>
    </dgm:pt>
    <dgm:pt modelId="{5C2E8051-11E2-481F-BFE3-B8298F433D8D}" type="sibTrans" cxnId="{8F1CB2B3-932B-4BBA-9BB5-5F40EA5E5EFD}">
      <dgm:prSet/>
      <dgm:spPr/>
      <dgm:t>
        <a:bodyPr/>
        <a:lstStyle/>
        <a:p>
          <a:endParaRPr lang="de-DE" sz="1700"/>
        </a:p>
      </dgm:t>
    </dgm:pt>
    <dgm:pt modelId="{6BAA869A-0B16-4F4A-9BF2-5EBA7FA0D05F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gm:t>
    </dgm:pt>
    <dgm:pt modelId="{86B5B3A5-6EED-4FFB-9E9B-AA6CE3F0AB25}" type="parTrans" cxnId="{8C5BAA69-FA3D-47EC-9B36-85DF7826C0AE}">
      <dgm:prSet/>
      <dgm:spPr/>
      <dgm:t>
        <a:bodyPr/>
        <a:lstStyle/>
        <a:p>
          <a:endParaRPr lang="de-DE" sz="1700"/>
        </a:p>
      </dgm:t>
    </dgm:pt>
    <dgm:pt modelId="{D7E69CCC-BFAA-4552-B253-8225F8151F58}" type="sibTrans" cxnId="{8C5BAA69-FA3D-47EC-9B36-85DF7826C0AE}">
      <dgm:prSet/>
      <dgm:spPr/>
      <dgm:t>
        <a:bodyPr/>
        <a:lstStyle/>
        <a:p>
          <a:endParaRPr lang="de-DE" sz="1700"/>
        </a:p>
      </dgm:t>
    </dgm:pt>
    <dgm:pt modelId="{FEE56619-8D6D-4845-B53B-1A832B4E795A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3.</a:t>
          </a:r>
        </a:p>
      </dgm:t>
    </dgm:pt>
    <dgm:pt modelId="{0A8BC554-8EA5-4792-A7F1-02601309DB8A}" type="parTrans" cxnId="{FE390875-7A96-4945-9C5D-6915DE54A73E}">
      <dgm:prSet/>
      <dgm:spPr/>
      <dgm:t>
        <a:bodyPr/>
        <a:lstStyle/>
        <a:p>
          <a:endParaRPr lang="de-DE" sz="1700"/>
        </a:p>
      </dgm:t>
    </dgm:pt>
    <dgm:pt modelId="{BC2E5147-BCB0-445C-B0C8-403BD6AEC46B}" type="sibTrans" cxnId="{FE390875-7A96-4945-9C5D-6915DE54A73E}">
      <dgm:prSet/>
      <dgm:spPr/>
      <dgm:t>
        <a:bodyPr/>
        <a:lstStyle/>
        <a:p>
          <a:endParaRPr lang="de-DE" sz="1700"/>
        </a:p>
      </dgm:t>
    </dgm:pt>
    <dgm:pt modelId="{FF2EEFC9-FCF6-44C3-BB92-F508F916EBE8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gm:t>
    </dgm:pt>
    <dgm:pt modelId="{E250B96D-CA80-423B-A321-479EAE935F49}" type="parTrans" cxnId="{44B32ACD-7E7D-4AE1-A751-6B38050936F5}">
      <dgm:prSet/>
      <dgm:spPr/>
      <dgm:t>
        <a:bodyPr/>
        <a:lstStyle/>
        <a:p>
          <a:endParaRPr lang="de-DE" sz="1700"/>
        </a:p>
      </dgm:t>
    </dgm:pt>
    <dgm:pt modelId="{A89558D4-D724-4FA6-AB6F-B6F9AE41A694}" type="sibTrans" cxnId="{44B32ACD-7E7D-4AE1-A751-6B38050936F5}">
      <dgm:prSet/>
      <dgm:spPr/>
      <dgm:t>
        <a:bodyPr/>
        <a:lstStyle/>
        <a:p>
          <a:endParaRPr lang="de-DE" sz="1700"/>
        </a:p>
      </dgm:t>
    </dgm:pt>
    <dgm:pt modelId="{B33C0D2C-61CA-46F9-A3D0-047C48B3A814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4.</a:t>
          </a:r>
        </a:p>
      </dgm:t>
    </dgm:pt>
    <dgm:pt modelId="{8E667A08-BE27-45F1-9B08-3F1B60259075}" type="parTrans" cxnId="{62D15D37-E391-4F38-AE15-DEBDDB712F79}">
      <dgm:prSet/>
      <dgm:spPr/>
      <dgm:t>
        <a:bodyPr/>
        <a:lstStyle/>
        <a:p>
          <a:endParaRPr lang="de-DE" sz="1700"/>
        </a:p>
      </dgm:t>
    </dgm:pt>
    <dgm:pt modelId="{4A46F902-78C0-4D79-B1E1-DCF038CD2528}" type="sibTrans" cxnId="{62D15D37-E391-4F38-AE15-DEBDDB712F79}">
      <dgm:prSet/>
      <dgm:spPr/>
      <dgm:t>
        <a:bodyPr/>
        <a:lstStyle/>
        <a:p>
          <a:endParaRPr lang="de-DE" sz="1700"/>
        </a:p>
      </dgm:t>
    </dgm:pt>
    <dgm:pt modelId="{873898E8-79E2-4D6F-86D9-8B26CF454AF6}">
      <dgm:prSet phldrT="[Text]" custT="1"/>
      <dgm:spPr>
        <a:solidFill>
          <a:srgbClr val="0068B4"/>
        </a:solidFill>
        <a:ln>
          <a:noFill/>
        </a:ln>
      </dgm:spPr>
      <dgm:t>
        <a:bodyPr/>
        <a:lstStyle/>
        <a:p>
          <a:r>
            <a:rPr lang="en-US" sz="1700" noProof="0" dirty="0"/>
            <a:t> 5.</a:t>
          </a:r>
        </a:p>
      </dgm:t>
    </dgm:pt>
    <dgm:pt modelId="{C920455E-C6F9-4D5A-8277-01E653B59B98}" type="parTrans" cxnId="{03F03821-B40F-46FB-86C2-A51723C85A9E}">
      <dgm:prSet/>
      <dgm:spPr/>
      <dgm:t>
        <a:bodyPr/>
        <a:lstStyle/>
        <a:p>
          <a:endParaRPr lang="de-DE" sz="1700"/>
        </a:p>
      </dgm:t>
    </dgm:pt>
    <dgm:pt modelId="{9A377BE9-4CA6-4994-BF60-D46433D2301F}" type="sibTrans" cxnId="{03F03821-B40F-46FB-86C2-A51723C85A9E}">
      <dgm:prSet/>
      <dgm:spPr/>
      <dgm:t>
        <a:bodyPr/>
        <a:lstStyle/>
        <a:p>
          <a:endParaRPr lang="de-DE" sz="1700"/>
        </a:p>
      </dgm:t>
    </dgm:pt>
    <dgm:pt modelId="{083CA7A5-C4FA-4107-8585-B435E458D504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gm:t>
    </dgm:pt>
    <dgm:pt modelId="{026D83A8-FBE4-4E88-A48B-FC4955B84387}" type="parTrans" cxnId="{94815B0C-B29F-4B41-BB48-6A0AFF9515A2}">
      <dgm:prSet/>
      <dgm:spPr/>
      <dgm:t>
        <a:bodyPr/>
        <a:lstStyle/>
        <a:p>
          <a:endParaRPr lang="de-DE" sz="1700"/>
        </a:p>
      </dgm:t>
    </dgm:pt>
    <dgm:pt modelId="{BBF1A80F-C165-4D13-B148-018A61DD4C4E}" type="sibTrans" cxnId="{94815B0C-B29F-4B41-BB48-6A0AFF9515A2}">
      <dgm:prSet/>
      <dgm:spPr/>
      <dgm:t>
        <a:bodyPr/>
        <a:lstStyle/>
        <a:p>
          <a:endParaRPr lang="de-DE" sz="1700"/>
        </a:p>
      </dgm:t>
    </dgm:pt>
    <dgm:pt modelId="{3AA6D03A-592A-489F-BBD1-1DD69533813B}">
      <dgm:prSet phldrT="[Text]" custT="1"/>
      <dgm:spPr>
        <a:ln>
          <a:noFill/>
        </a:ln>
      </dgm:spPr>
      <dgm:t>
        <a:bodyPr/>
        <a:lstStyle/>
        <a:p>
          <a:pPr>
            <a:buNone/>
          </a:pPr>
          <a:r>
            <a:rPr lang="en-US" sz="1700" noProof="0" dirty="0">
              <a:solidFill>
                <a:schemeClr val="tx1"/>
              </a:solidFill>
            </a:rPr>
            <a:t>Conclusion</a:t>
          </a:r>
        </a:p>
      </dgm:t>
    </dgm:pt>
    <dgm:pt modelId="{A97680D6-E53B-4085-899A-3F1B00FFF512}" type="parTrans" cxnId="{25CE440A-1A20-42EA-8C7E-AD7C2D6A68EE}">
      <dgm:prSet/>
      <dgm:spPr/>
      <dgm:t>
        <a:bodyPr/>
        <a:lstStyle/>
        <a:p>
          <a:endParaRPr lang="de-DE" sz="1700"/>
        </a:p>
      </dgm:t>
    </dgm:pt>
    <dgm:pt modelId="{E6D8962F-6D8C-40B3-B559-2308F23DCF33}" type="sibTrans" cxnId="{25CE440A-1A20-42EA-8C7E-AD7C2D6A68EE}">
      <dgm:prSet/>
      <dgm:spPr/>
      <dgm:t>
        <a:bodyPr/>
        <a:lstStyle/>
        <a:p>
          <a:endParaRPr lang="de-DE" sz="1700"/>
        </a:p>
      </dgm:t>
    </dgm:pt>
    <dgm:pt modelId="{7FB25158-1BA1-43A3-812A-6DC8EA666D2F}" type="pres">
      <dgm:prSet presAssocID="{40FAE443-E21C-44AA-A81B-599F7B6D587E}" presName="linearFlow" presStyleCnt="0">
        <dgm:presLayoutVars>
          <dgm:dir/>
          <dgm:animLvl val="lvl"/>
          <dgm:resizeHandles val="exact"/>
        </dgm:presLayoutVars>
      </dgm:prSet>
      <dgm:spPr/>
    </dgm:pt>
    <dgm:pt modelId="{2C3E9893-C8F3-4813-BFD3-936EB305E02F}" type="pres">
      <dgm:prSet presAssocID="{3FC327D8-965A-4B02-9DD8-7214A72A8512}" presName="composite" presStyleCnt="0"/>
      <dgm:spPr/>
    </dgm:pt>
    <dgm:pt modelId="{18059779-F9DC-469D-937B-DEAA6A0F888F}" type="pres">
      <dgm:prSet presAssocID="{3FC327D8-965A-4B02-9DD8-7214A72A8512}" presName="parentText" presStyleLbl="alignNode1" presStyleIdx="0" presStyleCnt="5">
        <dgm:presLayoutVars>
          <dgm:chMax val="1"/>
          <dgm:bulletEnabled val="1"/>
        </dgm:presLayoutVars>
      </dgm:prSet>
      <dgm:spPr/>
    </dgm:pt>
    <dgm:pt modelId="{4742C10C-969E-4130-88E0-38FA9BE4FFEC}" type="pres">
      <dgm:prSet presAssocID="{3FC327D8-965A-4B02-9DD8-7214A72A8512}" presName="descendantText" presStyleLbl="alignAcc1" presStyleIdx="0" presStyleCnt="5">
        <dgm:presLayoutVars>
          <dgm:bulletEnabled val="1"/>
        </dgm:presLayoutVars>
      </dgm:prSet>
      <dgm:spPr/>
    </dgm:pt>
    <dgm:pt modelId="{452BE471-3EED-4EE0-BA70-03700857DA38}" type="pres">
      <dgm:prSet presAssocID="{763BFB95-8321-4B23-863B-5F3B4180E03F}" presName="sp" presStyleCnt="0"/>
      <dgm:spPr/>
    </dgm:pt>
    <dgm:pt modelId="{2B5CCA03-4107-46F9-B89A-A59351FB4A74}" type="pres">
      <dgm:prSet presAssocID="{00C9378B-5E27-4A82-B881-8A08C576EFB0}" presName="composite" presStyleCnt="0"/>
      <dgm:spPr/>
    </dgm:pt>
    <dgm:pt modelId="{30A8265A-7AC2-497F-AA24-B5498260BE41}" type="pres">
      <dgm:prSet presAssocID="{00C9378B-5E27-4A82-B881-8A08C576EFB0}" presName="parentText" presStyleLbl="alignNode1" presStyleIdx="1" presStyleCnt="5">
        <dgm:presLayoutVars>
          <dgm:chMax val="1"/>
          <dgm:bulletEnabled val="1"/>
        </dgm:presLayoutVars>
      </dgm:prSet>
      <dgm:spPr/>
    </dgm:pt>
    <dgm:pt modelId="{93A01732-9EE4-4820-8E77-24A14ED5F5B7}" type="pres">
      <dgm:prSet presAssocID="{00C9378B-5E27-4A82-B881-8A08C576EFB0}" presName="descendantText" presStyleLbl="alignAcc1" presStyleIdx="1" presStyleCnt="5">
        <dgm:presLayoutVars>
          <dgm:bulletEnabled val="1"/>
        </dgm:presLayoutVars>
      </dgm:prSet>
      <dgm:spPr/>
    </dgm:pt>
    <dgm:pt modelId="{73A36C79-75A3-44A1-8F0D-E4BFD03CF057}" type="pres">
      <dgm:prSet presAssocID="{5C2E8051-11E2-481F-BFE3-B8298F433D8D}" presName="sp" presStyleCnt="0"/>
      <dgm:spPr/>
    </dgm:pt>
    <dgm:pt modelId="{54727D5D-C428-4F37-B61D-57A970E000F5}" type="pres">
      <dgm:prSet presAssocID="{FEE56619-8D6D-4845-B53B-1A832B4E795A}" presName="composite" presStyleCnt="0"/>
      <dgm:spPr/>
    </dgm:pt>
    <dgm:pt modelId="{7FF9CBA6-FFC4-4E71-B130-545E68E5BC93}" type="pres">
      <dgm:prSet presAssocID="{FEE56619-8D6D-4845-B53B-1A832B4E795A}" presName="parentText" presStyleLbl="alignNode1" presStyleIdx="2" presStyleCnt="5">
        <dgm:presLayoutVars>
          <dgm:chMax val="1"/>
          <dgm:bulletEnabled val="1"/>
        </dgm:presLayoutVars>
      </dgm:prSet>
      <dgm:spPr/>
    </dgm:pt>
    <dgm:pt modelId="{D8314F7C-9F02-4432-B518-A8C5234062E0}" type="pres">
      <dgm:prSet presAssocID="{FEE56619-8D6D-4845-B53B-1A832B4E795A}" presName="descendantText" presStyleLbl="alignAcc1" presStyleIdx="2" presStyleCnt="5">
        <dgm:presLayoutVars>
          <dgm:bulletEnabled val="1"/>
        </dgm:presLayoutVars>
      </dgm:prSet>
      <dgm:spPr/>
    </dgm:pt>
    <dgm:pt modelId="{B03E576A-B57F-439B-B610-865C0533CC51}" type="pres">
      <dgm:prSet presAssocID="{BC2E5147-BCB0-445C-B0C8-403BD6AEC46B}" presName="sp" presStyleCnt="0"/>
      <dgm:spPr/>
    </dgm:pt>
    <dgm:pt modelId="{9348A882-E65E-4F8E-9D65-FC358C51004A}" type="pres">
      <dgm:prSet presAssocID="{B33C0D2C-61CA-46F9-A3D0-047C48B3A814}" presName="composite" presStyleCnt="0"/>
      <dgm:spPr/>
    </dgm:pt>
    <dgm:pt modelId="{D9ACF4AB-36C9-49C6-8250-9F2354C8F6F7}" type="pres">
      <dgm:prSet presAssocID="{B33C0D2C-61CA-46F9-A3D0-047C48B3A814}" presName="parentText" presStyleLbl="alignNode1" presStyleIdx="3" presStyleCnt="5">
        <dgm:presLayoutVars>
          <dgm:chMax val="1"/>
          <dgm:bulletEnabled val="1"/>
        </dgm:presLayoutVars>
      </dgm:prSet>
      <dgm:spPr/>
    </dgm:pt>
    <dgm:pt modelId="{EF7CE2C6-850F-4035-B645-09967AEA6FFD}" type="pres">
      <dgm:prSet presAssocID="{B33C0D2C-61CA-46F9-A3D0-047C48B3A814}" presName="descendantText" presStyleLbl="alignAcc1" presStyleIdx="3" presStyleCnt="5">
        <dgm:presLayoutVars>
          <dgm:bulletEnabled val="1"/>
        </dgm:presLayoutVars>
      </dgm:prSet>
      <dgm:spPr/>
    </dgm:pt>
    <dgm:pt modelId="{F16FC4EC-3AE8-4ADF-9598-CEA831460FBA}" type="pres">
      <dgm:prSet presAssocID="{4A46F902-78C0-4D79-B1E1-DCF038CD2528}" presName="sp" presStyleCnt="0"/>
      <dgm:spPr/>
    </dgm:pt>
    <dgm:pt modelId="{263BFD6C-08E9-41D2-AB31-10912311B128}" type="pres">
      <dgm:prSet presAssocID="{873898E8-79E2-4D6F-86D9-8B26CF454AF6}" presName="composite" presStyleCnt="0"/>
      <dgm:spPr/>
    </dgm:pt>
    <dgm:pt modelId="{4FC72D5C-AB85-4D11-8E4F-D7B8BC3F1F9F}" type="pres">
      <dgm:prSet presAssocID="{873898E8-79E2-4D6F-86D9-8B26CF454AF6}" presName="parentText" presStyleLbl="alignNode1" presStyleIdx="4" presStyleCnt="5">
        <dgm:presLayoutVars>
          <dgm:chMax val="1"/>
          <dgm:bulletEnabled val="1"/>
        </dgm:presLayoutVars>
      </dgm:prSet>
      <dgm:spPr/>
    </dgm:pt>
    <dgm:pt modelId="{DDC3D6F1-16C2-49AF-B3B5-6C747058629B}" type="pres">
      <dgm:prSet presAssocID="{873898E8-79E2-4D6F-86D9-8B26CF454AF6}" presName="descendantText" presStyleLbl="alignAcc1" presStyleIdx="4" presStyleCnt="5">
        <dgm:presLayoutVars>
          <dgm:bulletEnabled val="1"/>
        </dgm:presLayoutVars>
      </dgm:prSet>
      <dgm:spPr/>
    </dgm:pt>
  </dgm:ptLst>
  <dgm:cxnLst>
    <dgm:cxn modelId="{25CE440A-1A20-42EA-8C7E-AD7C2D6A68EE}" srcId="{873898E8-79E2-4D6F-86D9-8B26CF454AF6}" destId="{3AA6D03A-592A-489F-BBD1-1DD69533813B}" srcOrd="0" destOrd="0" parTransId="{A97680D6-E53B-4085-899A-3F1B00FFF512}" sibTransId="{E6D8962F-6D8C-40B3-B559-2308F23DCF33}"/>
    <dgm:cxn modelId="{94815B0C-B29F-4B41-BB48-6A0AFF9515A2}" srcId="{B33C0D2C-61CA-46F9-A3D0-047C48B3A814}" destId="{083CA7A5-C4FA-4107-8585-B435E458D504}" srcOrd="0" destOrd="0" parTransId="{026D83A8-FBE4-4E88-A48B-FC4955B84387}" sibTransId="{BBF1A80F-C165-4D13-B148-018A61DD4C4E}"/>
    <dgm:cxn modelId="{96F02414-B8D5-4D3B-97C3-18F6762F8BA8}" type="presOf" srcId="{FEE56619-8D6D-4845-B53B-1A832B4E795A}" destId="{7FF9CBA6-FFC4-4E71-B130-545E68E5BC93}" srcOrd="0" destOrd="0" presId="urn:microsoft.com/office/officeart/2005/8/layout/chevron2"/>
    <dgm:cxn modelId="{03F03821-B40F-46FB-86C2-A51723C85A9E}" srcId="{40FAE443-E21C-44AA-A81B-599F7B6D587E}" destId="{873898E8-79E2-4D6F-86D9-8B26CF454AF6}" srcOrd="4" destOrd="0" parTransId="{C920455E-C6F9-4D5A-8277-01E653B59B98}" sibTransId="{9A377BE9-4CA6-4994-BF60-D46433D2301F}"/>
    <dgm:cxn modelId="{1F3E7527-8633-428C-9BA7-8FA154442666}" type="presOf" srcId="{2AE14FCD-CF77-4A93-A2FA-3A1F74D9932B}" destId="{4742C10C-969E-4130-88E0-38FA9BE4FFEC}" srcOrd="0" destOrd="0" presId="urn:microsoft.com/office/officeart/2005/8/layout/chevron2"/>
    <dgm:cxn modelId="{4877C629-6C8F-4262-B51E-1A7AF2EB2C02}" srcId="{40FAE443-E21C-44AA-A81B-599F7B6D587E}" destId="{3FC327D8-965A-4B02-9DD8-7214A72A8512}" srcOrd="0" destOrd="0" parTransId="{191F04B0-969F-4528-A273-737D82991ED9}" sibTransId="{763BFB95-8321-4B23-863B-5F3B4180E03F}"/>
    <dgm:cxn modelId="{62D15D37-E391-4F38-AE15-DEBDDB712F79}" srcId="{40FAE443-E21C-44AA-A81B-599F7B6D587E}" destId="{B33C0D2C-61CA-46F9-A3D0-047C48B3A814}" srcOrd="3" destOrd="0" parTransId="{8E667A08-BE27-45F1-9B08-3F1B60259075}" sibTransId="{4A46F902-78C0-4D79-B1E1-DCF038CD2528}"/>
    <dgm:cxn modelId="{478EB93B-7E3F-4AC1-95E1-4ABFAF4E062D}" type="presOf" srcId="{3AA6D03A-592A-489F-BBD1-1DD69533813B}" destId="{DDC3D6F1-16C2-49AF-B3B5-6C747058629B}" srcOrd="0" destOrd="0" presId="urn:microsoft.com/office/officeart/2005/8/layout/chevron2"/>
    <dgm:cxn modelId="{C1F2165F-5A30-49AE-B1BE-AD68FA20264F}" type="presOf" srcId="{00C9378B-5E27-4A82-B881-8A08C576EFB0}" destId="{30A8265A-7AC2-497F-AA24-B5498260BE41}" srcOrd="0" destOrd="0" presId="urn:microsoft.com/office/officeart/2005/8/layout/chevron2"/>
    <dgm:cxn modelId="{8C5BAA69-FA3D-47EC-9B36-85DF7826C0AE}" srcId="{00C9378B-5E27-4A82-B881-8A08C576EFB0}" destId="{6BAA869A-0B16-4F4A-9BF2-5EBA7FA0D05F}" srcOrd="0" destOrd="0" parTransId="{86B5B3A5-6EED-4FFB-9E9B-AA6CE3F0AB25}" sibTransId="{D7E69CCC-BFAA-4552-B253-8225F8151F58}"/>
    <dgm:cxn modelId="{9697166B-1FA7-4D0C-BDC1-CDFCDA1AEF17}" type="presOf" srcId="{B33C0D2C-61CA-46F9-A3D0-047C48B3A814}" destId="{D9ACF4AB-36C9-49C6-8250-9F2354C8F6F7}" srcOrd="0" destOrd="0" presId="urn:microsoft.com/office/officeart/2005/8/layout/chevron2"/>
    <dgm:cxn modelId="{3E32C86E-4A2C-438F-B360-2077891EAC4B}" type="presOf" srcId="{6BAA869A-0B16-4F4A-9BF2-5EBA7FA0D05F}" destId="{93A01732-9EE4-4820-8E77-24A14ED5F5B7}" srcOrd="0" destOrd="0" presId="urn:microsoft.com/office/officeart/2005/8/layout/chevron2"/>
    <dgm:cxn modelId="{813B2851-BAEF-4597-AA3F-1AC18F1B1061}" type="presOf" srcId="{873898E8-79E2-4D6F-86D9-8B26CF454AF6}" destId="{4FC72D5C-AB85-4D11-8E4F-D7B8BC3F1F9F}" srcOrd="0" destOrd="0" presId="urn:microsoft.com/office/officeart/2005/8/layout/chevron2"/>
    <dgm:cxn modelId="{FE390875-7A96-4945-9C5D-6915DE54A73E}" srcId="{40FAE443-E21C-44AA-A81B-599F7B6D587E}" destId="{FEE56619-8D6D-4845-B53B-1A832B4E795A}" srcOrd="2" destOrd="0" parTransId="{0A8BC554-8EA5-4792-A7F1-02601309DB8A}" sibTransId="{BC2E5147-BCB0-445C-B0C8-403BD6AEC46B}"/>
    <dgm:cxn modelId="{B323F858-5C37-41F6-BAC8-4A74E94B6D15}" type="presOf" srcId="{3FC327D8-965A-4B02-9DD8-7214A72A8512}" destId="{18059779-F9DC-469D-937B-DEAA6A0F888F}" srcOrd="0" destOrd="0" presId="urn:microsoft.com/office/officeart/2005/8/layout/chevron2"/>
    <dgm:cxn modelId="{8F1CB2B3-932B-4BBA-9BB5-5F40EA5E5EFD}" srcId="{40FAE443-E21C-44AA-A81B-599F7B6D587E}" destId="{00C9378B-5E27-4A82-B881-8A08C576EFB0}" srcOrd="1" destOrd="0" parTransId="{43DC5520-B642-4C76-BA53-584E98F21C2D}" sibTransId="{5C2E8051-11E2-481F-BFE3-B8298F433D8D}"/>
    <dgm:cxn modelId="{8D1395B5-E632-4A7D-BC1B-D825BE311ACE}" type="presOf" srcId="{40FAE443-E21C-44AA-A81B-599F7B6D587E}" destId="{7FB25158-1BA1-43A3-812A-6DC8EA666D2F}" srcOrd="0" destOrd="0" presId="urn:microsoft.com/office/officeart/2005/8/layout/chevron2"/>
    <dgm:cxn modelId="{44B32ACD-7E7D-4AE1-A751-6B38050936F5}" srcId="{FEE56619-8D6D-4845-B53B-1A832B4E795A}" destId="{FF2EEFC9-FCF6-44C3-BB92-F508F916EBE8}" srcOrd="0" destOrd="0" parTransId="{E250B96D-CA80-423B-A321-479EAE935F49}" sibTransId="{A89558D4-D724-4FA6-AB6F-B6F9AE41A694}"/>
    <dgm:cxn modelId="{9233B3D9-FB3C-49EF-9E19-E51ADCFE6B0B}" type="presOf" srcId="{083CA7A5-C4FA-4107-8585-B435E458D504}" destId="{EF7CE2C6-850F-4035-B645-09967AEA6FFD}" srcOrd="0" destOrd="0" presId="urn:microsoft.com/office/officeart/2005/8/layout/chevron2"/>
    <dgm:cxn modelId="{78547DEA-3F19-48E3-AA84-8CFF9F731F2C}" srcId="{3FC327D8-965A-4B02-9DD8-7214A72A8512}" destId="{2AE14FCD-CF77-4A93-A2FA-3A1F74D9932B}" srcOrd="0" destOrd="0" parTransId="{E1EB3A52-294F-47B8-926D-A32404AE09F5}" sibTransId="{0595F7E2-046E-45BF-BED1-AD30EB04FF0A}"/>
    <dgm:cxn modelId="{2BA078FA-E149-45EC-BD7D-9BEFBF2A27DE}" type="presOf" srcId="{FF2EEFC9-FCF6-44C3-BB92-F508F916EBE8}" destId="{D8314F7C-9F02-4432-B518-A8C5234062E0}" srcOrd="0" destOrd="0" presId="urn:microsoft.com/office/officeart/2005/8/layout/chevron2"/>
    <dgm:cxn modelId="{22B705FD-2C39-4F00-B81A-DD5EE4C3BF54}" type="presParOf" srcId="{7FB25158-1BA1-43A3-812A-6DC8EA666D2F}" destId="{2C3E9893-C8F3-4813-BFD3-936EB305E02F}" srcOrd="0" destOrd="0" presId="urn:microsoft.com/office/officeart/2005/8/layout/chevron2"/>
    <dgm:cxn modelId="{E83C38F4-22E5-45BB-AD69-AA0974E08CF2}" type="presParOf" srcId="{2C3E9893-C8F3-4813-BFD3-936EB305E02F}" destId="{18059779-F9DC-469D-937B-DEAA6A0F888F}" srcOrd="0" destOrd="0" presId="urn:microsoft.com/office/officeart/2005/8/layout/chevron2"/>
    <dgm:cxn modelId="{6E6F6BFF-F5C4-4348-8B1B-83AA85350316}" type="presParOf" srcId="{2C3E9893-C8F3-4813-BFD3-936EB305E02F}" destId="{4742C10C-969E-4130-88E0-38FA9BE4FFEC}" srcOrd="1" destOrd="0" presId="urn:microsoft.com/office/officeart/2005/8/layout/chevron2"/>
    <dgm:cxn modelId="{7895F63A-EDDC-48B3-8C42-0E13FC74D5B2}" type="presParOf" srcId="{7FB25158-1BA1-43A3-812A-6DC8EA666D2F}" destId="{452BE471-3EED-4EE0-BA70-03700857DA38}" srcOrd="1" destOrd="0" presId="urn:microsoft.com/office/officeart/2005/8/layout/chevron2"/>
    <dgm:cxn modelId="{902A110B-EFFE-4FC0-8553-52F652888AFE}" type="presParOf" srcId="{7FB25158-1BA1-43A3-812A-6DC8EA666D2F}" destId="{2B5CCA03-4107-46F9-B89A-A59351FB4A74}" srcOrd="2" destOrd="0" presId="urn:microsoft.com/office/officeart/2005/8/layout/chevron2"/>
    <dgm:cxn modelId="{034F0742-C519-4EDB-BEB5-8494364BB756}" type="presParOf" srcId="{2B5CCA03-4107-46F9-B89A-A59351FB4A74}" destId="{30A8265A-7AC2-497F-AA24-B5498260BE41}" srcOrd="0" destOrd="0" presId="urn:microsoft.com/office/officeart/2005/8/layout/chevron2"/>
    <dgm:cxn modelId="{649CBE8E-9C9F-4A95-B96D-D2558EACDFD8}" type="presParOf" srcId="{2B5CCA03-4107-46F9-B89A-A59351FB4A74}" destId="{93A01732-9EE4-4820-8E77-24A14ED5F5B7}" srcOrd="1" destOrd="0" presId="urn:microsoft.com/office/officeart/2005/8/layout/chevron2"/>
    <dgm:cxn modelId="{20647C12-693A-464A-BD88-A9934AE2E41D}" type="presParOf" srcId="{7FB25158-1BA1-43A3-812A-6DC8EA666D2F}" destId="{73A36C79-75A3-44A1-8F0D-E4BFD03CF057}" srcOrd="3" destOrd="0" presId="urn:microsoft.com/office/officeart/2005/8/layout/chevron2"/>
    <dgm:cxn modelId="{6B8BD65A-B134-401A-8E16-4D94057675A5}" type="presParOf" srcId="{7FB25158-1BA1-43A3-812A-6DC8EA666D2F}" destId="{54727D5D-C428-4F37-B61D-57A970E000F5}" srcOrd="4" destOrd="0" presId="urn:microsoft.com/office/officeart/2005/8/layout/chevron2"/>
    <dgm:cxn modelId="{0A754380-CFEA-46F5-9273-4C57BE6A1943}" type="presParOf" srcId="{54727D5D-C428-4F37-B61D-57A970E000F5}" destId="{7FF9CBA6-FFC4-4E71-B130-545E68E5BC93}" srcOrd="0" destOrd="0" presId="urn:microsoft.com/office/officeart/2005/8/layout/chevron2"/>
    <dgm:cxn modelId="{897F5700-26DC-4C10-BB33-AD9646F4FEA4}" type="presParOf" srcId="{54727D5D-C428-4F37-B61D-57A970E000F5}" destId="{D8314F7C-9F02-4432-B518-A8C5234062E0}" srcOrd="1" destOrd="0" presId="urn:microsoft.com/office/officeart/2005/8/layout/chevron2"/>
    <dgm:cxn modelId="{F6CC98B8-02F7-4573-8764-5EFBE005BEC8}" type="presParOf" srcId="{7FB25158-1BA1-43A3-812A-6DC8EA666D2F}" destId="{B03E576A-B57F-439B-B610-865C0533CC51}" srcOrd="5" destOrd="0" presId="urn:microsoft.com/office/officeart/2005/8/layout/chevron2"/>
    <dgm:cxn modelId="{27912FDE-1487-44B2-BF73-7ACD6D2D96E2}" type="presParOf" srcId="{7FB25158-1BA1-43A3-812A-6DC8EA666D2F}" destId="{9348A882-E65E-4F8E-9D65-FC358C51004A}" srcOrd="6" destOrd="0" presId="urn:microsoft.com/office/officeart/2005/8/layout/chevron2"/>
    <dgm:cxn modelId="{4B581EDA-599C-42BE-8B0C-799405504025}" type="presParOf" srcId="{9348A882-E65E-4F8E-9D65-FC358C51004A}" destId="{D9ACF4AB-36C9-49C6-8250-9F2354C8F6F7}" srcOrd="0" destOrd="0" presId="urn:microsoft.com/office/officeart/2005/8/layout/chevron2"/>
    <dgm:cxn modelId="{ADAC42C4-D2DA-4606-B5D3-D4D9A4C8AEE7}" type="presParOf" srcId="{9348A882-E65E-4F8E-9D65-FC358C51004A}" destId="{EF7CE2C6-850F-4035-B645-09967AEA6FFD}" srcOrd="1" destOrd="0" presId="urn:microsoft.com/office/officeart/2005/8/layout/chevron2"/>
    <dgm:cxn modelId="{26FE14D0-87C5-4B57-B9E9-0CD67DBF6C84}" type="presParOf" srcId="{7FB25158-1BA1-43A3-812A-6DC8EA666D2F}" destId="{F16FC4EC-3AE8-4ADF-9598-CEA831460FBA}" srcOrd="7" destOrd="0" presId="urn:microsoft.com/office/officeart/2005/8/layout/chevron2"/>
    <dgm:cxn modelId="{4C091545-FD8F-42CE-95EA-CBCB72B67AC7}" type="presParOf" srcId="{7FB25158-1BA1-43A3-812A-6DC8EA666D2F}" destId="{263BFD6C-08E9-41D2-AB31-10912311B128}" srcOrd="8" destOrd="0" presId="urn:microsoft.com/office/officeart/2005/8/layout/chevron2"/>
    <dgm:cxn modelId="{C7E5F3D1-2623-40C0-B1BE-E4813EC92E93}" type="presParOf" srcId="{263BFD6C-08E9-41D2-AB31-10912311B128}" destId="{4FC72D5C-AB85-4D11-8E4F-D7B8BC3F1F9F}" srcOrd="0" destOrd="0" presId="urn:microsoft.com/office/officeart/2005/8/layout/chevron2"/>
    <dgm:cxn modelId="{742CE488-CE42-4F49-B7A0-CCB3E0E4ACF8}" type="presParOf" srcId="{263BFD6C-08E9-41D2-AB31-10912311B128}" destId="{DDC3D6F1-16C2-49AF-B3B5-6C747058629B}" srcOrd="1" destOrd="0" presId="urn:microsoft.com/office/officeart/2005/8/layout/chevron2"/>
  </dgm:cxnLst>
  <dgm:bg/>
  <dgm:whole/>
  <dgm:extLst>
    <a:ext uri="http://schemas.microsoft.com/office/drawing/2008/diagram">
      <dsp:dataModelExt xmlns:dsp="http://schemas.microsoft.com/office/drawing/2008/diagram" relId="rId7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/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2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3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4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chemeClr val="bg1">
            <a:lumMod val="6500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drawing5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18059779-F9DC-469D-937B-DEAA6A0F888F}">
      <dsp:nvSpPr>
        <dsp:cNvPr id="0" name=""/>
        <dsp:cNvSpPr/>
      </dsp:nvSpPr>
      <dsp:spPr>
        <a:xfrm rot="5400000">
          <a:off x="-103562" y="105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1.</a:t>
          </a:r>
        </a:p>
      </dsp:txBody>
      <dsp:txXfrm rot="-5400000">
        <a:off x="1" y="243343"/>
        <a:ext cx="483291" cy="207124"/>
      </dsp:txXfrm>
    </dsp:sp>
    <dsp:sp modelId="{4742C10C-969E-4130-88E0-38FA9BE4FFEC}">
      <dsp:nvSpPr>
        <dsp:cNvPr id="0" name=""/>
        <dsp:cNvSpPr/>
      </dsp:nvSpPr>
      <dsp:spPr>
        <a:xfrm rot="5400000">
          <a:off x="3869142" y="-3384153"/>
          <a:ext cx="449006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Introduction</a:t>
          </a:r>
        </a:p>
      </dsp:txBody>
      <dsp:txXfrm rot="-5400000">
        <a:off x="483292" y="23616"/>
        <a:ext cx="7198789" cy="405168"/>
      </dsp:txXfrm>
    </dsp:sp>
    <dsp:sp modelId="{30A8265A-7AC2-497F-AA24-B5498260BE41}">
      <dsp:nvSpPr>
        <dsp:cNvPr id="0" name=""/>
        <dsp:cNvSpPr/>
      </dsp:nvSpPr>
      <dsp:spPr>
        <a:xfrm rot="5400000">
          <a:off x="-103562" y="6705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2.</a:t>
          </a:r>
        </a:p>
      </dsp:txBody>
      <dsp:txXfrm rot="-5400000">
        <a:off x="1" y="808593"/>
        <a:ext cx="483291" cy="207124"/>
      </dsp:txXfrm>
    </dsp:sp>
    <dsp:sp modelId="{93A01732-9EE4-4820-8E77-24A14ED5F5B7}">
      <dsp:nvSpPr>
        <dsp:cNvPr id="0" name=""/>
        <dsp:cNvSpPr/>
      </dsp:nvSpPr>
      <dsp:spPr>
        <a:xfrm rot="5400000">
          <a:off x="3869260" y="-28190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Methodology</a:t>
          </a:r>
        </a:p>
      </dsp:txBody>
      <dsp:txXfrm rot="-5400000">
        <a:off x="483292" y="588853"/>
        <a:ext cx="7198801" cy="404956"/>
      </dsp:txXfrm>
    </dsp:sp>
    <dsp:sp modelId="{7FF9CBA6-FFC4-4E71-B130-545E68E5BC93}">
      <dsp:nvSpPr>
        <dsp:cNvPr id="0" name=""/>
        <dsp:cNvSpPr/>
      </dsp:nvSpPr>
      <dsp:spPr>
        <a:xfrm rot="5400000">
          <a:off x="-103562" y="12357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3.</a:t>
          </a:r>
        </a:p>
      </dsp:txBody>
      <dsp:txXfrm rot="-5400000">
        <a:off x="1" y="1373843"/>
        <a:ext cx="483291" cy="207124"/>
      </dsp:txXfrm>
    </dsp:sp>
    <dsp:sp modelId="{D8314F7C-9F02-4432-B518-A8C5234062E0}">
      <dsp:nvSpPr>
        <dsp:cNvPr id="0" name=""/>
        <dsp:cNvSpPr/>
      </dsp:nvSpPr>
      <dsp:spPr>
        <a:xfrm rot="5400000">
          <a:off x="3869260" y="-22537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Results</a:t>
          </a:r>
        </a:p>
      </dsp:txBody>
      <dsp:txXfrm rot="-5400000">
        <a:off x="483292" y="1154103"/>
        <a:ext cx="7198801" cy="404956"/>
      </dsp:txXfrm>
    </dsp:sp>
    <dsp:sp modelId="{D9ACF4AB-36C9-49C6-8250-9F2354C8F6F7}">
      <dsp:nvSpPr>
        <dsp:cNvPr id="0" name=""/>
        <dsp:cNvSpPr/>
      </dsp:nvSpPr>
      <dsp:spPr>
        <a:xfrm rot="5400000">
          <a:off x="-103562" y="180100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4.</a:t>
          </a:r>
        </a:p>
      </dsp:txBody>
      <dsp:txXfrm rot="-5400000">
        <a:off x="1" y="1939093"/>
        <a:ext cx="483291" cy="207124"/>
      </dsp:txXfrm>
    </dsp:sp>
    <dsp:sp modelId="{EF7CE2C6-850F-4035-B645-09967AEA6FFD}">
      <dsp:nvSpPr>
        <dsp:cNvPr id="0" name=""/>
        <dsp:cNvSpPr/>
      </dsp:nvSpPr>
      <dsp:spPr>
        <a:xfrm rot="5400000">
          <a:off x="3869260" y="-168852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bg1">
                  <a:lumMod val="65000"/>
                </a:schemeClr>
              </a:solidFill>
            </a:rPr>
            <a:t>Evaluation</a:t>
          </a:r>
        </a:p>
      </dsp:txBody>
      <dsp:txXfrm rot="-5400000">
        <a:off x="483292" y="1719353"/>
        <a:ext cx="7198801" cy="404956"/>
      </dsp:txXfrm>
    </dsp:sp>
    <dsp:sp modelId="{4FC72D5C-AB85-4D11-8E4F-D7B8BC3F1F9F}">
      <dsp:nvSpPr>
        <dsp:cNvPr id="0" name=""/>
        <dsp:cNvSpPr/>
      </dsp:nvSpPr>
      <dsp:spPr>
        <a:xfrm rot="5400000">
          <a:off x="-103562" y="2366259"/>
          <a:ext cx="690415" cy="483291"/>
        </a:xfrm>
        <a:prstGeom prst="chevron">
          <a:avLst/>
        </a:prstGeom>
        <a:solidFill>
          <a:srgbClr val="0068B4"/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10795" tIns="10795" rIns="10795" bIns="10795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noProof="0" dirty="0"/>
            <a:t> 5.</a:t>
          </a:r>
        </a:p>
      </dsp:txBody>
      <dsp:txXfrm rot="-5400000">
        <a:off x="1" y="2504343"/>
        <a:ext cx="483291" cy="207124"/>
      </dsp:txXfrm>
    </dsp:sp>
    <dsp:sp modelId="{DDC3D6F1-16C2-49AF-B3B5-6C747058629B}">
      <dsp:nvSpPr>
        <dsp:cNvPr id="0" name=""/>
        <dsp:cNvSpPr/>
      </dsp:nvSpPr>
      <dsp:spPr>
        <a:xfrm rot="5400000">
          <a:off x="3869260" y="-1123272"/>
          <a:ext cx="448770" cy="7220708"/>
        </a:xfrm>
        <a:prstGeom prst="round2SameRect">
          <a:avLst/>
        </a:prstGeom>
        <a:solidFill>
          <a:schemeClr val="lt1">
            <a:alpha val="90000"/>
            <a:hueOff val="0"/>
            <a:satOff val="0"/>
            <a:lumOff val="0"/>
            <a:alphaOff val="0"/>
          </a:schemeClr>
        </a:solidFill>
        <a:ln w="25400" cap="flat" cmpd="sng" algn="ctr">
          <a:noFill/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120904" tIns="10795" rIns="10795" bIns="10795" numCol="1" spcCol="1270" anchor="ctr" anchorCtr="0">
          <a:noAutofit/>
        </a:bodyPr>
        <a:lstStyle/>
        <a:p>
          <a:pPr marL="171450" lvl="1" indent="-171450" algn="l" defTabSz="755650">
            <a:lnSpc>
              <a:spcPct val="90000"/>
            </a:lnSpc>
            <a:spcBef>
              <a:spcPct val="0"/>
            </a:spcBef>
            <a:spcAft>
              <a:spcPct val="15000"/>
            </a:spcAft>
            <a:buNone/>
          </a:pPr>
          <a:r>
            <a:rPr lang="en-US" sz="1700" kern="1200" noProof="0" dirty="0">
              <a:solidFill>
                <a:schemeClr val="tx1"/>
              </a:solidFill>
            </a:rPr>
            <a:t>Conclusion</a:t>
          </a:r>
        </a:p>
      </dsp:txBody>
      <dsp:txXfrm rot="-5400000">
        <a:off x="483292" y="2284603"/>
        <a:ext cx="7198801" cy="40495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2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3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4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layout5.xml><?xml version="1.0" encoding="utf-8"?>
<dgm:layoutDef xmlns:dgm="http://schemas.openxmlformats.org/drawingml/2006/diagram" xmlns:a="http://schemas.openxmlformats.org/drawingml/2006/main" uniqueId="urn:microsoft.com/office/officeart/2005/8/layout/chevron2">
  <dgm:title val=""/>
  <dgm:desc val=""/>
  <dgm:catLst>
    <dgm:cat type="process" pri="12000"/>
    <dgm:cat type="list" pri="16000"/>
    <dgm:cat type="convert" pri="11000"/>
  </dgm:catLst>
  <dgm:sampData>
    <dgm:dataModel>
      <dgm:ptLst>
        <dgm:pt modelId="0" type="doc"/>
        <dgm:pt modelId="1">
          <dgm:prSet phldr="1"/>
        </dgm:pt>
        <dgm:pt modelId="11">
          <dgm:prSet phldr="1"/>
        </dgm:pt>
        <dgm:pt modelId="12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  <dgm:pt modelId="32">
          <dgm:prSet phldr="1"/>
        </dgm:pt>
      </dgm:ptLst>
      <dgm:cxnLst>
        <dgm:cxn modelId="4" srcId="0" destId="1" srcOrd="0" destOrd="0"/>
        <dgm:cxn modelId="5" srcId="0" destId="2" srcOrd="1" destOrd="0"/>
        <dgm:cxn modelId="6" srcId="0" destId="3" srcOrd="2" destOrd="0"/>
        <dgm:cxn modelId="13" srcId="1" destId="11" srcOrd="0" destOrd="0"/>
        <dgm:cxn modelId="14" srcId="1" destId="12" srcOrd="1" destOrd="0"/>
        <dgm:cxn modelId="23" srcId="2" destId="21" srcOrd="0" destOrd="0"/>
        <dgm:cxn modelId="24" srcId="2" destId="22" srcOrd="1" destOrd="0"/>
        <dgm:cxn modelId="33" srcId="3" destId="31" srcOrd="0" destOrd="0"/>
        <dgm:cxn modelId="34" srcId="3" destId="32" srcOrd="1" destOrd="0"/>
      </dgm:cxnLst>
      <dgm:bg/>
      <dgm:whole/>
    </dgm:dataModel>
  </dgm:sampData>
  <dgm:styleData>
    <dgm:dataModel>
      <dgm:ptLst>
        <dgm:pt modelId="0" type="doc"/>
        <dgm:pt modelId="1"/>
      </dgm:ptLst>
      <dgm:cxnLst>
        <dgm:cxn modelId="4" srcId="0" destId="1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13" srcId="1" destId="11" srcOrd="0" destOrd="0"/>
        <dgm:cxn modelId="23" srcId="2" destId="21" srcOrd="0" destOrd="0"/>
        <dgm:cxn modelId="33" srcId="3" destId="31" srcOrd="0" destOrd="0"/>
        <dgm:cxn modelId="43" srcId="4" destId="41" srcOrd="0" destOrd="0"/>
      </dgm:cxnLst>
      <dgm:bg/>
      <dgm:whole/>
    </dgm:dataModel>
  </dgm:clrData>
  <dgm:layoutNode name="linearFlow">
    <dgm:varLst>
      <dgm:dir/>
      <dgm:animLvl val="lvl"/>
      <dgm:resizeHandles val="exact"/>
    </dgm:varLst>
    <dgm:alg type="lin">
      <dgm:param type="linDir" val="fromT"/>
      <dgm:param type="nodeHorzAlign" val="l"/>
    </dgm:alg>
    <dgm:shape xmlns:r="http://schemas.openxmlformats.org/officeDocument/2006/relationships" r:blip="">
      <dgm:adjLst/>
    </dgm:shape>
    <dgm:presOf/>
    <dgm:constrLst>
      <dgm:constr type="h" for="ch" forName="composite" refType="h"/>
      <dgm:constr type="w" for="ch" forName="composite" refType="w"/>
      <dgm:constr type="h" for="des" forName="parentText" op="equ"/>
      <dgm:constr type="h" for="ch" forName="sp" val="-14.88"/>
      <dgm:constr type="h" for="ch" forName="sp" refType="w" refFor="des" refForName="parentText" op="gte" fact="-0.3"/>
      <dgm:constr type="primFontSz" for="des" forName="parentText" op="equ" val="65"/>
      <dgm:constr type="primFontSz" for="des" forName="descendantText" op="equ" val="65"/>
    </dgm:constrLst>
    <dgm:ruleLst/>
    <dgm:forEach name="Name0" axis="ch" ptType="node">
      <dgm:layoutNode name="composite">
        <dgm:alg type="composite"/>
        <dgm:shape xmlns:r="http://schemas.openxmlformats.org/officeDocument/2006/relationships" r:blip="">
          <dgm:adjLst/>
        </dgm:shape>
        <dgm:presOf/>
        <dgm:choose name="Name1">
          <dgm:if name="Name2" func="var" arg="dir" op="equ" val="norm">
            <dgm:constrLst>
              <dgm:constr type="t" for="ch" forName="parentText"/>
              <dgm:constr type="l" for="ch" forName="parentText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 refType="w" refFor="ch" refForName="pare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if>
          <dgm:else name="Name3">
            <dgm:constrLst>
              <dgm:constr type="t" for="ch" forName="parentText"/>
              <dgm:constr type="r" for="ch" forName="parentText" refType="w"/>
              <dgm:constr type="w" for="ch" forName="parentText" refType="w" fact="0.4"/>
              <dgm:constr type="h" for="ch" forName="parentText" refType="h"/>
              <dgm:constr type="w" for="ch" forName="parentText" refType="w" op="lte" fact="0.5"/>
              <dgm:constr type="w" for="ch" forName="parentText" refType="h" refFor="ch" refForName="parentText" op="lte" fact="0.7"/>
              <dgm:constr type="h" for="ch" forName="parentText" refType="w" refFor="ch" refForName="parentText" op="lte" fact="3"/>
              <dgm:constr type="l" for="ch" forName="descendantText"/>
              <dgm:constr type="w" for="ch" forName="descendantText" refType="w"/>
              <dgm:constr type="wOff" for="ch" forName="descendantText" refType="w" refFor="ch" refForName="parentText" fact="-1"/>
              <dgm:constr type="t" for="ch" forName="descendantText"/>
              <dgm:constr type="b" for="ch" forName="descendantText" refType="h" refFor="ch" refForName="parentText"/>
              <dgm:constr type="bOff" for="ch" forName="descendantText" refType="w" refFor="ch" refForName="parentText" fact="-0.5"/>
            </dgm:constrLst>
          </dgm:else>
        </dgm:choose>
        <dgm:ruleLst/>
        <dgm:layoutNode name="parentText" styleLbl="alignNode1">
          <dgm:varLst>
            <dgm:chMax val="1"/>
            <dgm:bulletEnabled val="1"/>
          </dgm:varLst>
          <dgm:alg type="tx"/>
          <dgm:shape xmlns:r="http://schemas.openxmlformats.org/officeDocument/2006/relationships" rot="90" type="chevron" r:blip="">
            <dgm:adjLst/>
          </dgm:shape>
          <dgm:presOf axis="self" ptType="node"/>
          <dgm:constrLst>
            <dgm:constr type="lMarg" refType="primFontSz" fact="0.05"/>
            <dgm:constr type="rMarg" refType="primFontSz" fact="0.05"/>
            <dgm:constr type="tMarg" refType="primFontSz" fact="0.05"/>
            <dgm:constr type="bMarg" refType="primFontSz" fact="0.05"/>
          </dgm:constrLst>
          <dgm:ruleLst>
            <dgm:rule type="h" val="100" fact="NaN" max="NaN"/>
            <dgm:rule type="primFontSz" val="24" fact="NaN" max="NaN"/>
            <dgm:rule type="h" val="110" fact="NaN" max="NaN"/>
            <dgm:rule type="primFontSz" val="18" fact="NaN" max="NaN"/>
            <dgm:rule type="h" val="INF" fact="NaN" max="NaN"/>
            <dgm:rule type="primFontSz" val="5" fact="NaN" max="NaN"/>
          </dgm:ruleLst>
        </dgm:layoutNode>
        <dgm:layoutNode name="descendantText" styleLbl="alignAcc1">
          <dgm:varLst>
            <dgm:bulletEnabled val="1"/>
          </dgm:varLst>
          <dgm:choose name="Name4">
            <dgm:if name="Name5" func="var" arg="dir" op="equ" val="norm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90" type="round2SameRect" r:blip="">
                <dgm:adjLst/>
              </dgm:shape>
            </dgm:if>
            <dgm:else name="Name6">
              <dgm:alg type="tx">
                <dgm:param type="stBulletLvl" val="1"/>
                <dgm:param type="txAnchorVertCh" val="mid"/>
              </dgm:alg>
              <dgm:shape xmlns:r="http://schemas.openxmlformats.org/officeDocument/2006/relationships" rot="-90" type="round2SameRect" r:blip="">
                <dgm:adjLst/>
              </dgm:shape>
            </dgm:else>
          </dgm:choose>
          <dgm:presOf axis="des" ptType="node"/>
          <dgm:choose name="Name7">
            <dgm:if name="Name8" func="var" arg="dir" op="equ" val="norm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rMarg" refType="primFontSz" fact="0.05"/>
              </dgm:constrLst>
            </dgm:if>
            <dgm:else name="Name9">
              <dgm:constrLst>
                <dgm:constr type="secFontSz" refType="primFontSz"/>
                <dgm:constr type="tMarg" refType="primFontSz" fact="0.05"/>
                <dgm:constr type="bMarg" refType="primFontSz" fact="0.05"/>
                <dgm:constr type="lMarg" refType="primFontSz" fact="0.05"/>
              </dgm:constrLst>
            </dgm:else>
          </dgm:choose>
          <dgm:ruleLst>
            <dgm:rule type="primFontSz" val="5" fact="NaN" max="NaN"/>
          </dgm:ruleLst>
        </dgm:layoutNode>
      </dgm:layoutNode>
      <dgm:forEach name="Name10" axis="followSib" ptType="sibTrans" cnt="1">
        <dgm:layoutNode name="sp">
          <dgm:alg type="sp"/>
          <dgm:shape xmlns:r="http://schemas.openxmlformats.org/officeDocument/2006/relationships" r:blip="">
            <dgm:adjLst/>
          </dgm:shape>
          <dgm:presOf axis="self"/>
          <dgm:constrLst>
            <dgm:constr type="w" val="1"/>
            <dgm:constr type="h" val="37.5"/>
          </dgm:constrLst>
          <dgm:ruleLst/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2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3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4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diagrams/quickStyle5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8B295D25-9ADF-2E9C-4926-D1173456D81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927B0F5-6487-28BF-E70B-ED6FD570B13F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4021138" y="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998336-2137-4E4E-8CF3-71B1817B2011}" type="datetimeFigureOut">
              <a:rPr lang="en-US" smtClean="0"/>
              <a:t>9/6/2025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F71155A-BCFB-BADF-9261-82A603BCB18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09E8B13-DE7E-E583-33AC-E75FB1D61854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4021138" y="9721850"/>
            <a:ext cx="3076575" cy="51276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BA2D44-6A67-4395-B7CD-0368181C3B3D}" type="slidenum">
              <a:rPr lang="en-US" smtClean="0"/>
              <a:t>‹Nr.›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6203281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4021407" y="0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R="0" lvl="0" algn="r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t" anchorCtr="0">
            <a:noAutofit/>
          </a:bodyPr>
          <a:lstStyle>
            <a:lvl1pPr marL="457200" marR="0" lvl="0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1904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9721219"/>
            <a:ext cx="3076194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4021407" y="9721219"/>
            <a:ext cx="3076193" cy="51339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2600" tIns="21300" rIns="42600" bIns="21300" anchor="b" anchorCtr="0">
            <a:noAutofit/>
          </a:bodyPr>
          <a:lstStyle/>
          <a:p>
            <a:pPr marL="0" marR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 sz="6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‹Nr.›</a:t>
            </a:fld>
            <a:endParaRPr sz="6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hf hdr="0" ftr="0" dt="0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2" name="Google Shape;182;p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780" cy="4029739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83" name="Google Shape;183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1CCE0823-3529-0425-8186-6B67960232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815499C-30CA-8EC2-AE09-8BA515FF5B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5E53E3AF-0F22-E53D-8A16-EF1D17215B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3465751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Automated production processes are industry standards</a:t>
            </a:r>
            <a:endParaRPr lang="en-US" sz="20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Energy efficiency and machine longevity a</a:t>
            </a: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ffect on environmental and economic performance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milling machine is a tool that uses rotating cutting bits to remove material from a workpiece, shaping it into precise dimensions and features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dirty="0"/>
              <a:t>A CNC machine automates this process by following programmed instructions, allowing for highly accurate and repeatable machining of complex parts</a:t>
            </a: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DB95033C-C231-A7EF-ED7A-7ACB67E525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9CA3011-D329-401D-04AA-A0C68839B7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noProof="0" dirty="0">
                <a:highlight>
                  <a:srgbClr val="FFFF00"/>
                </a:highlight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Important to distinguish between normal power increases (e.g. caused by the tool engaging with material) and abnormal peak anomalies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sz="2000" noProof="0" dirty="0">
              <a:highlight>
                <a:srgbClr val="FFFF00"/>
              </a:highlight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71E4B01-E3D6-1200-8A46-2DF72B10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6887155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Use Case: Milling Machine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The information can then be used to find errors in the G-Code</a:t>
            </a:r>
            <a:endParaRPr lang="en-US" sz="2000" noProof="0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00" name="Google Shape;200;g36b3cdc49be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>
          <a:extLst>
            <a:ext uri="{FF2B5EF4-FFF2-40B4-BE49-F238E27FC236}">
              <a16:creationId xmlns:a16="http://schemas.microsoft.com/office/drawing/2014/main" id="{921260CD-0893-2A37-FD8F-3343EEB425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36b3cdc49be_0_0:notes">
            <a:extLst>
              <a:ext uri="{FF2B5EF4-FFF2-40B4-BE49-F238E27FC236}">
                <a16:creationId xmlns:a16="http://schemas.microsoft.com/office/drawing/2014/main" id="{38DC44A6-D347-67FE-EF05-01E9184AC10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Peaks can have different shapes and widths</a:t>
            </a:r>
          </a:p>
        </p:txBody>
      </p:sp>
      <p:sp>
        <p:nvSpPr>
          <p:cNvPr id="200" name="Google Shape;200;g36b3cdc49be_0_0:notes">
            <a:extLst>
              <a:ext uri="{FF2B5EF4-FFF2-40B4-BE49-F238E27FC236}">
                <a16:creationId xmlns:a16="http://schemas.microsoft.com/office/drawing/2014/main" id="{07974886-7FB9-38A2-8167-EAFD749292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1441516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1702D32-28C3-D4A9-C01F-927F7FEAE3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4638A19A-73D1-85C7-FF08-858AD3108EC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8341836-5C5E-CAEA-6031-7B6A5BCB5B5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05422961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38E20F-92C0-7888-E933-2AF0EB8B5E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2FDCC03-EDEB-9B49-08FC-B47BE159B5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Linear methods assume a linear relationship or operate via linear operations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Nonlinear methods model complex, nonlinear relationships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Univariate methods analyze one time series at a time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Multivariate methods can consider multiple dimensions/features simultaneously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39EB753-003C-7C75-8A5A-9BF6AA5D693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94897298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E891AAAF-22AF-1E34-4A9E-7DE0A694AF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7D71C95-6630-15B0-D0AA-7096C64977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698899E-A2C4-9388-4DE1-899795032C4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999677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092659B7-C130-76E8-614F-0B7CF4EE4E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A3F511A-7939-7040-FB3E-AD6A7F9C18C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value-threshold, prominence-threshold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Prominence measures how much a peak stands out from surrounding valleys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 peak's prominence is the vertical distance between the peak and the lowest contour line that surrounds it and contains no higher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Higher prominence = more significant or isolated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Local maximum check: implicitly a window-size of 3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82454A8-E840-B9AA-F784-3E53E9D757A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80182052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F385850-760F-6E6E-36ED-660491A9B8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032E3E-C6CA-CD15-450C-42ECAB39A81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window size, threshold for peak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Input feature: torque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155BDC0-C312-CD78-4A67-CC3225D586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8076711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C4C9A647-E008-E9E2-66ED-D1CE8BB0923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99BC8089-C290-8053-6DE4-A6F2C1ACC8E6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width/scale of the wavelet, (response-percentile)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considers every response in the lower 10th-percentile as noise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Convolution: shift -&gt; normalize (local) -&gt; dot-product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Matrix: coefficients across different scales (frequencies) and positions (time)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Peaks appear as strong, aligned coefficients across multiple scales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 err="1"/>
              <a:t>Scipy</a:t>
            </a:r>
            <a:r>
              <a:rPr lang="en-US" noProof="0" dirty="0"/>
              <a:t> uses a signal-to-noise ratio logic implicitly to judge peak strength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BAC4C9A-9135-2F07-2324-49F56DCFCAF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1430352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F079F4C-01C5-9AE6-BB58-1E2B7A8FEF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34EB0316-8F74-53E0-B749-0A39A60C842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number of clusters “k”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Autoencoder tries to reproduce the input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Repeat until changes in cluster assignments are minimal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Partitioning the data into k groups based on minimizing the distance between points and their assigned cluster centroids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C08C96-95DF-854F-591D-C08EBDC9146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68904085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2ABAB7F-E89B-B992-CE5F-842C051704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13EBD794-EF9A-2112-70B6-34AA21E49E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Parameters: epsilon controls the radius of neighborhood (distance threshold)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A517FDC-9B53-C2FB-5482-9EAFEA17141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0500264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6DFEF689-345F-F002-279F-92C52AC128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7D5425DC-29FC-B11D-33F6-4C42CA6A883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Key parameter: contamination, number of trees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Uses Extremely Randomized Tree Regressors to separate anomalies from the rest of the data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Calculates an anomaly score for each data point and checks with a threshold. score depends on avg path length of an isolated point and average depth of all data points. closer to 1, strong anomaly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Does not assume the distribution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However, not built for timeseries data</a:t>
            </a: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CDA16F4-D121-0024-99D2-CB079F3EB07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092443062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712725CE-A25A-9ABA-8C31-6F50A113A9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A409CA94-9087-8E8D-2B7E-D6E06933E29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noProof="0" dirty="0"/>
              <a:t>An autoencoder is a neural network model that seeks to learn a compressed representation of an input, known as the latent space.  And the decoder tries to recreate the features based on the compressed representation. </a:t>
            </a: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The goal is to minimize the difference between the original and reconstructed data.</a:t>
            </a:r>
            <a:endParaRPr lang="en-US" b="0" dirty="0">
              <a:effectLst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Long Short-Term Memory, or LSTM, network are specifically designed to support sequences of input data.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904" b="0" i="0" u="none" strike="noStrike" cap="none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If the reconstructed output is different from the original input, it can show an anomaly or outlier which makes autoencoders useful for fraud detection and system monitoring.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dirty="0"/>
              <a:t>LSTM training is </a:t>
            </a:r>
            <a:r>
              <a:rPr lang="en-US" b="1" dirty="0"/>
              <a:t>slower than CNNs</a:t>
            </a:r>
            <a:endParaRPr lang="en-US" sz="1904" b="0" i="0" u="none" strike="noStrike" cap="none" noProof="0" dirty="0">
              <a:solidFill>
                <a:schemeClr val="dk1"/>
              </a:solidFill>
              <a:effectLst/>
              <a:latin typeface="Calibri"/>
              <a:ea typeface="Calibri"/>
              <a:cs typeface="Calibri"/>
              <a:sym typeface="Calibri"/>
            </a:endParaRPr>
          </a:p>
          <a:p>
            <a:r>
              <a:rPr lang="en-US" sz="1904" b="0" i="0" u="none" strike="noStrike" cap="none" noProof="0" dirty="0">
                <a:solidFill>
                  <a:schemeClr val="dk1"/>
                </a:solidFill>
                <a:effectLst/>
                <a:latin typeface="Calibri"/>
                <a:ea typeface="Calibri"/>
                <a:cs typeface="Calibri"/>
                <a:sym typeface="Calibri"/>
              </a:rPr>
              <a:t>Hyperparameters: </a:t>
            </a:r>
            <a:r>
              <a:rPr lang="en-US" dirty="0"/>
              <a:t>Number of layers/units, Sequence length, Learning rate, Dropout Batch size</a:t>
            </a:r>
          </a:p>
          <a:p>
            <a:r>
              <a:rPr lang="en-US" noProof="0" dirty="0"/>
              <a:t>Other parameters: reconstruction error threshold </a:t>
            </a:r>
            <a:r>
              <a:rPr lang="en-US" noProof="0" dirty="0">
                <a:sym typeface="Wingdings" panose="05000000000000000000" pitchFamily="2" charset="2"/>
              </a:rPr>
              <a:t> IQR/percentile etc. </a:t>
            </a:r>
          </a:p>
          <a:p>
            <a:endParaRPr lang="en-US" noProof="0" dirty="0">
              <a:sym typeface="Wingdings" panose="05000000000000000000" pitchFamily="2" charset="2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anomalies for multivariate timeseries data by learning non-linear patterns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8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LSTMs – designed for sequences</a:t>
            </a:r>
            <a:endParaRPr lang="en-US" noProof="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noProof="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E288452-2147-17EF-0156-5D8BB7351955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3448789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3B65D02-50BD-689A-6AFC-90FB69E324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261A266-C729-6E47-5378-87BB3DC0FFF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 err="1"/>
              <a:t>No</a:t>
            </a:r>
            <a:r>
              <a:rPr lang="de-DE" dirty="0"/>
              <a:t> </a:t>
            </a:r>
            <a:r>
              <a:rPr lang="de-DE" dirty="0" err="1"/>
              <a:t>ground</a:t>
            </a:r>
            <a:r>
              <a:rPr lang="de-DE" dirty="0"/>
              <a:t> </a:t>
            </a:r>
            <a:r>
              <a:rPr lang="de-DE" dirty="0" err="1"/>
              <a:t>truth</a:t>
            </a:r>
            <a:r>
              <a:rPr lang="de-DE" dirty="0"/>
              <a:t> </a:t>
            </a:r>
            <a:r>
              <a:rPr lang="de-DE" dirty="0" err="1"/>
              <a:t>available</a:t>
            </a: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de-DE" dirty="0"/>
              <a:t>Multi-</a:t>
            </a:r>
            <a:r>
              <a:rPr lang="de-DE" dirty="0" err="1"/>
              <a:t>Objective</a:t>
            </a:r>
            <a:r>
              <a:rPr lang="de-DE" dirty="0"/>
              <a:t> </a:t>
            </a:r>
            <a:r>
              <a:rPr lang="de-DE" dirty="0" err="1"/>
              <a:t>Optimization</a:t>
            </a:r>
            <a:r>
              <a:rPr lang="de-DE" dirty="0"/>
              <a:t> </a:t>
            </a:r>
            <a:r>
              <a:rPr lang="de-DE" dirty="0" err="1"/>
              <a:t>with</a:t>
            </a:r>
            <a:r>
              <a:rPr lang="de-DE" dirty="0"/>
              <a:t> Pareto-Front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highlight>
                  <a:srgbClr val="FFFF00"/>
                </a:highlight>
                <a:latin typeface="Calibri"/>
                <a:ea typeface="Calibri"/>
                <a:cs typeface="Calibri"/>
                <a:sym typeface="Calibri"/>
              </a:rPr>
              <a:t>Reason for use: majority of people use this in papers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Count of sequences without peaks -&gt; indicating missed detections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Total number of peaks -&gt; indicating sensitivity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height -&gt; indicating proportion of true-positives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Average peak prominence -&gt; indicating significance of the peaks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4CAC0FCE-B157-3A7F-52EE-2D420F74B28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9834567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CAB0FA92-5DF6-8A7D-EA3B-DAB7546470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19680BA8-CE62-6987-486B-00B9D308086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CB605E8F-2258-633D-9460-1C91142C61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058864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ED99CB0-9BAA-85D0-939B-FE75FFC27D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F3DAC6FE-9069-9D19-D6DA-BB73EC5AD3E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Optimal compromise between all metrics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Best tradeoff between amplitude and prominence with a more realistic peak count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14F34DC-AA1B-99CA-6FBB-AA288035C3F4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1757946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5B974716-D88B-3704-3FA2-4E34A28605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287AE9A-F92B-09CC-482C-17859BEAA71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Good precision on easy examples with large outliers but fails on others with many false-positives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bad generalization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Few true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9D992D8A-EDAB-AF1C-8A85-A22F1B4FE8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92053997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AB09774-68B5-94BD-D662-A6FD8E3154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9C1E908-8282-A418-C6B1-3A2B7B636BA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high precision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-&gt; n</a:t>
            </a:r>
            <a:r>
              <a:rPr lang="en-US" sz="2000" dirty="0"/>
              <a:t>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 (especially peaks with a smaller amplitude)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7F3F2BB0-94C4-A50D-19D0-D8241633A59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18571504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3B6B107A-9124-2607-B78C-462A99E0F62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8AD47B9-29DC-4355-B3A3-B958F6BEA11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Identifies most of</a:t>
            </a: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the peaks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Was only unable to properly detect a specific pattern – brings down average of metrics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bad generalization, if threshold can be specified for each machine type, would work better. 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A15B81-4491-172E-2692-6ED6B28C4F0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56639155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94205285-753B-BEB8-3FC6-580FF5EED5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3FA03F0-AC77-8D60-999E-B8B846F291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Very bad precision -&gt; m</a:t>
            </a:r>
            <a:r>
              <a:rPr lang="en-US" sz="2000" dirty="0"/>
              <a:t>any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Most of the true peaks were detected but not all</a:t>
            </a:r>
            <a:endParaRPr lang="en-US" sz="2000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Predicting one precise position and not an area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only positive peaks (with one single wavelet)</a:t>
            </a:r>
            <a:endParaRPr lang="en-US" sz="2000" b="0" i="0" u="none" strike="noStrike" cap="none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7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Possible reasons of failure: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Peaks have different shapes and widths</a:t>
            </a:r>
          </a:p>
          <a:p>
            <a:pPr marL="800100" marR="0" lvl="1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1543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Shape is indistinguishable from noise</a:t>
            </a:r>
            <a:endParaRPr lang="en-US" sz="2000" b="1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BDDCD22-8AC2-9A5A-DD41-23234EAE291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77895910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A6AE88B4-DB88-505E-9FD6-308C27D9DF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CBACA8EA-2F2C-1C83-FC47-D106A505B6B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False-positives issues on some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undetected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Unreliable predictions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D9E7838C-385C-3799-BA06-C27DA18C81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4132743776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2C25210-FCD8-547F-CFEE-D3975AEE7AE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0202BD58-8381-313C-E90E-9894CA1C549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 -&gt; a</a:t>
            </a:r>
            <a:r>
              <a:rPr lang="en-US" sz="2000" dirty="0" err="1"/>
              <a:t>lmost</a:t>
            </a:r>
            <a:r>
              <a:rPr lang="en-US" sz="2000" dirty="0"/>
              <a:t> no false-positives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Some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1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Recognizable tendency of detecting peaks</a:t>
            </a:r>
            <a:endParaRPr lang="en-US" sz="2000" b="1" dirty="0"/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dirty="0"/>
              <a:t>Can detect positive and negative peaks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B972504F-4B59-1C98-398D-745DDE3DA3F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85152390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8418C1A4-3FA1-D87E-88DC-F1840B9414B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4B68ADB-8EAC-D32C-4D60-06B43460637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Characteristic of marking the whole peak area instead of just one precise position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66B66DA1-A211-D751-D1BA-329D2F13716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609056343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1AF9880-BAE4-41B9-5310-BAF254D3E4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EF824B1E-754F-62C4-9F2F-A8CC1C978F1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High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precision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Not many false-positives issued on the sequences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Many peaks were not detected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Can detect positive and negative peaks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Detects smaller deviations but sometimes unable to identify larger deviations 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Wingdings" panose="05000000000000000000" pitchFamily="2" charset="2"/>
              </a:rPr>
              <a:t>-&gt; not good</a:t>
            </a: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None/>
              <a:tabLst/>
              <a:defRPr/>
            </a:pPr>
            <a:endParaRPr lang="de-DE" sz="2000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0F7E4DA9-96D8-75E1-BB89-AD12FF73D07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10879727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8EBF65A3-8400-2880-6660-148E3A9B84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C8A6562A-F4C3-A1D0-F14A-4A900C96351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0EB4C108-0461-5801-4B01-F8452896599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8862597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F61A0281-6DC4-6B49-2899-413073235F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B9EE1FF-D42B-D2C5-50B9-FEFBC61C7BA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86D7FF9-EDBD-9A61-B1E9-38C85DB69A2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1819720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84846D8-0A01-6BB8-9FDF-DAFDC49F5C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59BF80F2-B423-4B0B-113A-49CFC58314D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Metrics just show how similar the predictions of each method are with reference to the percentile-approach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en-US" noProof="0" dirty="0"/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Very low recall for all methods that predict precise positions and not an area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Threshold-Based Torque has a higher precision than with Cmd.-Speed because it operates on the same feature as the percentile-approach</a:t>
            </a:r>
          </a:p>
          <a:p>
            <a:pPr marL="800100" lvl="1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noProof="0" dirty="0"/>
              <a:t>Thus, the prediction are more similar</a:t>
            </a:r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A035B49F-BD84-47E4-DCF3-6B1DF552C4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00991322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46B69E45-B8E2-1D7C-71A6-2F7346C885C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84653B73-8993-7328-A81A-A03D984709C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lang="de-DE"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B8F9F83-3EFE-2242-06F1-003E85335D4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51238995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17">
          <a:extLst>
            <a:ext uri="{FF2B5EF4-FFF2-40B4-BE49-F238E27FC236}">
              <a16:creationId xmlns:a16="http://schemas.microsoft.com/office/drawing/2014/main" id="{B7A19BDA-83EE-CDB1-26DC-F81F6A7BC98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g36b3a12114e_2_12:notes">
            <a:extLst>
              <a:ext uri="{FF2B5EF4-FFF2-40B4-BE49-F238E27FC236}">
                <a16:creationId xmlns:a16="http://schemas.microsoft.com/office/drawing/2014/main" id="{DBDE9C12-79E1-E731-E0D3-3B66839786F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r>
              <a:rPr lang="en-US" sz="2000" b="0" i="0" u="none" strike="noStrike" cap="none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Feature-processing forces the user to analyze and understand the data, which can already give some insights into the reason for the anomalies</a:t>
            </a: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endParaRPr lang="en-US" sz="20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342900" marR="0" lvl="0" indent="-3429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 panose="020B0604020202020204" pitchFamily="34" charset="0"/>
              <a:buChar char="•"/>
              <a:tabLst/>
              <a:defRPr/>
            </a:pP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Drawback: str</a:t>
            </a:r>
            <a:r>
              <a:rPr lang="en-US" sz="2000" b="0" i="0" u="none" strike="noStrike" cap="none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uggles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to generalize on unprocessed data with different signal-types (machines, </a:t>
            </a:r>
            <a:r>
              <a:rPr lang="en-US" sz="2000" b="0" i="0" u="none" strike="noStrike" cap="none" noProof="0" dirty="0" err="1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materialm</a:t>
            </a:r>
            <a:r>
              <a:rPr lang="en-US" sz="20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 etc.)</a:t>
            </a:r>
          </a:p>
          <a:p>
            <a:pPr marL="342900" lvl="0" indent="-342900" algn="l" rtl="0"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Char char="•"/>
            </a:pPr>
            <a:endParaRPr dirty="0"/>
          </a:p>
        </p:txBody>
      </p:sp>
      <p:sp>
        <p:nvSpPr>
          <p:cNvPr id="219" name="Google Shape;219;g36b3a12114e_2_12:notes">
            <a:extLst>
              <a:ext uri="{FF2B5EF4-FFF2-40B4-BE49-F238E27FC236}">
                <a16:creationId xmlns:a16="http://schemas.microsoft.com/office/drawing/2014/main" id="{247D066D-C329-6700-29ED-B609B424070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886614023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0">
          <a:extLst>
            <a:ext uri="{FF2B5EF4-FFF2-40B4-BE49-F238E27FC236}">
              <a16:creationId xmlns:a16="http://schemas.microsoft.com/office/drawing/2014/main" id="{FBFF9082-6855-A1A7-31B2-6CB2B75F56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g36c2988baa0_0_26:notes">
            <a:extLst>
              <a:ext uri="{FF2B5EF4-FFF2-40B4-BE49-F238E27FC236}">
                <a16:creationId xmlns:a16="http://schemas.microsoft.com/office/drawing/2014/main" id="{095A816E-2560-190E-23A6-A5D1630117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92" name="Google Shape;192;g36c2988baa0_0_26:notes">
            <a:extLst>
              <a:ext uri="{FF2B5EF4-FFF2-40B4-BE49-F238E27FC236}">
                <a16:creationId xmlns:a16="http://schemas.microsoft.com/office/drawing/2014/main" id="{F557AE9C-72D2-6024-6CF9-184AD316C06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953205749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5930A782-4147-807C-455A-094AA123FB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003C1289-1D9C-D49F-9BD4-4728B416C2C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0F7A2C10-E2F1-346A-96D9-5D7D9702907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77646247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r>
              <a:rPr lang="en-US" sz="1600" b="1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commanded speed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: speed setpoint from the trajectory planner to the motor controller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lang="de-DE" sz="1405" dirty="0"/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4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Spindle signal looks like a discrete signal with hard edges (instead of smooth, continuous transitions</a:t>
            </a:r>
          </a:p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835E1CEA-BEB3-BDB2-2B72-CD20D8D44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D6767525-8C24-2FAF-BEBB-E0AA59449A1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lvl="0" indent="-285750" algn="l" rtl="0">
              <a:spcBef>
                <a:spcPts val="0"/>
              </a:spcBef>
              <a:spcAft>
                <a:spcPts val="0"/>
              </a:spcAft>
              <a:buSzPts val="1405"/>
              <a:buFont typeface="Arial" panose="020B0604020202020204" pitchFamily="34" charset="0"/>
              <a:buChar char="•"/>
            </a:pPr>
            <a:endParaRPr sz="1405" dirty="0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3008D931-89AA-2463-EA36-2F406C5AA1F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16853359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A28F1E3D-27B7-BDE9-5632-0244FB24BF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2DD1EACA-F0AC-9F06-FDCF-5DB109DA2CB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Rescale the signals by a material-specific factor to align dynamics in the current caused by normal workload within the same zone to improve generalization</a:t>
            </a:r>
            <a:endParaRPr lang="en-US" sz="1405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Cluster formation (Coalescence): peaks that are close to each other (within a window distance k) are combined so that only the highest peak remains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r>
              <a:rPr lang="de-DE" sz="1405" dirty="0"/>
              <a:t>(</a:t>
            </a:r>
            <a:r>
              <a:rPr lang="en-US" sz="1600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Apply smoothing to the signal to filter noise and remove unsignificant peaks</a:t>
            </a:r>
            <a:r>
              <a:rPr lang="en-US" sz="1405" b="0" i="0" u="none" strike="noStrike" cap="none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)</a:t>
            </a:r>
          </a:p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BC30AD5A-0500-4EBF-F662-0765D4665F0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997712904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g36ae8b4110f_0_179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46" name="Google Shape;346;g36ae8b4110f_0_179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BDE125EB-37F9-15EB-D8AB-E0630BE519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61D831EF-170F-677F-AED5-C2F1B48C9E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Clustering method -&gt; Hyper parameter tuning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Autoencoder -&gt;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Pseudo labels for evaluation for each approach </a:t>
            </a:r>
            <a:endParaRPr sz="1405"/>
          </a:p>
          <a:p>
            <a:pPr marL="457200" lvl="0" indent="-317817" algn="l" rtl="0">
              <a:spcBef>
                <a:spcPts val="0"/>
              </a:spcBef>
              <a:spcAft>
                <a:spcPts val="0"/>
              </a:spcAft>
              <a:buSzPts val="1405"/>
              <a:buChar char="-"/>
            </a:pPr>
            <a:r>
              <a:rPr lang="de-DE" sz="1405"/>
              <a:t>Considering efficiency and computational cost when evaluating</a:t>
            </a:r>
            <a:endParaRPr sz="1405"/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9AA95FA2-5EF4-EA30-75CD-858698587F0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70034924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g36b7a2f1fd2_1_1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55" name="Google Shape;355;g36b7a2f1fd2_1_1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6">
          <a:extLst>
            <a:ext uri="{FF2B5EF4-FFF2-40B4-BE49-F238E27FC236}">
              <a16:creationId xmlns:a16="http://schemas.microsoft.com/office/drawing/2014/main" id="{7A5D89CE-2667-3217-5BFF-A1E891AC4A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" name="Google Shape;337;g36b65f15935_1_10:notes">
            <a:extLst>
              <a:ext uri="{FF2B5EF4-FFF2-40B4-BE49-F238E27FC236}">
                <a16:creationId xmlns:a16="http://schemas.microsoft.com/office/drawing/2014/main" id="{7DAA8D69-16AA-E6B7-A937-B9E8B044666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425133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5"/>
              <a:buFont typeface="Arial" panose="020B0604020202020204" pitchFamily="34" charset="0"/>
              <a:buChar char="•"/>
              <a:tabLst/>
              <a:defRPr/>
            </a:pPr>
            <a:endParaRPr lang="en-US" sz="1600" b="0" i="0" u="none" strike="noStrike" cap="none" noProof="0" dirty="0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38" name="Google Shape;338;g36b65f15935_1_10:notes">
            <a:extLst>
              <a:ext uri="{FF2B5EF4-FFF2-40B4-BE49-F238E27FC236}">
                <a16:creationId xmlns:a16="http://schemas.microsoft.com/office/drawing/2014/main" id="{8DDB3BDA-2814-D5A1-D24B-33E57EC433C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334099393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g36b3a12114e_2_35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0" name="Google Shape;230;g36b3a12114e_2_35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g36c2988baa0_0_38:notes"/>
          <p:cNvSpPr txBox="1">
            <a:spLocks noGrp="1"/>
          </p:cNvSpPr>
          <p:nvPr>
            <p:ph type="body" idx="1"/>
          </p:nvPr>
        </p:nvSpPr>
        <p:spPr>
          <a:xfrm>
            <a:off x="709761" y="4925463"/>
            <a:ext cx="5679900" cy="4029600"/>
          </a:xfrm>
          <a:prstGeom prst="rect">
            <a:avLst/>
          </a:prstGeom>
        </p:spPr>
        <p:txBody>
          <a:bodyPr spcFirstLastPara="1" wrap="square" lIns="42600" tIns="21300" rIns="42600" bIns="213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38" name="Google Shape;238;g36c2988baa0_0_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479425" y="1279525"/>
            <a:ext cx="6140450" cy="34544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Title Slide">
  <p:cSld name="Title Slide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/>
          <p:nvPr/>
        </p:nvSpPr>
        <p:spPr>
          <a:xfrm>
            <a:off x="0" y="0"/>
            <a:ext cx="9144000" cy="2000196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8" name="Google Shape;18;p2" descr="A close-up of a person's face&#10;&#10;Description automatically generated with medium confidence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797495" y="-770"/>
            <a:ext cx="2346506" cy="2000964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" descr="Text&#10;&#10;Description automatically generated with medium confidence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800176" y="171445"/>
            <a:ext cx="1816680" cy="628633"/>
          </a:xfrm>
          <a:prstGeom prst="rect">
            <a:avLst/>
          </a:prstGeom>
          <a:noFill/>
          <a:ln>
            <a:noFill/>
          </a:ln>
        </p:spPr>
      </p:pic>
      <p:sp>
        <p:nvSpPr>
          <p:cNvPr id="20" name="Google Shape;20;p2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/>
            </a:lvl3pPr>
            <a:lvl4pPr lvl="3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21" name="Google Shape;21;p2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23"/>
              <a:buFont typeface="Arial"/>
              <a:buNone/>
              <a:defRPr sz="2223" b="1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pic>
        <p:nvPicPr>
          <p:cNvPr id="22" name="Google Shape;22;p2" descr="Logo&#10;&#10;Description automatically generated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5715546" y="3314611"/>
            <a:ext cx="2857773" cy="143549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>
  <p:cSld name="Title and Content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>
                <a:latin typeface="+mj-lt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 dirty="0"/>
          </a:p>
        </p:txBody>
      </p:sp>
      <p:sp>
        <p:nvSpPr>
          <p:cNvPr id="26" name="Google Shape;26;p3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>
                <a:latin typeface="+mn-lt"/>
              </a:defRPr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 dirty="0"/>
          </a:p>
        </p:txBody>
      </p:sp>
      <p:sp>
        <p:nvSpPr>
          <p:cNvPr id="27" name="Google Shape;27;p3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15302129-6EC3-7B00-3BA5-EE00638B84C5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Section Header" type="secHead">
  <p:cSld name="SECTION_HEADER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4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40"/>
              <a:buFont typeface="Arial"/>
              <a:buNone/>
              <a:defRPr sz="2540" b="1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4"/>
          <p:cNvSpPr txBox="1">
            <a:spLocks noGrp="1"/>
          </p:cNvSpPr>
          <p:nvPr>
            <p:ph type="body" idx="1"/>
          </p:nvPr>
        </p:nvSpPr>
        <p:spPr>
          <a:xfrm>
            <a:off x="720000" y="1537200"/>
            <a:ext cx="77040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0" bIns="45700" anchor="b" anchorCtr="0">
            <a:no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746"/>
              <a:buNone/>
              <a:defRPr sz="1745" b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31" name="Google Shape;31;p4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4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794" b="1">
                <a:solidFill>
                  <a:schemeClr val="lt1"/>
                </a:solidFill>
              </a:defRPr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3B8D03DE-8003-ED3B-49C8-F7DC2CBDF9D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Handwritten Notes">
  <p:cSld name="Handwritten Notes">
    <p:spTree>
      <p:nvGrpSpPr>
        <p:cNvPr id="1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5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grpSp>
        <p:nvGrpSpPr>
          <p:cNvPr id="38" name="Google Shape;38;p5"/>
          <p:cNvGrpSpPr/>
          <p:nvPr/>
        </p:nvGrpSpPr>
        <p:grpSpPr>
          <a:xfrm>
            <a:off x="-1" y="520148"/>
            <a:ext cx="9146192" cy="4451903"/>
            <a:chOff x="-1" y="520148"/>
            <a:chExt cx="9146192" cy="4451903"/>
          </a:xfrm>
        </p:grpSpPr>
        <p:grpSp>
          <p:nvGrpSpPr>
            <p:cNvPr id="39" name="Google Shape;39;p5"/>
            <p:cNvGrpSpPr/>
            <p:nvPr/>
          </p:nvGrpSpPr>
          <p:grpSpPr>
            <a:xfrm>
              <a:off x="-1" y="644540"/>
              <a:ext cx="9146191" cy="3641022"/>
              <a:chOff x="139700" y="1063145"/>
              <a:chExt cx="8890000" cy="3539331"/>
            </a:xfrm>
          </p:grpSpPr>
          <p:cxnSp>
            <p:nvCxnSpPr>
              <p:cNvPr id="40" name="Google Shape;40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1" name="Google Shape;41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2" name="Google Shape;42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3" name="Google Shape;43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4" name="Google Shape;44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5" name="Google Shape;45;p5"/>
              <p:cNvCxnSpPr/>
              <p:nvPr/>
            </p:nvCxnSpPr>
            <p:spPr>
              <a:xfrm>
                <a:off x="139700" y="171857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6" name="Google Shape;46;p5"/>
              <p:cNvCxnSpPr/>
              <p:nvPr/>
            </p:nvCxnSpPr>
            <p:spPr>
              <a:xfrm>
                <a:off x="139700" y="184966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7" name="Google Shape;47;p5"/>
              <p:cNvCxnSpPr/>
              <p:nvPr/>
            </p:nvCxnSpPr>
            <p:spPr>
              <a:xfrm>
                <a:off x="139700" y="198074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8" name="Google Shape;48;p5"/>
              <p:cNvCxnSpPr/>
              <p:nvPr/>
            </p:nvCxnSpPr>
            <p:spPr>
              <a:xfrm>
                <a:off x="139700" y="211183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49" name="Google Shape;49;p5"/>
              <p:cNvCxnSpPr/>
              <p:nvPr/>
            </p:nvCxnSpPr>
            <p:spPr>
              <a:xfrm>
                <a:off x="139700" y="224291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0" name="Google Shape;50;p5"/>
              <p:cNvCxnSpPr/>
              <p:nvPr/>
            </p:nvCxnSpPr>
            <p:spPr>
              <a:xfrm>
                <a:off x="139700" y="237400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1" name="Google Shape;51;p5"/>
              <p:cNvCxnSpPr/>
              <p:nvPr/>
            </p:nvCxnSpPr>
            <p:spPr>
              <a:xfrm>
                <a:off x="139700" y="250509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2" name="Google Shape;52;p5"/>
              <p:cNvCxnSpPr/>
              <p:nvPr/>
            </p:nvCxnSpPr>
            <p:spPr>
              <a:xfrm>
                <a:off x="139700" y="263617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3" name="Google Shape;53;p5"/>
              <p:cNvCxnSpPr/>
              <p:nvPr/>
            </p:nvCxnSpPr>
            <p:spPr>
              <a:xfrm>
                <a:off x="139700" y="276726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4" name="Google Shape;54;p5"/>
              <p:cNvCxnSpPr/>
              <p:nvPr/>
            </p:nvCxnSpPr>
            <p:spPr>
              <a:xfrm>
                <a:off x="139700" y="289834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5" name="Google Shape;55;p5"/>
              <p:cNvCxnSpPr/>
              <p:nvPr/>
            </p:nvCxnSpPr>
            <p:spPr>
              <a:xfrm>
                <a:off x="139700" y="302943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6" name="Google Shape;56;p5"/>
              <p:cNvCxnSpPr/>
              <p:nvPr/>
            </p:nvCxnSpPr>
            <p:spPr>
              <a:xfrm>
                <a:off x="139700" y="316052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7" name="Google Shape;57;p5"/>
              <p:cNvCxnSpPr/>
              <p:nvPr/>
            </p:nvCxnSpPr>
            <p:spPr>
              <a:xfrm>
                <a:off x="139700" y="329160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8" name="Google Shape;58;p5"/>
              <p:cNvCxnSpPr/>
              <p:nvPr/>
            </p:nvCxnSpPr>
            <p:spPr>
              <a:xfrm>
                <a:off x="139700" y="342269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59" name="Google Shape;59;p5"/>
              <p:cNvCxnSpPr/>
              <p:nvPr/>
            </p:nvCxnSpPr>
            <p:spPr>
              <a:xfrm>
                <a:off x="139700" y="355377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0" name="Google Shape;60;p5"/>
              <p:cNvCxnSpPr/>
              <p:nvPr/>
            </p:nvCxnSpPr>
            <p:spPr>
              <a:xfrm>
                <a:off x="139700" y="368486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1" name="Google Shape;61;p5"/>
              <p:cNvCxnSpPr/>
              <p:nvPr/>
            </p:nvCxnSpPr>
            <p:spPr>
              <a:xfrm>
                <a:off x="139700" y="381595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2" name="Google Shape;62;p5"/>
              <p:cNvCxnSpPr/>
              <p:nvPr/>
            </p:nvCxnSpPr>
            <p:spPr>
              <a:xfrm>
                <a:off x="139700" y="394703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3" name="Google Shape;63;p5"/>
              <p:cNvCxnSpPr/>
              <p:nvPr/>
            </p:nvCxnSpPr>
            <p:spPr>
              <a:xfrm>
                <a:off x="139700" y="407812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4" name="Google Shape;64;p5"/>
              <p:cNvCxnSpPr/>
              <p:nvPr/>
            </p:nvCxnSpPr>
            <p:spPr>
              <a:xfrm>
                <a:off x="139700" y="420920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5" name="Google Shape;65;p5"/>
              <p:cNvCxnSpPr/>
              <p:nvPr/>
            </p:nvCxnSpPr>
            <p:spPr>
              <a:xfrm>
                <a:off x="139700" y="434029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6" name="Google Shape;66;p5"/>
              <p:cNvCxnSpPr/>
              <p:nvPr/>
            </p:nvCxnSpPr>
            <p:spPr>
              <a:xfrm>
                <a:off x="139700" y="447138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67" name="Google Shape;67;p5"/>
              <p:cNvCxnSpPr/>
              <p:nvPr/>
            </p:nvCxnSpPr>
            <p:spPr>
              <a:xfrm>
                <a:off x="139700" y="4602476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68" name="Google Shape;68;p5"/>
            <p:cNvGrpSpPr/>
            <p:nvPr/>
          </p:nvGrpSpPr>
          <p:grpSpPr>
            <a:xfrm>
              <a:off x="110067" y="520148"/>
              <a:ext cx="8912813" cy="4451903"/>
              <a:chOff x="235573" y="916827"/>
              <a:chExt cx="8663159" cy="3797693"/>
            </a:xfrm>
          </p:grpSpPr>
          <p:cxnSp>
            <p:nvCxnSpPr>
              <p:cNvPr id="69" name="Google Shape;69;p5"/>
              <p:cNvCxnSpPr/>
              <p:nvPr/>
            </p:nvCxnSpPr>
            <p:spPr>
              <a:xfrm flipH="1">
                <a:off x="235573" y="916827"/>
                <a:ext cx="5727" cy="3796652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0" name="Google Shape;70;p5"/>
              <p:cNvCxnSpPr/>
              <p:nvPr/>
            </p:nvCxnSpPr>
            <p:spPr>
              <a:xfrm>
                <a:off x="37247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1" name="Google Shape;71;p5"/>
              <p:cNvCxnSpPr/>
              <p:nvPr/>
            </p:nvCxnSpPr>
            <p:spPr>
              <a:xfrm>
                <a:off x="50364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2" name="Google Shape;72;p5"/>
              <p:cNvCxnSpPr/>
              <p:nvPr/>
            </p:nvCxnSpPr>
            <p:spPr>
              <a:xfrm>
                <a:off x="63481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3" name="Google Shape;73;p5"/>
              <p:cNvCxnSpPr/>
              <p:nvPr/>
            </p:nvCxnSpPr>
            <p:spPr>
              <a:xfrm>
                <a:off x="76599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4" name="Google Shape;74;p5"/>
              <p:cNvCxnSpPr/>
              <p:nvPr/>
            </p:nvCxnSpPr>
            <p:spPr>
              <a:xfrm>
                <a:off x="89716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5" name="Google Shape;75;p5"/>
              <p:cNvCxnSpPr/>
              <p:nvPr/>
            </p:nvCxnSpPr>
            <p:spPr>
              <a:xfrm>
                <a:off x="102833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6" name="Google Shape;76;p5"/>
              <p:cNvCxnSpPr/>
              <p:nvPr/>
            </p:nvCxnSpPr>
            <p:spPr>
              <a:xfrm>
                <a:off x="115951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7" name="Google Shape;77;p5"/>
              <p:cNvCxnSpPr/>
              <p:nvPr/>
            </p:nvCxnSpPr>
            <p:spPr>
              <a:xfrm>
                <a:off x="129068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8" name="Google Shape;78;p5"/>
              <p:cNvCxnSpPr/>
              <p:nvPr/>
            </p:nvCxnSpPr>
            <p:spPr>
              <a:xfrm>
                <a:off x="142185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79" name="Google Shape;79;p5"/>
              <p:cNvCxnSpPr/>
              <p:nvPr/>
            </p:nvCxnSpPr>
            <p:spPr>
              <a:xfrm>
                <a:off x="155303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0" name="Google Shape;80;p5"/>
              <p:cNvCxnSpPr/>
              <p:nvPr/>
            </p:nvCxnSpPr>
            <p:spPr>
              <a:xfrm>
                <a:off x="168420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1" name="Google Shape;81;p5"/>
              <p:cNvCxnSpPr/>
              <p:nvPr/>
            </p:nvCxnSpPr>
            <p:spPr>
              <a:xfrm>
                <a:off x="181537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2" name="Google Shape;82;p5"/>
              <p:cNvCxnSpPr/>
              <p:nvPr/>
            </p:nvCxnSpPr>
            <p:spPr>
              <a:xfrm>
                <a:off x="194654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3" name="Google Shape;83;p5"/>
              <p:cNvCxnSpPr/>
              <p:nvPr/>
            </p:nvCxnSpPr>
            <p:spPr>
              <a:xfrm>
                <a:off x="207772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4" name="Google Shape;84;p5"/>
              <p:cNvCxnSpPr/>
              <p:nvPr/>
            </p:nvCxnSpPr>
            <p:spPr>
              <a:xfrm>
                <a:off x="220889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5" name="Google Shape;85;p5"/>
              <p:cNvCxnSpPr/>
              <p:nvPr/>
            </p:nvCxnSpPr>
            <p:spPr>
              <a:xfrm>
                <a:off x="234006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6" name="Google Shape;86;p5"/>
              <p:cNvCxnSpPr/>
              <p:nvPr/>
            </p:nvCxnSpPr>
            <p:spPr>
              <a:xfrm>
                <a:off x="247124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7" name="Google Shape;87;p5"/>
              <p:cNvCxnSpPr/>
              <p:nvPr/>
            </p:nvCxnSpPr>
            <p:spPr>
              <a:xfrm>
                <a:off x="260241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8" name="Google Shape;88;p5"/>
              <p:cNvCxnSpPr/>
              <p:nvPr/>
            </p:nvCxnSpPr>
            <p:spPr>
              <a:xfrm>
                <a:off x="273358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89" name="Google Shape;89;p5"/>
              <p:cNvCxnSpPr/>
              <p:nvPr/>
            </p:nvCxnSpPr>
            <p:spPr>
              <a:xfrm>
                <a:off x="286476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0" name="Google Shape;90;p5"/>
              <p:cNvCxnSpPr/>
              <p:nvPr/>
            </p:nvCxnSpPr>
            <p:spPr>
              <a:xfrm>
                <a:off x="299593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1" name="Google Shape;91;p5"/>
              <p:cNvCxnSpPr/>
              <p:nvPr/>
            </p:nvCxnSpPr>
            <p:spPr>
              <a:xfrm>
                <a:off x="312710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2" name="Google Shape;92;p5"/>
              <p:cNvCxnSpPr/>
              <p:nvPr/>
            </p:nvCxnSpPr>
            <p:spPr>
              <a:xfrm>
                <a:off x="325827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3" name="Google Shape;93;p5"/>
              <p:cNvCxnSpPr/>
              <p:nvPr/>
            </p:nvCxnSpPr>
            <p:spPr>
              <a:xfrm>
                <a:off x="338945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4" name="Google Shape;94;p5"/>
              <p:cNvCxnSpPr/>
              <p:nvPr/>
            </p:nvCxnSpPr>
            <p:spPr>
              <a:xfrm>
                <a:off x="352062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5" name="Google Shape;95;p5"/>
              <p:cNvCxnSpPr/>
              <p:nvPr/>
            </p:nvCxnSpPr>
            <p:spPr>
              <a:xfrm>
                <a:off x="365179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6" name="Google Shape;96;p5"/>
              <p:cNvCxnSpPr/>
              <p:nvPr/>
            </p:nvCxnSpPr>
            <p:spPr>
              <a:xfrm>
                <a:off x="378297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7" name="Google Shape;97;p5"/>
              <p:cNvCxnSpPr/>
              <p:nvPr/>
            </p:nvCxnSpPr>
            <p:spPr>
              <a:xfrm>
                <a:off x="391414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8" name="Google Shape;98;p5"/>
              <p:cNvCxnSpPr/>
              <p:nvPr/>
            </p:nvCxnSpPr>
            <p:spPr>
              <a:xfrm>
                <a:off x="404531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99" name="Google Shape;99;p5"/>
              <p:cNvCxnSpPr/>
              <p:nvPr/>
            </p:nvCxnSpPr>
            <p:spPr>
              <a:xfrm>
                <a:off x="417649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0" name="Google Shape;100;p5"/>
              <p:cNvCxnSpPr/>
              <p:nvPr/>
            </p:nvCxnSpPr>
            <p:spPr>
              <a:xfrm>
                <a:off x="430766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1" name="Google Shape;101;p5"/>
              <p:cNvCxnSpPr/>
              <p:nvPr/>
            </p:nvCxnSpPr>
            <p:spPr>
              <a:xfrm>
                <a:off x="443883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2" name="Google Shape;102;p5"/>
              <p:cNvCxnSpPr/>
              <p:nvPr/>
            </p:nvCxnSpPr>
            <p:spPr>
              <a:xfrm>
                <a:off x="457000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3" name="Google Shape;103;p5"/>
              <p:cNvCxnSpPr/>
              <p:nvPr/>
            </p:nvCxnSpPr>
            <p:spPr>
              <a:xfrm>
                <a:off x="470118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4" name="Google Shape;104;p5"/>
              <p:cNvCxnSpPr/>
              <p:nvPr/>
            </p:nvCxnSpPr>
            <p:spPr>
              <a:xfrm>
                <a:off x="483235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5" name="Google Shape;105;p5"/>
              <p:cNvCxnSpPr/>
              <p:nvPr/>
            </p:nvCxnSpPr>
            <p:spPr>
              <a:xfrm>
                <a:off x="496352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6" name="Google Shape;106;p5"/>
              <p:cNvCxnSpPr/>
              <p:nvPr/>
            </p:nvCxnSpPr>
            <p:spPr>
              <a:xfrm>
                <a:off x="509470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7" name="Google Shape;107;p5"/>
              <p:cNvCxnSpPr/>
              <p:nvPr/>
            </p:nvCxnSpPr>
            <p:spPr>
              <a:xfrm>
                <a:off x="522587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8" name="Google Shape;108;p5"/>
              <p:cNvCxnSpPr/>
              <p:nvPr/>
            </p:nvCxnSpPr>
            <p:spPr>
              <a:xfrm>
                <a:off x="535704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09" name="Google Shape;109;p5"/>
              <p:cNvCxnSpPr/>
              <p:nvPr/>
            </p:nvCxnSpPr>
            <p:spPr>
              <a:xfrm>
                <a:off x="548822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0" name="Google Shape;110;p5"/>
              <p:cNvCxnSpPr/>
              <p:nvPr/>
            </p:nvCxnSpPr>
            <p:spPr>
              <a:xfrm>
                <a:off x="561939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1" name="Google Shape;111;p5"/>
              <p:cNvCxnSpPr/>
              <p:nvPr/>
            </p:nvCxnSpPr>
            <p:spPr>
              <a:xfrm>
                <a:off x="575056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2" name="Google Shape;112;p5"/>
              <p:cNvCxnSpPr/>
              <p:nvPr/>
            </p:nvCxnSpPr>
            <p:spPr>
              <a:xfrm>
                <a:off x="588173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3" name="Google Shape;113;p5"/>
              <p:cNvCxnSpPr/>
              <p:nvPr/>
            </p:nvCxnSpPr>
            <p:spPr>
              <a:xfrm>
                <a:off x="601291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4" name="Google Shape;114;p5"/>
              <p:cNvCxnSpPr/>
              <p:nvPr/>
            </p:nvCxnSpPr>
            <p:spPr>
              <a:xfrm>
                <a:off x="614408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5" name="Google Shape;115;p5"/>
              <p:cNvCxnSpPr/>
              <p:nvPr/>
            </p:nvCxnSpPr>
            <p:spPr>
              <a:xfrm>
                <a:off x="627525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6" name="Google Shape;116;p5"/>
              <p:cNvCxnSpPr/>
              <p:nvPr/>
            </p:nvCxnSpPr>
            <p:spPr>
              <a:xfrm>
                <a:off x="640643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7" name="Google Shape;117;p5"/>
              <p:cNvCxnSpPr/>
              <p:nvPr/>
            </p:nvCxnSpPr>
            <p:spPr>
              <a:xfrm>
                <a:off x="653760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8" name="Google Shape;118;p5"/>
              <p:cNvCxnSpPr/>
              <p:nvPr/>
            </p:nvCxnSpPr>
            <p:spPr>
              <a:xfrm>
                <a:off x="666877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19" name="Google Shape;119;p5"/>
              <p:cNvCxnSpPr/>
              <p:nvPr/>
            </p:nvCxnSpPr>
            <p:spPr>
              <a:xfrm>
                <a:off x="679995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0" name="Google Shape;120;p5"/>
              <p:cNvCxnSpPr/>
              <p:nvPr/>
            </p:nvCxnSpPr>
            <p:spPr>
              <a:xfrm>
                <a:off x="693112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1" name="Google Shape;121;p5"/>
              <p:cNvCxnSpPr/>
              <p:nvPr/>
            </p:nvCxnSpPr>
            <p:spPr>
              <a:xfrm>
                <a:off x="706229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2" name="Google Shape;122;p5"/>
              <p:cNvCxnSpPr/>
              <p:nvPr/>
            </p:nvCxnSpPr>
            <p:spPr>
              <a:xfrm>
                <a:off x="719346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3" name="Google Shape;123;p5"/>
              <p:cNvCxnSpPr/>
              <p:nvPr/>
            </p:nvCxnSpPr>
            <p:spPr>
              <a:xfrm>
                <a:off x="732464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4" name="Google Shape;124;p5"/>
              <p:cNvCxnSpPr/>
              <p:nvPr/>
            </p:nvCxnSpPr>
            <p:spPr>
              <a:xfrm>
                <a:off x="745581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5" name="Google Shape;125;p5"/>
              <p:cNvCxnSpPr/>
              <p:nvPr/>
            </p:nvCxnSpPr>
            <p:spPr>
              <a:xfrm>
                <a:off x="7586988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6" name="Google Shape;126;p5"/>
              <p:cNvCxnSpPr/>
              <p:nvPr/>
            </p:nvCxnSpPr>
            <p:spPr>
              <a:xfrm>
                <a:off x="7718161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7" name="Google Shape;127;p5"/>
              <p:cNvCxnSpPr/>
              <p:nvPr/>
            </p:nvCxnSpPr>
            <p:spPr>
              <a:xfrm>
                <a:off x="7849334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8" name="Google Shape;128;p5"/>
              <p:cNvCxnSpPr/>
              <p:nvPr/>
            </p:nvCxnSpPr>
            <p:spPr>
              <a:xfrm>
                <a:off x="7980507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29" name="Google Shape;129;p5"/>
              <p:cNvCxnSpPr/>
              <p:nvPr/>
            </p:nvCxnSpPr>
            <p:spPr>
              <a:xfrm>
                <a:off x="8111680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0" name="Google Shape;130;p5"/>
              <p:cNvCxnSpPr/>
              <p:nvPr/>
            </p:nvCxnSpPr>
            <p:spPr>
              <a:xfrm>
                <a:off x="8242853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1" name="Google Shape;131;p5"/>
              <p:cNvCxnSpPr/>
              <p:nvPr/>
            </p:nvCxnSpPr>
            <p:spPr>
              <a:xfrm>
                <a:off x="8374026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2" name="Google Shape;132;p5"/>
              <p:cNvCxnSpPr/>
              <p:nvPr/>
            </p:nvCxnSpPr>
            <p:spPr>
              <a:xfrm>
                <a:off x="8505199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3" name="Google Shape;133;p5"/>
              <p:cNvCxnSpPr/>
              <p:nvPr/>
            </p:nvCxnSpPr>
            <p:spPr>
              <a:xfrm>
                <a:off x="863637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4" name="Google Shape;134;p5"/>
              <p:cNvCxnSpPr/>
              <p:nvPr/>
            </p:nvCxnSpPr>
            <p:spPr>
              <a:xfrm>
                <a:off x="8767545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5" name="Google Shape;135;p5"/>
              <p:cNvCxnSpPr/>
              <p:nvPr/>
            </p:nvCxnSpPr>
            <p:spPr>
              <a:xfrm>
                <a:off x="8898732" y="916827"/>
                <a:ext cx="0" cy="3797693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  <p:grpSp>
          <p:nvGrpSpPr>
            <p:cNvPr id="136" name="Google Shape;136;p5"/>
            <p:cNvGrpSpPr/>
            <p:nvPr/>
          </p:nvGrpSpPr>
          <p:grpSpPr>
            <a:xfrm>
              <a:off x="0" y="4420423"/>
              <a:ext cx="9146191" cy="539409"/>
              <a:chOff x="139700" y="1063145"/>
              <a:chExt cx="8890000" cy="524344"/>
            </a:xfrm>
          </p:grpSpPr>
          <p:cxnSp>
            <p:nvCxnSpPr>
              <p:cNvPr id="137" name="Google Shape;137;p5"/>
              <p:cNvCxnSpPr/>
              <p:nvPr/>
            </p:nvCxnSpPr>
            <p:spPr>
              <a:xfrm>
                <a:off x="139700" y="1063145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8" name="Google Shape;138;p5"/>
              <p:cNvCxnSpPr/>
              <p:nvPr/>
            </p:nvCxnSpPr>
            <p:spPr>
              <a:xfrm>
                <a:off x="139700" y="1194231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39" name="Google Shape;139;p5"/>
              <p:cNvCxnSpPr/>
              <p:nvPr/>
            </p:nvCxnSpPr>
            <p:spPr>
              <a:xfrm>
                <a:off x="139700" y="1325317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0" name="Google Shape;140;p5"/>
              <p:cNvCxnSpPr/>
              <p:nvPr/>
            </p:nvCxnSpPr>
            <p:spPr>
              <a:xfrm>
                <a:off x="139700" y="1456403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  <p:cxnSp>
            <p:nvCxnSpPr>
              <p:cNvPr id="141" name="Google Shape;141;p5"/>
              <p:cNvCxnSpPr/>
              <p:nvPr/>
            </p:nvCxnSpPr>
            <p:spPr>
              <a:xfrm>
                <a:off x="139700" y="1587489"/>
                <a:ext cx="8890000" cy="0"/>
              </a:xfrm>
              <a:prstGeom prst="straightConnector1">
                <a:avLst/>
              </a:prstGeom>
              <a:noFill/>
              <a:ln w="9525" cap="flat" cmpd="sng">
                <a:solidFill>
                  <a:srgbClr val="E9EAEB"/>
                </a:solidFill>
                <a:prstDash val="solid"/>
                <a:miter lim="800000"/>
                <a:headEnd type="none" w="sm" len="sm"/>
                <a:tailEnd type="none" w="sm" len="sm"/>
              </a:ln>
            </p:spPr>
          </p:cxnSp>
        </p:grpSp>
      </p:grpSp>
      <p:pic>
        <p:nvPicPr>
          <p:cNvPr id="142" name="Google Shape;142;p5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694" y="-3958"/>
            <a:ext cx="9144000" cy="628676"/>
          </a:xfrm>
          <a:prstGeom prst="rect">
            <a:avLst/>
          </a:prstGeom>
          <a:noFill/>
          <a:ln>
            <a:noFill/>
          </a:ln>
        </p:spPr>
      </p:pic>
      <p:sp>
        <p:nvSpPr>
          <p:cNvPr id="143" name="Google Shape;143;p5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Google Shape;15;p1">
            <a:extLst>
              <a:ext uri="{FF2B5EF4-FFF2-40B4-BE49-F238E27FC236}">
                <a16:creationId xmlns:a16="http://schemas.microsoft.com/office/drawing/2014/main" id="{F08973F8-C413-FCC2-2B83-79A102A99B40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6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46" name="Google Shape;146;p6"/>
          <p:cNvSpPr txBox="1">
            <a:spLocks noGrp="1"/>
          </p:cNvSpPr>
          <p:nvPr>
            <p:ph type="body" idx="1"/>
          </p:nvPr>
        </p:nvSpPr>
        <p:spPr>
          <a:xfrm>
            <a:off x="6286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7" name="Google Shape;147;p6"/>
          <p:cNvSpPr txBox="1">
            <a:spLocks noGrp="1"/>
          </p:cNvSpPr>
          <p:nvPr>
            <p:ph type="body" idx="2"/>
          </p:nvPr>
        </p:nvSpPr>
        <p:spPr>
          <a:xfrm>
            <a:off x="4629150" y="1369218"/>
            <a:ext cx="3886200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48" name="Google Shape;148;p6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4BFFE57F-1F08-2625-0813-CE2B462F463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>
  <p:cSld name="Comparison">
    <p:spTree>
      <p:nvGrpSpPr>
        <p:cNvPr id="1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7"/>
          <p:cNvSpPr txBox="1">
            <a:spLocks noGrp="1"/>
          </p:cNvSpPr>
          <p:nvPr>
            <p:ph type="body" idx="1"/>
          </p:nvPr>
        </p:nvSpPr>
        <p:spPr>
          <a:xfrm>
            <a:off x="595979" y="820608"/>
            <a:ext cx="386834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2" name="Google Shape;152;p7"/>
          <p:cNvSpPr txBox="1">
            <a:spLocks noGrp="1"/>
          </p:cNvSpPr>
          <p:nvPr>
            <p:ph type="body" idx="2"/>
          </p:nvPr>
        </p:nvSpPr>
        <p:spPr>
          <a:xfrm>
            <a:off x="595979" y="1438541"/>
            <a:ext cx="3868340" cy="30741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3" name="Google Shape;153;p7"/>
          <p:cNvSpPr txBox="1">
            <a:spLocks noGrp="1"/>
          </p:cNvSpPr>
          <p:nvPr>
            <p:ph type="body" idx="3"/>
          </p:nvPr>
        </p:nvSpPr>
        <p:spPr>
          <a:xfrm>
            <a:off x="4663015" y="820608"/>
            <a:ext cx="3887390" cy="61793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  <a:defRPr sz="1349" b="1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154" name="Google Shape;154;p7"/>
          <p:cNvSpPr txBox="1">
            <a:spLocks noGrp="1"/>
          </p:cNvSpPr>
          <p:nvPr>
            <p:ph type="body" idx="4"/>
          </p:nvPr>
        </p:nvSpPr>
        <p:spPr>
          <a:xfrm>
            <a:off x="4663015" y="1438540"/>
            <a:ext cx="3887390" cy="30741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55" name="Google Shape;155;p7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57" name="Google Shape;157;p7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F99958AA-65B1-E8FF-9911-8EF95E1EC3A4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8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0" name="Google Shape;160;p8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7E724D5B-E8D3-AEE6-8B45-066022485DC6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" name="Google Shape;163;p9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" name="Google Shape;15;p1">
            <a:extLst>
              <a:ext uri="{FF2B5EF4-FFF2-40B4-BE49-F238E27FC236}">
                <a16:creationId xmlns:a16="http://schemas.microsoft.com/office/drawing/2014/main" id="{C3107EE2-0A89-A993-D76E-ECEA4FD090BD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endParaRPr lang="de-DE" dirty="0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>
  <p:cSld name="Content with Caption">
    <p:spTree>
      <p:nvGrpSpPr>
        <p:cNvPr id="1" name="Shape 1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6" name="Google Shape;166;p10"/>
          <p:cNvSpPr txBox="1">
            <a:spLocks noGrp="1"/>
          </p:cNvSpPr>
          <p:nvPr>
            <p:ph type="body" idx="1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167" name="Google Shape;167;p10"/>
          <p:cNvSpPr txBox="1">
            <a:spLocks noGrp="1"/>
          </p:cNvSpPr>
          <p:nvPr>
            <p:ph type="body" idx="2"/>
          </p:nvPr>
        </p:nvSpPr>
        <p:spPr>
          <a:xfrm>
            <a:off x="629842" y="1543050"/>
            <a:ext cx="2949177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68" name="Google Shape;168;p10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69" name="Google Shape;169;p10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>
  <p:cSld name="Picture with Caption">
    <p:spTree>
      <p:nvGrpSpPr>
        <p:cNvPr id="1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1" name="Google Shape;171;p11"/>
          <p:cNvSpPr>
            <a:spLocks noGrp="1"/>
          </p:cNvSpPr>
          <p:nvPr>
            <p:ph type="pic" idx="2"/>
          </p:nvPr>
        </p:nvSpPr>
        <p:spPr>
          <a:xfrm>
            <a:off x="3887390" y="740570"/>
            <a:ext cx="4629151" cy="3655219"/>
          </a:xfrm>
          <a:prstGeom prst="rect">
            <a:avLst/>
          </a:prstGeom>
          <a:noFill/>
          <a:ln>
            <a:noFill/>
          </a:ln>
        </p:spPr>
      </p:sp>
      <p:sp>
        <p:nvSpPr>
          <p:cNvPr id="172" name="Google Shape;172;p11"/>
          <p:cNvSpPr txBox="1">
            <a:spLocks noGrp="1"/>
          </p:cNvSpPr>
          <p:nvPr>
            <p:ph type="body" idx="1"/>
          </p:nvPr>
        </p:nvSpPr>
        <p:spPr>
          <a:xfrm>
            <a:off x="629842" y="1543051"/>
            <a:ext cx="2949177" cy="22923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049"/>
              <a:buNone/>
              <a:defRPr sz="1049"/>
            </a:lvl2pPr>
            <a:lvl3pPr marL="1371600" lvl="2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4pPr>
            <a:lvl5pPr marL="2286000" lvl="4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749"/>
              <a:buNone/>
              <a:defRPr sz="749"/>
            </a:lvl5pPr>
            <a:lvl6pPr marL="2743200" lvl="5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6pPr>
            <a:lvl7pPr marL="3200400" lvl="6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7pPr>
            <a:lvl8pPr marL="3657600" lvl="7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8pPr>
            <a:lvl9pPr marL="4114800" lvl="8" indent="-228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749"/>
              <a:buNone/>
              <a:defRPr sz="749"/>
            </a:lvl9pPr>
          </a:lstStyle>
          <a:p>
            <a:endParaRPr/>
          </a:p>
        </p:txBody>
      </p:sp>
      <p:sp>
        <p:nvSpPr>
          <p:cNvPr id="173" name="Google Shape;173;p1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4" name="Google Shape;174;p1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  <p:sp>
        <p:nvSpPr>
          <p:cNvPr id="175" name="Google Shape;175;p11"/>
          <p:cNvSpPr txBox="1"/>
          <p:nvPr/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</a:pPr>
            <a:r>
              <a:rPr lang="de-DE" sz="1889" b="1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rPr>
              <a:t>Click to edit Master title style</a:t>
            </a:r>
            <a:endParaRPr sz="1889" b="1">
              <a:solidFill>
                <a:srgbClr val="0068B4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12"/>
          <p:cNvSpPr txBox="1">
            <a:spLocks noGrp="1"/>
          </p:cNvSpPr>
          <p:nvPr>
            <p:ph type="title"/>
          </p:nvPr>
        </p:nvSpPr>
        <p:spPr>
          <a:xfrm>
            <a:off x="0" y="2"/>
            <a:ext cx="5746505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8" name="Google Shape;178;p12"/>
          <p:cNvSpPr txBox="1">
            <a:spLocks noGrp="1"/>
          </p:cNvSpPr>
          <p:nvPr>
            <p:ph type="body" idx="1"/>
          </p:nvPr>
        </p:nvSpPr>
        <p:spPr>
          <a:xfrm rot="5400000">
            <a:off x="2686192" y="-1184309"/>
            <a:ext cx="3263503" cy="78867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179" name="Google Shape;179;p12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0" name="Google Shape;180;p12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de-DE"/>
              <a:t>‹Nr.›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Google Shape;11;p1"/>
          <p:cNvSpPr/>
          <p:nvPr/>
        </p:nvSpPr>
        <p:spPr>
          <a:xfrm>
            <a:off x="0" y="4972057"/>
            <a:ext cx="9144000" cy="171444"/>
          </a:xfrm>
          <a:prstGeom prst="rect">
            <a:avLst/>
          </a:prstGeom>
          <a:solidFill>
            <a:srgbClr val="0068B4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spcBef>
                <a:spcPts val="0"/>
              </a:spcBef>
              <a:spcAft>
                <a:spcPts val="0"/>
              </a:spcAft>
              <a:buNone/>
            </a:pPr>
            <a:endParaRPr sz="453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" name="Google Shape;12;p1"/>
          <p:cNvSpPr txBox="1">
            <a:spLocks noGrp="1"/>
          </p:cNvSpPr>
          <p:nvPr>
            <p:ph type="title"/>
          </p:nvPr>
        </p:nvSpPr>
        <p:spPr>
          <a:xfrm>
            <a:off x="0" y="2"/>
            <a:ext cx="6858000" cy="52014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89"/>
              <a:buFont typeface="Arial"/>
              <a:buNone/>
              <a:defRPr sz="1889" b="1" i="0" u="none" strike="noStrike" cap="none">
                <a:solidFill>
                  <a:srgbClr val="0068B4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>
            <a:endParaRPr dirty="0"/>
          </a:p>
        </p:txBody>
      </p:sp>
      <p:sp>
        <p:nvSpPr>
          <p:cNvPr id="13" name="Google Shape;13;p1"/>
          <p:cNvSpPr txBox="1">
            <a:spLocks noGrp="1"/>
          </p:cNvSpPr>
          <p:nvPr>
            <p:ph type="body" idx="1"/>
          </p:nvPr>
        </p:nvSpPr>
        <p:spPr>
          <a:xfrm>
            <a:off x="374593" y="1127290"/>
            <a:ext cx="7886701" cy="326350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 dirty="0"/>
          </a:p>
        </p:txBody>
      </p:sp>
      <p:sp>
        <p:nvSpPr>
          <p:cNvPr id="14" name="Google Shape;14;p1"/>
          <p:cNvSpPr txBox="1">
            <a:spLocks noGrp="1"/>
          </p:cNvSpPr>
          <p:nvPr>
            <p:ph type="ftr" idx="11"/>
          </p:nvPr>
        </p:nvSpPr>
        <p:spPr>
          <a:xfrm>
            <a:off x="285777" y="4972054"/>
            <a:ext cx="3086099" cy="1714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794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400"/>
              <a:buNone/>
              <a:defRPr sz="285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5" name="Google Shape;15;p1"/>
          <p:cNvSpPr txBox="1"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0" bIns="45700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800" b="1" i="0" u="none" strike="noStrike" cap="none">
                <a:solidFill>
                  <a:schemeClr val="lt1"/>
                </a:solidFill>
                <a:latin typeface="+mn-lt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790" b="1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de-DE" smtClean="0"/>
              <a:pPr/>
              <a:t>‹Nr.›</a:t>
            </a:fld>
            <a:r>
              <a:rPr lang="de-DE" dirty="0"/>
              <a:t>/39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E8380942-6E93-7F03-C832-B9ABFB4DCBF1}"/>
              </a:ext>
            </a:extLst>
          </p:cNvPr>
          <p:cNvPicPr>
            <a:picLocks noChangeAspect="1"/>
          </p:cNvPicPr>
          <p:nvPr userDrawn="1"/>
        </p:nvPicPr>
        <p:blipFill>
          <a:blip r:embed="rId13"/>
          <a:stretch>
            <a:fillRect/>
          </a:stretch>
        </p:blipFill>
        <p:spPr>
          <a:xfrm>
            <a:off x="7013575" y="101601"/>
            <a:ext cx="2130425" cy="362766"/>
          </a:xfrm>
          <a:prstGeom prst="rect">
            <a:avLst/>
          </a:prstGeom>
        </p:spPr>
      </p:pic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CA82F7F-2B67-C6E1-2130-36906CEDDA44}"/>
              </a:ext>
            </a:extLst>
          </p:cNvPr>
          <p:cNvCxnSpPr>
            <a:cxnSpLocks/>
          </p:cNvCxnSpPr>
          <p:nvPr userDrawn="1"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j-lt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+mn-lt"/>
          <a:ea typeface="Calibri" panose="020F0502020204030204" pitchFamily="34" charset="0"/>
          <a:cs typeface="Calibri" panose="020F0502020204030204" pitchFamily="34" charset="0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1.xml"/><Relationship Id="rId7" Type="http://schemas.microsoft.com/office/2007/relationships/diagramDrawing" Target="../diagrams/drawing1.xml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1.xml"/><Relationship Id="rId5" Type="http://schemas.openxmlformats.org/officeDocument/2006/relationships/diagramQuickStyle" Target="../diagrams/quickStyle1.xml"/><Relationship Id="rId4" Type="http://schemas.openxmlformats.org/officeDocument/2006/relationships/diagramLayout" Target="../diagrams/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2.xml"/><Relationship Id="rId7" Type="http://schemas.microsoft.com/office/2007/relationships/diagramDrawing" Target="../diagrams/drawing2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2.xml"/><Relationship Id="rId5" Type="http://schemas.openxmlformats.org/officeDocument/2006/relationships/diagramQuickStyle" Target="../diagrams/quickStyle2.xml"/><Relationship Id="rId4" Type="http://schemas.openxmlformats.org/officeDocument/2006/relationships/diagramLayout" Target="../diagrams/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jpe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3.xml"/><Relationship Id="rId7" Type="http://schemas.microsoft.com/office/2007/relationships/diagramDrawing" Target="../diagrams/drawing3.xml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3.xml"/><Relationship Id="rId5" Type="http://schemas.openxmlformats.org/officeDocument/2006/relationships/diagramQuickStyle" Target="../diagrams/quickStyle3.xml"/><Relationship Id="rId4" Type="http://schemas.openxmlformats.org/officeDocument/2006/relationships/diagramLayout" Target="../diagrams/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jp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8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4.xml"/><Relationship Id="rId7" Type="http://schemas.microsoft.com/office/2007/relationships/diagramDrawing" Target="../diagrams/drawing4.xml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4.xml"/><Relationship Id="rId5" Type="http://schemas.openxmlformats.org/officeDocument/2006/relationships/diagramQuickStyle" Target="../diagrams/quickStyle4.xml"/><Relationship Id="rId4" Type="http://schemas.openxmlformats.org/officeDocument/2006/relationships/diagramLayout" Target="../diagrams/layout4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jp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diagramData" Target="../diagrams/data5.xml"/><Relationship Id="rId7" Type="http://schemas.microsoft.com/office/2007/relationships/diagramDrawing" Target="../diagrams/drawing5.xml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3.xml"/><Relationship Id="rId6" Type="http://schemas.openxmlformats.org/officeDocument/2006/relationships/diagramColors" Target="../diagrams/colors5.xml"/><Relationship Id="rId5" Type="http://schemas.openxmlformats.org/officeDocument/2006/relationships/diagramQuickStyle" Target="../diagrams/quickStyle5.xml"/><Relationship Id="rId4" Type="http://schemas.openxmlformats.org/officeDocument/2006/relationships/diagramLayout" Target="../diagrams/layout5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38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8" Type="http://schemas.openxmlformats.org/officeDocument/2006/relationships/hyperlink" Target="https://www.researchgate.net/figure/Convolution-of-a-signal-with-a-wavelet-function-Part-of-this-figure-is-taken-from-1_fig1_51918746" TargetMode="External"/><Relationship Id="rId3" Type="http://schemas.openxmlformats.org/officeDocument/2006/relationships/hyperlink" Target="https://www.hubs.com/de/wissensbasis/3d-druck-vs-cnc-bearbeitung/" TargetMode="External"/><Relationship Id="rId7" Type="http://schemas.openxmlformats.org/officeDocument/2006/relationships/hyperlink" Target="https://en.wikipedia.org/wiki/Ricker_wavelet" TargetMode="External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en.wikipedia.org/wiki/Topographic_prominence" TargetMode="External"/><Relationship Id="rId5" Type="http://schemas.openxmlformats.org/officeDocument/2006/relationships/hyperlink" Target="https://www.mdpi.com/1996-1073/17/15/3659" TargetMode="External"/><Relationship Id="rId10" Type="http://schemas.openxmlformats.org/officeDocument/2006/relationships/hyperlink" Target="https://www.researchgate.net/figure/Pareto-front-distribution-of-the-optimization-problem_fig1_374617028" TargetMode="External"/><Relationship Id="rId4" Type="http://schemas.openxmlformats.org/officeDocument/2006/relationships/hyperlink" Target="https://www.fptindustrie.com/deu/" TargetMode="External"/><Relationship Id="rId9" Type="http://schemas.openxmlformats.org/officeDocument/2006/relationships/hyperlink" Target="https://blog.dailydoseofds.com/p/the-limitations-of-dbscan-clustering" TargetMode="Externa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3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Google Shape;185;p13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1" cy="37365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186" name="Google Shape;186;p13"/>
          <p:cNvSpPr txBox="1">
            <a:spLocks noGrp="1"/>
          </p:cNvSpPr>
          <p:nvPr>
            <p:ph type="ctrTitle"/>
          </p:nvPr>
        </p:nvSpPr>
        <p:spPr>
          <a:xfrm>
            <a:off x="800176" y="1113959"/>
            <a:ext cx="6858001" cy="3975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r>
              <a:rPr lang="en-US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ct val="98965"/>
              <a:buFont typeface="Arial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187" name="Google Shape;187;p13"/>
          <p:cNvSpPr txBox="1"/>
          <p:nvPr/>
        </p:nvSpPr>
        <p:spPr>
          <a:xfrm>
            <a:off x="800662" y="2171650"/>
            <a:ext cx="5836200" cy="629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Font typeface="Arial"/>
              <a:buNone/>
            </a:pPr>
            <a:r>
              <a:rPr lang="en-US" sz="1745" b="1" noProof="0" dirty="0">
                <a:solidFill>
                  <a:schemeClr val="dk1"/>
                </a:solidFill>
                <a:latin typeface="+mn-lt"/>
              </a:rPr>
              <a:t>Nestor Weidemann, Nathira Wijemanne</a:t>
            </a:r>
            <a:endParaRPr lang="en-US" noProof="0" dirty="0">
              <a:solidFill>
                <a:schemeClr val="dk1"/>
              </a:solidFill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sz="1745" b="1" noProof="0" dirty="0">
              <a:solidFill>
                <a:schemeClr val="dk1"/>
              </a:solidFill>
              <a:latin typeface="+mn-lt"/>
            </a:endParaRPr>
          </a:p>
        </p:txBody>
      </p:sp>
      <p:sp>
        <p:nvSpPr>
          <p:cNvPr id="188" name="Google Shape;188;p13"/>
          <p:cNvSpPr txBox="1"/>
          <p:nvPr/>
        </p:nvSpPr>
        <p:spPr>
          <a:xfrm>
            <a:off x="800639" y="2683833"/>
            <a:ext cx="4859211" cy="77611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Autonomous </a:t>
            </a:r>
            <a:r>
              <a:rPr lang="en-US" sz="1111" noProof="0" dirty="0" err="1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Multisensor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 Systems Group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Institute for Intelligent Cooperating Systems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Faculty of Computer Science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Otto von Guericke University Magdeburg</a:t>
            </a:r>
            <a:endParaRPr lang="en-US" noProof="0" dirty="0">
              <a:latin typeface="+mn-lt"/>
            </a:endParaRPr>
          </a:p>
        </p:txBody>
      </p:sp>
      <p:sp>
        <p:nvSpPr>
          <p:cNvPr id="189" name="Google Shape;189;p13"/>
          <p:cNvSpPr txBox="1"/>
          <p:nvPr/>
        </p:nvSpPr>
        <p:spPr>
          <a:xfrm>
            <a:off x="800639" y="3621390"/>
            <a:ext cx="4859211" cy="2632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</a:rPr>
              <a:t>16.09.2025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C680B5C4-7A90-0138-37CA-B5E3178E58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49F2518E-09E2-136D-6C0A-537E7B386207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118877637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AC130F60-02D6-0247-AADE-50E57B67276D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A86999ED-3D71-175E-7396-CB6550AC2F9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9614DEB9-45BC-602D-153B-4C2E253772A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98878290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B2B1B41A-FF19-2F03-7A49-C8D2563315E7}"/>
              </a:ext>
            </a:extLst>
          </p:cNvPr>
          <p:cNvSpPr txBox="1">
            <a:spLocks/>
          </p:cNvSpPr>
          <p:nvPr/>
        </p:nvSpPr>
        <p:spPr>
          <a:xfrm>
            <a:off x="359999" y="752812"/>
            <a:ext cx="8424000" cy="36378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Motivation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Sustainability</a:t>
            </a: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 and energy efficiency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Computer Numerical Control </a:t>
            </a:r>
            <a:r>
              <a:rPr lang="en-US" sz="1700" dirty="0"/>
              <a:t>(</a:t>
            </a:r>
            <a:r>
              <a:rPr lang="en-US" sz="17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CNC) machines are widely used in modern manufacturing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4CD1593C-8847-F457-80C6-94416607D69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96E465E3-518E-80CE-D6D3-CF1326BA82FB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E44A0664-51C6-56EA-2DA9-A8E0EB7A9B84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C5411DE1-DA48-8711-5BA1-F478E37AC0A3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24DEBE39-D3B2-C790-A707-EAC919383251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F9BE50DB-6172-CD6D-D255-BE3B1F3CAC7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AFB0A36E-CC78-C8DC-DE32-1CC62C644CD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3B370674-6578-7597-9125-F9A763FD2E33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</a:t>
            </a:fld>
            <a:r>
              <a:rPr lang="en-US" noProof="0" dirty="0"/>
              <a:t> / 39</a:t>
            </a:r>
          </a:p>
        </p:txBody>
      </p:sp>
      <p:pic>
        <p:nvPicPr>
          <p:cNvPr id="1030" name="Picture 6" descr="3D printing vs. CNC machining: Which is better for prototyping and end-use  parts? | Protolabs Network">
            <a:extLst>
              <a:ext uri="{FF2B5EF4-FFF2-40B4-BE49-F238E27FC236}">
                <a16:creationId xmlns:a16="http://schemas.microsoft.com/office/drawing/2014/main" id="{09EFA87F-A367-EA23-E886-C287978357E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03274" y="2179781"/>
            <a:ext cx="3537451" cy="221090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feld 2">
            <a:extLst>
              <a:ext uri="{FF2B5EF4-FFF2-40B4-BE49-F238E27FC236}">
                <a16:creationId xmlns:a16="http://schemas.microsoft.com/office/drawing/2014/main" id="{697A7E04-1BE4-7200-F6B1-AEE4B338E8C0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[1]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D43BF660-44B5-EE67-3947-71A935E9F3B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0EC829C7-1019-23DC-3ABC-ABCC307D97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3329BFCD-EE8A-EC84-7F89-3938F51B6764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2195233"/>
            <a:ext cx="545891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Consequences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Stress on the drive electronics, leading to a reduced motor lifespan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Increase in energy consumption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FFB46598-C77E-2422-C7CE-015FD1107BD1}"/>
              </a:ext>
            </a:extLst>
          </p:cNvPr>
          <p:cNvSpPr txBox="1">
            <a:spLocks/>
          </p:cNvSpPr>
          <p:nvPr/>
        </p:nvSpPr>
        <p:spPr>
          <a:xfrm>
            <a:off x="359999" y="752811"/>
            <a:ext cx="8424000" cy="181893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Problem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Sudden power surges can occur in the motor current of a milling machine</a:t>
            </a: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E78CA870-58CA-3A5C-5AED-C011D3CFBE6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40582" y="2318372"/>
            <a:ext cx="2743417" cy="15726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0" name="Gruppieren 9">
            <a:extLst>
              <a:ext uri="{FF2B5EF4-FFF2-40B4-BE49-F238E27FC236}">
                <a16:creationId xmlns:a16="http://schemas.microsoft.com/office/drawing/2014/main" id="{64DBCBA1-8820-3422-5EA4-7067B4D4A08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1" name="Gruppieren 10">
              <a:extLst>
                <a:ext uri="{FF2B5EF4-FFF2-40B4-BE49-F238E27FC236}">
                  <a16:creationId xmlns:a16="http://schemas.microsoft.com/office/drawing/2014/main" id="{E58E4AB1-353D-018C-2F37-CE9C0D83D0A8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3" name="Richtungspfeil 33">
                <a:extLst>
                  <a:ext uri="{FF2B5EF4-FFF2-40B4-BE49-F238E27FC236}">
                    <a16:creationId xmlns:a16="http://schemas.microsoft.com/office/drawing/2014/main" id="{F149A797-460C-33F3-F8B7-86799521BC58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4" name="Eingekerbter Richtungspfeil 1">
                <a:extLst>
                  <a:ext uri="{FF2B5EF4-FFF2-40B4-BE49-F238E27FC236}">
                    <a16:creationId xmlns:a16="http://schemas.microsoft.com/office/drawing/2014/main" id="{82BA364F-0E0E-42DF-503C-EF5DECFAFDB4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5" name="Eingekerbter Richtungspfeil 10">
                <a:extLst>
                  <a:ext uri="{FF2B5EF4-FFF2-40B4-BE49-F238E27FC236}">
                    <a16:creationId xmlns:a16="http://schemas.microsoft.com/office/drawing/2014/main" id="{ED3A06D9-32CA-6BF0-6E51-8BE4FC72E95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6" name="Eingekerbter Richtungspfeil 11">
                <a:extLst>
                  <a:ext uri="{FF2B5EF4-FFF2-40B4-BE49-F238E27FC236}">
                    <a16:creationId xmlns:a16="http://schemas.microsoft.com/office/drawing/2014/main" id="{247D5839-A9A1-220D-F57C-D33ABDC9BB4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2" name="Eingekerbter Richtungspfeil 11">
              <a:extLst>
                <a:ext uri="{FF2B5EF4-FFF2-40B4-BE49-F238E27FC236}">
                  <a16:creationId xmlns:a16="http://schemas.microsoft.com/office/drawing/2014/main" id="{93603169-871B-FC37-D9C9-5EF13BB4DB3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Foliennummernplatzhalter 17">
            <a:extLst>
              <a:ext uri="{FF2B5EF4-FFF2-40B4-BE49-F238E27FC236}">
                <a16:creationId xmlns:a16="http://schemas.microsoft.com/office/drawing/2014/main" id="{1DA5372C-EE78-CAED-ABAD-EAF869322E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</a:t>
            </a:fld>
            <a:r>
              <a:rPr lang="en-US" noProof="0" dirty="0"/>
              <a:t> / 39</a:t>
            </a:r>
          </a:p>
        </p:txBody>
      </p:sp>
      <p:sp>
        <p:nvSpPr>
          <p:cNvPr id="3" name="Textfeld 2">
            <a:extLst>
              <a:ext uri="{FF2B5EF4-FFF2-40B4-BE49-F238E27FC236}">
                <a16:creationId xmlns:a16="http://schemas.microsoft.com/office/drawing/2014/main" id="{196E11A9-E81D-1CD2-F116-447F2CC8638D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[2]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4E624B24-180C-1456-F3E0-FBD4C5DBB67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2508085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/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Task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Implement and compare different approaches for peak detection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endParaRPr lang="en-US" sz="1700" noProof="0" dirty="0">
              <a:latin typeface="+mn-lt"/>
            </a:endParaRP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Goal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Identify sudden power surges</a:t>
            </a:r>
          </a:p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700"/>
              <a:buChar char="•"/>
            </a:pPr>
            <a:r>
              <a:rPr lang="en-US" sz="1700" noProof="0" dirty="0">
                <a:latin typeface="+mn-lt"/>
              </a:rPr>
              <a:t>Detect anomalies or inefficiencies</a:t>
            </a:r>
          </a:p>
        </p:txBody>
      </p:sp>
      <p:pic>
        <p:nvPicPr>
          <p:cNvPr id="2052" name="Picture 4" descr="A Review on Recent Advances in the Energy Efficiency of Machining Processes for Sustainability">
            <a:extLst>
              <a:ext uri="{FF2B5EF4-FFF2-40B4-BE49-F238E27FC236}">
                <a16:creationId xmlns:a16="http://schemas.microsoft.com/office/drawing/2014/main" id="{4156BD4C-6256-A24B-FCA8-36C30C59562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81170" y="1826952"/>
            <a:ext cx="3261467" cy="263289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12" name="Gruppieren 11">
            <a:extLst>
              <a:ext uri="{FF2B5EF4-FFF2-40B4-BE49-F238E27FC236}">
                <a16:creationId xmlns:a16="http://schemas.microsoft.com/office/drawing/2014/main" id="{3FCC2789-93C4-E14D-74B1-D5745C6104C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3" name="Gruppieren 12">
              <a:extLst>
                <a:ext uri="{FF2B5EF4-FFF2-40B4-BE49-F238E27FC236}">
                  <a16:creationId xmlns:a16="http://schemas.microsoft.com/office/drawing/2014/main" id="{8B4B1652-F2C6-251D-C801-9211278635C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5" name="Richtungspfeil 33">
                <a:extLst>
                  <a:ext uri="{FF2B5EF4-FFF2-40B4-BE49-F238E27FC236}">
                    <a16:creationId xmlns:a16="http://schemas.microsoft.com/office/drawing/2014/main" id="{DA4D6300-7165-CF3C-B91B-52DCB8BC44F9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">
                <a:extLst>
                  <a:ext uri="{FF2B5EF4-FFF2-40B4-BE49-F238E27FC236}">
                    <a16:creationId xmlns:a16="http://schemas.microsoft.com/office/drawing/2014/main" id="{6AA8A506-99D9-7F05-D5CE-33F6BF3750DF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7" name="Eingekerbter Richtungspfeil 10">
                <a:extLst>
                  <a:ext uri="{FF2B5EF4-FFF2-40B4-BE49-F238E27FC236}">
                    <a16:creationId xmlns:a16="http://schemas.microsoft.com/office/drawing/2014/main" id="{392974A0-DA25-B7BA-45B1-D35DF44FAEB6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8" name="Eingekerbter Richtungspfeil 11">
                <a:extLst>
                  <a:ext uri="{FF2B5EF4-FFF2-40B4-BE49-F238E27FC236}">
                    <a16:creationId xmlns:a16="http://schemas.microsoft.com/office/drawing/2014/main" id="{3F117BAC-7091-99CF-8DC4-BCBD99044E4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4" name="Eingekerbter Richtungspfeil 11">
              <a:extLst>
                <a:ext uri="{FF2B5EF4-FFF2-40B4-BE49-F238E27FC236}">
                  <a16:creationId xmlns:a16="http://schemas.microsoft.com/office/drawing/2014/main" id="{29286F60-71BF-7038-7018-369D8246B03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0" name="Foliennummernplatzhalter 19">
            <a:extLst>
              <a:ext uri="{FF2B5EF4-FFF2-40B4-BE49-F238E27FC236}">
                <a16:creationId xmlns:a16="http://schemas.microsoft.com/office/drawing/2014/main" id="{4A3A731A-6D1A-AFDE-78A7-41DB5C75F01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5</a:t>
            </a:fld>
            <a:r>
              <a:rPr lang="en-US" noProof="0" dirty="0"/>
              <a:t> / 39</a:t>
            </a:r>
          </a:p>
        </p:txBody>
      </p:sp>
      <p:sp>
        <p:nvSpPr>
          <p:cNvPr id="2" name="Textfeld 1">
            <a:extLst>
              <a:ext uri="{FF2B5EF4-FFF2-40B4-BE49-F238E27FC236}">
                <a16:creationId xmlns:a16="http://schemas.microsoft.com/office/drawing/2014/main" id="{B5EA6ADE-A8CB-19B1-467D-84BEAA261371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[3]</a:t>
            </a:r>
          </a:p>
        </p:txBody>
      </p:sp>
      <p:sp>
        <p:nvSpPr>
          <p:cNvPr id="3" name="Google Shape;206;p15">
            <a:extLst>
              <a:ext uri="{FF2B5EF4-FFF2-40B4-BE49-F238E27FC236}">
                <a16:creationId xmlns:a16="http://schemas.microsoft.com/office/drawing/2014/main" id="{4AFDF3E4-B3E9-D719-3811-1A87F14D71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>
          <a:extLst>
            <a:ext uri="{FF2B5EF4-FFF2-40B4-BE49-F238E27FC236}">
              <a16:creationId xmlns:a16="http://schemas.microsoft.com/office/drawing/2014/main" id="{AFBA6E69-58C3-342A-B77B-F35FC1E142F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5">
            <a:extLst>
              <a:ext uri="{FF2B5EF4-FFF2-40B4-BE49-F238E27FC236}">
                <a16:creationId xmlns:a16="http://schemas.microsoft.com/office/drawing/2014/main" id="{1DC1D613-7FD8-D237-73C2-B72A8E6F6DD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 algn="l" rtl="0">
              <a:lnSpc>
                <a:spcPct val="95000"/>
              </a:lnSpc>
              <a:spcBef>
                <a:spcPts val="1200"/>
              </a:spcBef>
              <a:spcAft>
                <a:spcPts val="0"/>
              </a:spcAft>
              <a:buSzPts val="1100"/>
              <a:buNone/>
            </a:pPr>
            <a:r>
              <a:rPr lang="en-US" sz="1700" noProof="0" dirty="0">
                <a:latin typeface="+mn-lt"/>
              </a:rPr>
              <a:t>Analysis of peak characteristics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SzPts val="1100"/>
            </a:pPr>
            <a:endParaRPr lang="en-US" sz="1700" noProof="0" dirty="0">
              <a:latin typeface="+mn-lt"/>
            </a:endParaRPr>
          </a:p>
        </p:txBody>
      </p:sp>
      <p:pic>
        <p:nvPicPr>
          <p:cNvPr id="3" name="Grafik 2" descr="Ein Bild, das Text, Reihe, Diagramm, Schrift enthält.&#10;&#10;KI-generierte Inhalte können fehlerhaft sein.">
            <a:extLst>
              <a:ext uri="{FF2B5EF4-FFF2-40B4-BE49-F238E27FC236}">
                <a16:creationId xmlns:a16="http://schemas.microsoft.com/office/drawing/2014/main" id="{078571E8-4E3D-8867-81DD-66DE49A0C58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9999" y="1362730"/>
            <a:ext cx="3238544" cy="1380470"/>
          </a:xfrm>
          <a:prstGeom prst="rect">
            <a:avLst/>
          </a:prstGeom>
        </p:spPr>
      </p:pic>
      <p:pic>
        <p:nvPicPr>
          <p:cNvPr id="5" name="Grafik 4" descr="Ein Bild, das Reihe, Diagramm, Text, parallel enthält.&#10;&#10;KI-generierte Inhalte können fehlerhaft sein.">
            <a:extLst>
              <a:ext uri="{FF2B5EF4-FFF2-40B4-BE49-F238E27FC236}">
                <a16:creationId xmlns:a16="http://schemas.microsoft.com/office/drawing/2014/main" id="{8694FF82-1FE3-4E59-C7A2-AC43D13D28C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59998" y="3002208"/>
            <a:ext cx="3237055" cy="1380470"/>
          </a:xfrm>
          <a:prstGeom prst="rect">
            <a:avLst/>
          </a:prstGeom>
        </p:spPr>
      </p:pic>
      <p:pic>
        <p:nvPicPr>
          <p:cNvPr id="7" name="Grafik 6" descr="Ein Bild, das Reihe, Diagramm, Text, Zahl enthält.&#10;&#10;KI-generierte Inhalte können fehlerhaft sein.">
            <a:extLst>
              <a:ext uri="{FF2B5EF4-FFF2-40B4-BE49-F238E27FC236}">
                <a16:creationId xmlns:a16="http://schemas.microsoft.com/office/drawing/2014/main" id="{C8C955F4-1FB3-C6B1-19AB-37D7999D78C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866551" y="1362730"/>
            <a:ext cx="3238543" cy="1380471"/>
          </a:xfrm>
          <a:prstGeom prst="rect">
            <a:avLst/>
          </a:prstGeom>
        </p:spPr>
      </p:pic>
      <p:pic>
        <p:nvPicPr>
          <p:cNvPr id="9" name="Grafik 8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B891B9E8-5892-814A-E3A5-E9894A9B8D2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5062" y="3002208"/>
            <a:ext cx="3237055" cy="1364945"/>
          </a:xfrm>
          <a:prstGeom prst="rect">
            <a:avLst/>
          </a:prstGeom>
        </p:spPr>
      </p:pic>
      <p:sp>
        <p:nvSpPr>
          <p:cNvPr id="11" name="Rechteck 10">
            <a:extLst>
              <a:ext uri="{FF2B5EF4-FFF2-40B4-BE49-F238E27FC236}">
                <a16:creationId xmlns:a16="http://schemas.microsoft.com/office/drawing/2014/main" id="{60962D1A-CF1E-F056-4FC3-52A1C1A0B8FE}"/>
              </a:ext>
            </a:extLst>
          </p:cNvPr>
          <p:cNvSpPr/>
          <p:nvPr/>
        </p:nvSpPr>
        <p:spPr>
          <a:xfrm>
            <a:off x="2749550" y="3062578"/>
            <a:ext cx="241300" cy="1182030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sp>
        <p:nvSpPr>
          <p:cNvPr id="12" name="Rechteck 11">
            <a:extLst>
              <a:ext uri="{FF2B5EF4-FFF2-40B4-BE49-F238E27FC236}">
                <a16:creationId xmlns:a16="http://schemas.microsoft.com/office/drawing/2014/main" id="{E6315B3A-0D59-00EA-DCE1-8E17C3AB36A6}"/>
              </a:ext>
            </a:extLst>
          </p:cNvPr>
          <p:cNvSpPr/>
          <p:nvPr/>
        </p:nvSpPr>
        <p:spPr>
          <a:xfrm>
            <a:off x="1069181" y="1402556"/>
            <a:ext cx="83344" cy="1197764"/>
          </a:xfrm>
          <a:prstGeom prst="rect">
            <a:avLst/>
          </a:prstGeom>
          <a:noFill/>
          <a:ln>
            <a:solidFill>
              <a:srgbClr val="FFC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noProof="0" dirty="0"/>
          </a:p>
        </p:txBody>
      </p:sp>
      <p:cxnSp>
        <p:nvCxnSpPr>
          <p:cNvPr id="14" name="Gerade Verbindung mit Pfeil 13">
            <a:extLst>
              <a:ext uri="{FF2B5EF4-FFF2-40B4-BE49-F238E27FC236}">
                <a16:creationId xmlns:a16="http://schemas.microsoft.com/office/drawing/2014/main" id="{A1A92B2E-3D35-638F-4AE1-D731630CE0B9}"/>
              </a:ext>
            </a:extLst>
          </p:cNvPr>
          <p:cNvCxnSpPr>
            <a:cxnSpLocks/>
          </p:cNvCxnSpPr>
          <p:nvPr/>
        </p:nvCxnSpPr>
        <p:spPr>
          <a:xfrm flipV="1">
            <a:off x="1152525" y="2417128"/>
            <a:ext cx="3669027" cy="7434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9E2926F3-3915-F957-BED3-879D55DBFD59}"/>
              </a:ext>
            </a:extLst>
          </p:cNvPr>
          <p:cNvCxnSpPr>
            <a:cxnSpLocks/>
          </p:cNvCxnSpPr>
          <p:nvPr/>
        </p:nvCxnSpPr>
        <p:spPr>
          <a:xfrm>
            <a:off x="2990850" y="3959714"/>
            <a:ext cx="1874212" cy="0"/>
          </a:xfrm>
          <a:prstGeom prst="straightConnector1">
            <a:avLst/>
          </a:prstGeom>
          <a:ln w="19050">
            <a:solidFill>
              <a:srgbClr val="FFC000"/>
            </a:solidFill>
            <a:tailEnd type="triangle"/>
          </a:ln>
        </p:spPr>
        <p:style>
          <a:lnRef idx="1">
            <a:schemeClr val="accent4"/>
          </a:lnRef>
          <a:fillRef idx="0">
            <a:schemeClr val="accent4"/>
          </a:fillRef>
          <a:effectRef idx="0">
            <a:schemeClr val="accent4"/>
          </a:effectRef>
          <a:fontRef idx="minor">
            <a:schemeClr val="tx1"/>
          </a:fontRef>
        </p:style>
      </p:cxnSp>
      <p:grpSp>
        <p:nvGrpSpPr>
          <p:cNvPr id="19" name="Gruppieren 18">
            <a:extLst>
              <a:ext uri="{FF2B5EF4-FFF2-40B4-BE49-F238E27FC236}">
                <a16:creationId xmlns:a16="http://schemas.microsoft.com/office/drawing/2014/main" id="{0F2C406F-CC76-2E30-34D5-6BCA751A4E5D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20" name="Gruppieren 19">
              <a:extLst>
                <a:ext uri="{FF2B5EF4-FFF2-40B4-BE49-F238E27FC236}">
                  <a16:creationId xmlns:a16="http://schemas.microsoft.com/office/drawing/2014/main" id="{510343FB-D714-DDAE-1C24-7941E117648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22" name="Richtungspfeil 33">
                <a:extLst>
                  <a:ext uri="{FF2B5EF4-FFF2-40B4-BE49-F238E27FC236}">
                    <a16:creationId xmlns:a16="http://schemas.microsoft.com/office/drawing/2014/main" id="{A3096361-9B28-D621-9EBB-CE47DF71A47F}"/>
                  </a:ext>
                </a:extLst>
              </p:cNvPr>
              <p:cNvSpPr/>
              <p:nvPr/>
            </p:nvSpPr>
            <p:spPr>
              <a:xfrm>
                <a:off x="958348" y="787644"/>
                <a:ext cx="2369643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 Introduction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23" name="Eingekerbter Richtungspfeil 1">
                <a:extLst>
                  <a:ext uri="{FF2B5EF4-FFF2-40B4-BE49-F238E27FC236}">
                    <a16:creationId xmlns:a16="http://schemas.microsoft.com/office/drawing/2014/main" id="{73C8058C-9E61-F90B-DF3D-D906ECB02FD6}"/>
                  </a:ext>
                </a:extLst>
              </p:cNvPr>
              <p:cNvSpPr/>
              <p:nvPr/>
            </p:nvSpPr>
            <p:spPr>
              <a:xfrm>
                <a:off x="3333216" y="787644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4" name="Eingekerbter Richtungspfeil 10">
                <a:extLst>
                  <a:ext uri="{FF2B5EF4-FFF2-40B4-BE49-F238E27FC236}">
                    <a16:creationId xmlns:a16="http://schemas.microsoft.com/office/drawing/2014/main" id="{983DD6FD-ADD8-653D-8A86-DB4C508FDC1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5" name="Eingekerbter Richtungspfeil 11">
                <a:extLst>
                  <a:ext uri="{FF2B5EF4-FFF2-40B4-BE49-F238E27FC236}">
                    <a16:creationId xmlns:a16="http://schemas.microsoft.com/office/drawing/2014/main" id="{1EBCB220-7A38-9CA3-6661-AAC8DBB2013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21" name="Eingekerbter Richtungspfeil 11">
              <a:extLst>
                <a:ext uri="{FF2B5EF4-FFF2-40B4-BE49-F238E27FC236}">
                  <a16:creationId xmlns:a16="http://schemas.microsoft.com/office/drawing/2014/main" id="{4E5D29CA-3CD2-4400-E319-2C0B9B24A73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27" name="Foliennummernplatzhalter 26">
            <a:extLst>
              <a:ext uri="{FF2B5EF4-FFF2-40B4-BE49-F238E27FC236}">
                <a16:creationId xmlns:a16="http://schemas.microsoft.com/office/drawing/2014/main" id="{4C02A5D6-2116-946B-7BA0-53CC5E35A48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6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D0DF3CCD-D822-E2E1-A1B5-90400B99124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80799794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9B3728D0-374F-D5AC-A5ED-FA116D62A4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9ABCD404-DA33-FB50-9BA9-EE291F83ABF4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792179500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5A85E2A2-1A53-977E-CEFC-F0B5AF5E8C22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FA7A9ED-6A1F-6888-3B7D-DD7FAC6E844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7</a:t>
            </a:fld>
            <a:r>
              <a:rPr lang="en-US" noProof="0" dirty="0"/>
              <a:t> / 39</a:t>
            </a:r>
          </a:p>
        </p:txBody>
      </p:sp>
      <p:sp>
        <p:nvSpPr>
          <p:cNvPr id="4" name="Google Shape;206;p15">
            <a:extLst>
              <a:ext uri="{FF2B5EF4-FFF2-40B4-BE49-F238E27FC236}">
                <a16:creationId xmlns:a16="http://schemas.microsoft.com/office/drawing/2014/main" id="{E060FFBB-C841-CA09-37CE-418241AFFA92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74521701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25C34C0E-EE6D-6A01-04C3-49ED16174E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Rechteck 21">
            <a:extLst>
              <a:ext uri="{FF2B5EF4-FFF2-40B4-BE49-F238E27FC236}">
                <a16:creationId xmlns:a16="http://schemas.microsoft.com/office/drawing/2014/main" id="{AB736A43-6AF7-C410-7611-79957551EB0B}"/>
              </a:ext>
            </a:extLst>
          </p:cNvPr>
          <p:cNvSpPr/>
          <p:nvPr/>
        </p:nvSpPr>
        <p:spPr>
          <a:xfrm>
            <a:off x="4930138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/>
              <a:t>Multivariate (and non-linear) methods</a:t>
            </a:r>
          </a:p>
        </p:txBody>
      </p:sp>
      <p:sp>
        <p:nvSpPr>
          <p:cNvPr id="23" name="Rechteck 22">
            <a:extLst>
              <a:ext uri="{FF2B5EF4-FFF2-40B4-BE49-F238E27FC236}">
                <a16:creationId xmlns:a16="http://schemas.microsoft.com/office/drawing/2014/main" id="{B504EAE7-AAEB-796A-8A45-04703C454793}"/>
              </a:ext>
            </a:extLst>
          </p:cNvPr>
          <p:cNvSpPr/>
          <p:nvPr/>
        </p:nvSpPr>
        <p:spPr>
          <a:xfrm>
            <a:off x="359997" y="923471"/>
            <a:ext cx="3853856" cy="564595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Univariate (and linear) methods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7F6CCF1-0DAA-4FCB-BA56-26671D12679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C2517815-8F64-3896-001B-61B5A3CD10F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2C70BF41-01CB-8874-A794-AACEB38C6F08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6A644002-6B8D-96F1-793B-9A51E87F2B30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FDE0BD5B-0F87-23C6-DFD2-5B54EBF90768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701F7CF-30EF-489B-BDE8-5378F811D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F7445E7A-48D5-9517-76A0-BF216776A275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41E4883-B06D-D94F-1B19-0777A22FFEA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8</a:t>
            </a:fld>
            <a:r>
              <a:rPr lang="en-US" noProof="0" dirty="0"/>
              <a:t> / 39</a:t>
            </a:r>
          </a:p>
        </p:txBody>
      </p:sp>
      <p:sp>
        <p:nvSpPr>
          <p:cNvPr id="24" name="Google Shape;222;p17">
            <a:extLst>
              <a:ext uri="{FF2B5EF4-FFF2-40B4-BE49-F238E27FC236}">
                <a16:creationId xmlns:a16="http://schemas.microsoft.com/office/drawing/2014/main" id="{C7FF8C8F-282E-8F6E-AE8A-B2EB383D89F9}"/>
              </a:ext>
            </a:extLst>
          </p:cNvPr>
          <p:cNvSpPr txBox="1">
            <a:spLocks/>
          </p:cNvSpPr>
          <p:nvPr/>
        </p:nvSpPr>
        <p:spPr>
          <a:xfrm>
            <a:off x="359999" y="1488066"/>
            <a:ext cx="3853854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Threshold-Based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Moving</a:t>
            </a:r>
            <a:r>
              <a:rPr lang="en-US" sz="1700" dirty="0">
                <a:latin typeface="+mn-lt"/>
              </a:rPr>
              <a:t>-</a:t>
            </a:r>
            <a:r>
              <a:rPr lang="en-US" sz="1700" noProof="0" dirty="0">
                <a:latin typeface="+mn-lt"/>
              </a:rPr>
              <a:t>Average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5" name="Google Shape;222;p17">
            <a:extLst>
              <a:ext uri="{FF2B5EF4-FFF2-40B4-BE49-F238E27FC236}">
                <a16:creationId xmlns:a16="http://schemas.microsoft.com/office/drawing/2014/main" id="{074C0B5E-1645-888D-F057-83628D1B694C}"/>
              </a:ext>
            </a:extLst>
          </p:cNvPr>
          <p:cNvSpPr txBox="1">
            <a:spLocks/>
          </p:cNvSpPr>
          <p:nvPr/>
        </p:nvSpPr>
        <p:spPr>
          <a:xfrm>
            <a:off x="4930138" y="1488066"/>
            <a:ext cx="3853860" cy="207264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K-Means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DBSCAN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Isolation Forest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endParaRPr lang="en-US" sz="1700" noProof="0" dirty="0">
              <a:latin typeface="+mn-lt"/>
            </a:endParaRPr>
          </a:p>
        </p:txBody>
      </p:sp>
      <p:sp>
        <p:nvSpPr>
          <p:cNvPr id="26" name="Google Shape;222;p17">
            <a:extLst>
              <a:ext uri="{FF2B5EF4-FFF2-40B4-BE49-F238E27FC236}">
                <a16:creationId xmlns:a16="http://schemas.microsoft.com/office/drawing/2014/main" id="{0A6FB108-4AA9-8C97-4678-685F3C75263B}"/>
              </a:ext>
            </a:extLst>
          </p:cNvPr>
          <p:cNvSpPr txBox="1">
            <a:spLocks/>
          </p:cNvSpPr>
          <p:nvPr/>
        </p:nvSpPr>
        <p:spPr>
          <a:xfrm>
            <a:off x="359999" y="3560706"/>
            <a:ext cx="8424000" cy="82998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Broad variety of techniques from simple to complex and data-driven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551BACD7-CAF0-DA0D-F031-1BD09F2CA24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1498805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80D20D9-7245-792E-8DAC-9588249C20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C152FB6F-D3D2-C9D2-E4E3-F106CB6F51D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General Overview of Pipeline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79239B9-5220-2439-98F4-005B874DB73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CAC7CF4-8C11-80E6-F1EA-03971C97F62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614F7790-F3C0-C239-D15A-2C22A9E5F78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FEDBB18-A4DD-C8C2-EA5A-A5E2F6C7080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10A66AE0-A07E-DD01-9C5C-EEA4446587C4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BDC4EA2-47F3-3075-8CCB-2B73FD8DFBA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07AA1DC-FC1B-3094-FBB6-A78B5870183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88DF518-D6BB-C299-91A5-BC058ADAC4D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9</a:t>
            </a:fld>
            <a:r>
              <a:rPr lang="en-US" noProof="0" dirty="0"/>
              <a:t> / 39</a:t>
            </a:r>
          </a:p>
        </p:txBody>
      </p:sp>
      <p:sp>
        <p:nvSpPr>
          <p:cNvPr id="2" name="Rechteck: abgerundete Ecken 1">
            <a:extLst>
              <a:ext uri="{FF2B5EF4-FFF2-40B4-BE49-F238E27FC236}">
                <a16:creationId xmlns:a16="http://schemas.microsoft.com/office/drawing/2014/main" id="{7426D271-C3BA-135F-D12D-97395D89F757}"/>
              </a:ext>
            </a:extLst>
          </p:cNvPr>
          <p:cNvSpPr/>
          <p:nvPr/>
        </p:nvSpPr>
        <p:spPr>
          <a:xfrm>
            <a:off x="153960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Data Processing</a:t>
            </a:r>
          </a:p>
        </p:txBody>
      </p:sp>
      <p:cxnSp>
        <p:nvCxnSpPr>
          <p:cNvPr id="3" name="Gerade Verbindung mit Pfeil 2">
            <a:extLst>
              <a:ext uri="{FF2B5EF4-FFF2-40B4-BE49-F238E27FC236}">
                <a16:creationId xmlns:a16="http://schemas.microsoft.com/office/drawing/2014/main" id="{D37A6995-2903-A7B4-8BC2-7456AE948496}"/>
              </a:ext>
            </a:extLst>
          </p:cNvPr>
          <p:cNvCxnSpPr>
            <a:cxnSpLocks/>
            <a:stCxn id="2" idx="3"/>
            <a:endCxn id="17" idx="1"/>
          </p:cNvCxnSpPr>
          <p:nvPr/>
        </p:nvCxnSpPr>
        <p:spPr>
          <a:xfrm>
            <a:off x="3071229" y="2830110"/>
            <a:ext cx="73496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Rechteck: abgerundete Ecken 16">
            <a:extLst>
              <a:ext uri="{FF2B5EF4-FFF2-40B4-BE49-F238E27FC236}">
                <a16:creationId xmlns:a16="http://schemas.microsoft.com/office/drawing/2014/main" id="{3085B5A0-D837-3EF1-6525-343770A293DF}"/>
              </a:ext>
            </a:extLst>
          </p:cNvPr>
          <p:cNvSpPr/>
          <p:nvPr/>
        </p:nvSpPr>
        <p:spPr>
          <a:xfrm>
            <a:off x="3806189" y="2533351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Building</a:t>
            </a:r>
          </a:p>
        </p:txBody>
      </p:sp>
      <p:sp>
        <p:nvSpPr>
          <p:cNvPr id="18" name="Rechteck: abgerundete Ecken 17">
            <a:extLst>
              <a:ext uri="{FF2B5EF4-FFF2-40B4-BE49-F238E27FC236}">
                <a16:creationId xmlns:a16="http://schemas.microsoft.com/office/drawing/2014/main" id="{C1674AEA-A69E-6A29-3383-7E9478EC17AC}"/>
              </a:ext>
            </a:extLst>
          </p:cNvPr>
          <p:cNvSpPr/>
          <p:nvPr/>
        </p:nvSpPr>
        <p:spPr>
          <a:xfrm>
            <a:off x="3806189" y="1346317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Model Tuning</a:t>
            </a:r>
          </a:p>
        </p:txBody>
      </p:sp>
      <p:sp>
        <p:nvSpPr>
          <p:cNvPr id="19" name="Rechteck: abgerundete Ecken 18">
            <a:extLst>
              <a:ext uri="{FF2B5EF4-FFF2-40B4-BE49-F238E27FC236}">
                <a16:creationId xmlns:a16="http://schemas.microsoft.com/office/drawing/2014/main" id="{0D251ADB-CAD3-A331-DD40-91AABF29E24F}"/>
              </a:ext>
            </a:extLst>
          </p:cNvPr>
          <p:cNvSpPr/>
          <p:nvPr/>
        </p:nvSpPr>
        <p:spPr>
          <a:xfrm>
            <a:off x="6072769" y="1939834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Visualization</a:t>
            </a:r>
          </a:p>
        </p:txBody>
      </p:sp>
      <p:sp>
        <p:nvSpPr>
          <p:cNvPr id="20" name="Rechteck: abgerundete Ecken 19">
            <a:extLst>
              <a:ext uri="{FF2B5EF4-FFF2-40B4-BE49-F238E27FC236}">
                <a16:creationId xmlns:a16="http://schemas.microsoft.com/office/drawing/2014/main" id="{B09723ED-FD23-9EFB-C02C-2BFB4815531D}"/>
              </a:ext>
            </a:extLst>
          </p:cNvPr>
          <p:cNvSpPr/>
          <p:nvPr/>
        </p:nvSpPr>
        <p:spPr>
          <a:xfrm>
            <a:off x="6072769" y="3126868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Evaluation</a:t>
            </a:r>
          </a:p>
        </p:txBody>
      </p:sp>
      <p:cxnSp>
        <p:nvCxnSpPr>
          <p:cNvPr id="27" name="Gerade Verbindung mit Pfeil 26">
            <a:extLst>
              <a:ext uri="{FF2B5EF4-FFF2-40B4-BE49-F238E27FC236}">
                <a16:creationId xmlns:a16="http://schemas.microsoft.com/office/drawing/2014/main" id="{8CBC3B5F-C3FB-DCB6-B836-2B1EFD1E0998}"/>
              </a:ext>
            </a:extLst>
          </p:cNvPr>
          <p:cNvCxnSpPr>
            <a:cxnSpLocks/>
          </p:cNvCxnSpPr>
          <p:nvPr/>
        </p:nvCxnSpPr>
        <p:spPr>
          <a:xfrm>
            <a:off x="430948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Gerade Verbindung mit Pfeil 29">
            <a:extLst>
              <a:ext uri="{FF2B5EF4-FFF2-40B4-BE49-F238E27FC236}">
                <a16:creationId xmlns:a16="http://schemas.microsoft.com/office/drawing/2014/main" id="{DE13F18E-0692-11C0-33C4-BA3C1779C5E6}"/>
              </a:ext>
            </a:extLst>
          </p:cNvPr>
          <p:cNvCxnSpPr>
            <a:cxnSpLocks/>
          </p:cNvCxnSpPr>
          <p:nvPr/>
        </p:nvCxnSpPr>
        <p:spPr>
          <a:xfrm flipV="1">
            <a:off x="4835261" y="1939834"/>
            <a:ext cx="0" cy="5935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Verbinder: gewinkelt 34">
            <a:extLst>
              <a:ext uri="{FF2B5EF4-FFF2-40B4-BE49-F238E27FC236}">
                <a16:creationId xmlns:a16="http://schemas.microsoft.com/office/drawing/2014/main" id="{9C3A7DBF-7F27-A810-2101-B71179380F6C}"/>
              </a:ext>
            </a:extLst>
          </p:cNvPr>
          <p:cNvCxnSpPr>
            <a:cxnSpLocks/>
            <a:stCxn id="17" idx="3"/>
            <a:endCxn id="19" idx="1"/>
          </p:cNvCxnSpPr>
          <p:nvPr/>
        </p:nvCxnSpPr>
        <p:spPr>
          <a:xfrm flipV="1">
            <a:off x="5337809" y="2236593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8" name="Verbinder: gewinkelt 37">
            <a:extLst>
              <a:ext uri="{FF2B5EF4-FFF2-40B4-BE49-F238E27FC236}">
                <a16:creationId xmlns:a16="http://schemas.microsoft.com/office/drawing/2014/main" id="{395AB48F-A542-7989-0333-6E4FA9F27D03}"/>
              </a:ext>
            </a:extLst>
          </p:cNvPr>
          <p:cNvCxnSpPr>
            <a:cxnSpLocks/>
            <a:stCxn id="17" idx="3"/>
            <a:endCxn id="20" idx="1"/>
          </p:cNvCxnSpPr>
          <p:nvPr/>
        </p:nvCxnSpPr>
        <p:spPr>
          <a:xfrm>
            <a:off x="5337809" y="2830110"/>
            <a:ext cx="734960" cy="593517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321EB328-F8BE-A634-E80F-C861BE7E4D59}"/>
              </a:ext>
            </a:extLst>
          </p:cNvPr>
          <p:cNvSpPr/>
          <p:nvPr/>
        </p:nvSpPr>
        <p:spPr>
          <a:xfrm>
            <a:off x="3806189" y="3720385"/>
            <a:ext cx="1531620" cy="59351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Pseudo Labeling</a:t>
            </a:r>
          </a:p>
        </p:txBody>
      </p:sp>
      <p:cxnSp>
        <p:nvCxnSpPr>
          <p:cNvPr id="15" name="Verbinder: gewinkelt 14">
            <a:extLst>
              <a:ext uri="{FF2B5EF4-FFF2-40B4-BE49-F238E27FC236}">
                <a16:creationId xmlns:a16="http://schemas.microsoft.com/office/drawing/2014/main" id="{ED0177AB-B09F-E443-23E4-F213C3FF75D6}"/>
              </a:ext>
            </a:extLst>
          </p:cNvPr>
          <p:cNvCxnSpPr>
            <a:cxnSpLocks/>
            <a:stCxn id="2" idx="3"/>
            <a:endCxn id="14" idx="1"/>
          </p:cNvCxnSpPr>
          <p:nvPr/>
        </p:nvCxnSpPr>
        <p:spPr>
          <a:xfrm>
            <a:off x="3071229" y="2830110"/>
            <a:ext cx="734960" cy="1187034"/>
          </a:xfrm>
          <a:prstGeom prst="bentConnector3">
            <a:avLst>
              <a:gd name="adj1" fmla="val 5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" name="Verbinder: gewinkelt 21">
            <a:extLst>
              <a:ext uri="{FF2B5EF4-FFF2-40B4-BE49-F238E27FC236}">
                <a16:creationId xmlns:a16="http://schemas.microsoft.com/office/drawing/2014/main" id="{7EA5655D-332D-AFB2-0F84-EA4DE072F224}"/>
              </a:ext>
            </a:extLst>
          </p:cNvPr>
          <p:cNvCxnSpPr>
            <a:cxnSpLocks/>
            <a:stCxn id="14" idx="3"/>
            <a:endCxn id="20" idx="2"/>
          </p:cNvCxnSpPr>
          <p:nvPr/>
        </p:nvCxnSpPr>
        <p:spPr>
          <a:xfrm flipV="1">
            <a:off x="5337809" y="3720385"/>
            <a:ext cx="1500770" cy="296759"/>
          </a:xfrm>
          <a:prstGeom prst="bentConnector2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" name="Google Shape;206;p15">
            <a:extLst>
              <a:ext uri="{FF2B5EF4-FFF2-40B4-BE49-F238E27FC236}">
                <a16:creationId xmlns:a16="http://schemas.microsoft.com/office/drawing/2014/main" id="{4E8A2F42-FD52-4AF6-217A-026C9E6760A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198957307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1130671-11D4-0706-979A-F78C44E17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55E4E28B-1C42-4109-CA6D-602A7B196637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Approach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A point is identified as a peak if</a:t>
            </a:r>
            <a:r>
              <a:rPr lang="en-US" sz="1700" noProof="0" dirty="0">
                <a:latin typeface="+mn-lt"/>
              </a:rPr>
              <a:t>: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dirty="0">
                <a:latin typeface="+mn-lt"/>
              </a:rPr>
              <a:t>It is a local maximum</a:t>
            </a:r>
            <a:endParaRPr lang="en-US" sz="1543" noProof="0" dirty="0">
              <a:latin typeface="+mn-lt"/>
            </a:endParaRP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value exceeds a threshold</a:t>
            </a:r>
          </a:p>
          <a:p>
            <a:pPr marL="918900" lvl="1" indent="-342900">
              <a:lnSpc>
                <a:spcPct val="95000"/>
              </a:lnSpc>
              <a:spcBef>
                <a:spcPts val="1200"/>
              </a:spcBef>
              <a:buFont typeface="+mj-lt"/>
              <a:buAutoNum type="arabicPeriod"/>
            </a:pPr>
            <a:r>
              <a:rPr lang="en-US" sz="1543" noProof="0" dirty="0">
                <a:latin typeface="+mn-lt"/>
              </a:rPr>
              <a:t>Its prominence exceeds a threshold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D2B942FC-19D0-D8F2-0725-B8490D35E0C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066611A-8454-87BF-3830-26AE80FE7F62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F1547A34-CD6B-A3CB-8A59-1E6FB8EEBAC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8CD5708-1280-CBA8-1EF4-AAA2D138240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E2B1706-FDD3-E047-5343-57817DE41B3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DB2C7D4B-2214-97E6-B34F-99D95E57994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8410B4E-FA8D-B38E-451A-050763E71C4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66C6B237-8E9E-C19E-1D91-123D2EA5FDE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C2AF038B-F371-E724-E09F-1AF95EECC59C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10</a:t>
            </a:fld>
            <a:r>
              <a:rPr lang="en-US" noProof="0" dirty="0"/>
              <a:t> / 39</a:t>
            </a:r>
          </a:p>
        </p:txBody>
      </p:sp>
      <p:pic>
        <p:nvPicPr>
          <p:cNvPr id="1026" name="Picture 2" descr="undefined">
            <a:extLst>
              <a:ext uri="{FF2B5EF4-FFF2-40B4-BE49-F238E27FC236}">
                <a16:creationId xmlns:a16="http://schemas.microsoft.com/office/drawing/2014/main" id="{C73076C0-2584-EAA5-23A5-EBEFC7DDFD8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4749"/>
          <a:stretch>
            <a:fillRect/>
          </a:stretch>
        </p:blipFill>
        <p:spPr bwMode="auto">
          <a:xfrm>
            <a:off x="5272614" y="1317526"/>
            <a:ext cx="2988508" cy="142329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" name="Rechteck 1">
            <a:extLst>
              <a:ext uri="{FF2B5EF4-FFF2-40B4-BE49-F238E27FC236}">
                <a16:creationId xmlns:a16="http://schemas.microsoft.com/office/drawing/2014/main" id="{765CF41C-390D-5069-71A8-B80B5FEC1107}"/>
              </a:ext>
            </a:extLst>
          </p:cNvPr>
          <p:cNvSpPr/>
          <p:nvPr/>
        </p:nvSpPr>
        <p:spPr>
          <a:xfrm>
            <a:off x="359998" y="3173506"/>
            <a:ext cx="8424000" cy="469647"/>
          </a:xfrm>
          <a:prstGeom prst="rect">
            <a:avLst/>
          </a:prstGeom>
          <a:solidFill>
            <a:srgbClr val="0068B4"/>
          </a:solidFill>
          <a:ln w="19050">
            <a:solidFill>
              <a:srgbClr val="0068B4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700" noProof="0" dirty="0">
                <a:solidFill>
                  <a:schemeClr val="bg1"/>
                </a:solidFill>
              </a:rPr>
              <a:t>Input-Feature-Variants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7EA27407-CE4F-DC6C-3FAD-D0CB1B3411C2}"/>
              </a:ext>
            </a:extLst>
          </p:cNvPr>
          <p:cNvSpPr txBox="1">
            <a:spLocks/>
          </p:cNvSpPr>
          <p:nvPr/>
        </p:nvSpPr>
        <p:spPr>
          <a:xfrm>
            <a:off x="359998" y="3651293"/>
            <a:ext cx="4212001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b="1" dirty="0">
                <a:latin typeface="+mn-lt"/>
              </a:rPr>
              <a:t>Torque</a:t>
            </a:r>
            <a:r>
              <a:rPr lang="en-US" sz="1700" dirty="0">
                <a:latin typeface="+mn-lt"/>
              </a:rPr>
              <a:t> with removed DC-offset</a:t>
            </a:r>
          </a:p>
        </p:txBody>
      </p:sp>
      <p:sp>
        <p:nvSpPr>
          <p:cNvPr id="13" name="Google Shape;222;p17">
            <a:extLst>
              <a:ext uri="{FF2B5EF4-FFF2-40B4-BE49-F238E27FC236}">
                <a16:creationId xmlns:a16="http://schemas.microsoft.com/office/drawing/2014/main" id="{DF88E95E-500B-A532-1F1A-42FEA093ABB4}"/>
              </a:ext>
            </a:extLst>
          </p:cNvPr>
          <p:cNvSpPr txBox="1">
            <a:spLocks/>
          </p:cNvSpPr>
          <p:nvPr/>
        </p:nvSpPr>
        <p:spPr>
          <a:xfrm>
            <a:off x="4571999" y="3651293"/>
            <a:ext cx="4212000" cy="505420"/>
          </a:xfrm>
          <a:prstGeom prst="rect">
            <a:avLst/>
          </a:prstGeom>
          <a:noFill/>
          <a:ln w="19050">
            <a:solidFill>
              <a:srgbClr val="0068B4"/>
            </a:solidFill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Absolute gradient of the </a:t>
            </a:r>
            <a:r>
              <a:rPr lang="en-US" sz="1700" b="1" dirty="0">
                <a:latin typeface="+mn-lt"/>
              </a:rPr>
              <a:t>command-speed</a:t>
            </a:r>
            <a:endParaRPr lang="en-US" sz="1700" b="1" noProof="0" dirty="0">
              <a:solidFill>
                <a:schemeClr val="tx1"/>
              </a:solidFill>
              <a:latin typeface="+mn-lt"/>
            </a:endParaRPr>
          </a:p>
        </p:txBody>
      </p:sp>
      <p:sp>
        <p:nvSpPr>
          <p:cNvPr id="14" name="Textfeld 13">
            <a:extLst>
              <a:ext uri="{FF2B5EF4-FFF2-40B4-BE49-F238E27FC236}">
                <a16:creationId xmlns:a16="http://schemas.microsoft.com/office/drawing/2014/main" id="{4DD45580-2BBD-FCFD-803A-0EECF03E04C3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[4]</a:t>
            </a:r>
          </a:p>
        </p:txBody>
      </p:sp>
    </p:spTree>
    <p:extLst>
      <p:ext uri="{BB962C8B-B14F-4D97-AF65-F5344CB8AC3E}">
        <p14:creationId xmlns:p14="http://schemas.microsoft.com/office/powerpoint/2010/main" val="33401099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6DD028B-670D-062A-3E51-0098E453DC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BD2013B7-EF9A-D690-0D54-F7CE219F4C1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Approach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9298B66-0307-64C8-3F54-BD596B58F3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982ADC4-AA24-D2F3-C5F2-FBC57D23D1D9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351152C-BC3F-C5BF-09EC-7CEADDD7092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3A0BF305-ECBC-79BC-FCD6-2C23940871A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8BEFB37-B1A8-7766-3B03-0A6D46854AB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5CA7C44B-9812-B4FC-3E62-EA0CE880B8FF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F28120F-8E3E-4A19-1626-D4C3A4D77D7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C50BE5-8632-10E1-1791-B6790268C1F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4F39E9A5-30A1-05FB-1802-8C269836ECF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11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1E1421EE-06E5-DB23-2149-8DF25E3C593E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Apply Moving-Average-Smoothing</a:t>
            </a:r>
            <a:endParaRPr lang="en-US" sz="1700" noProof="0" dirty="0">
              <a:latin typeface="+mn-lt"/>
            </a:endParaRP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B0DCFFB9-732C-143D-3BFD-2A5599050238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Determine the difference to the original signal</a:t>
            </a:r>
          </a:p>
        </p:txBody>
      </p:sp>
      <p:sp>
        <p:nvSpPr>
          <p:cNvPr id="13" name="Textfeld 12">
            <a:extLst>
              <a:ext uri="{FF2B5EF4-FFF2-40B4-BE49-F238E27FC236}">
                <a16:creationId xmlns:a16="http://schemas.microsoft.com/office/drawing/2014/main" id="{48238EC0-6AB2-0A50-4EF6-190F8BCBC81D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Check for local maxima that exceed the threshold</a:t>
            </a:r>
            <a:endParaRPr lang="en-US" sz="1700" noProof="0" dirty="0">
              <a:latin typeface="+mn-lt"/>
            </a:endParaRPr>
          </a:p>
        </p:txBody>
      </p:sp>
      <p:pic>
        <p:nvPicPr>
          <p:cNvPr id="14" name="Picture 19">
            <a:extLst>
              <a:ext uri="{FF2B5EF4-FFF2-40B4-BE49-F238E27FC236}">
                <a16:creationId xmlns:a16="http://schemas.microsoft.com/office/drawing/2014/main" id="{7221C828-03D1-33C3-C4A6-9E89DF8ECD72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14796" t="8706" r="25866" b="12812"/>
          <a:stretch>
            <a:fillRect/>
          </a:stretch>
        </p:blipFill>
        <p:spPr>
          <a:xfrm>
            <a:off x="5542787" y="1314979"/>
            <a:ext cx="2850614" cy="1736714"/>
          </a:xfrm>
          <a:prstGeom prst="rect">
            <a:avLst/>
          </a:prstGeom>
          <a:ln w="19050">
            <a:solidFill>
              <a:schemeClr val="tx1"/>
            </a:solidFill>
          </a:ln>
        </p:spPr>
      </p:pic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41E1299D-71F4-2B7B-1561-D389AF7D04B2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19" name="Gruppieren 18">
              <a:extLst>
                <a:ext uri="{FF2B5EF4-FFF2-40B4-BE49-F238E27FC236}">
                  <a16:creationId xmlns:a16="http://schemas.microsoft.com/office/drawing/2014/main" id="{899E31BB-AFA9-EC06-CF9B-CB0173322762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4" name="Gerader Verbinder 23">
                <a:extLst>
                  <a:ext uri="{FF2B5EF4-FFF2-40B4-BE49-F238E27FC236}">
                    <a16:creationId xmlns:a16="http://schemas.microsoft.com/office/drawing/2014/main" id="{55FCB4EA-B256-F7BD-1D1B-FE6BCB938500}"/>
                  </a:ext>
                </a:extLst>
              </p:cNvPr>
              <p:cNvCxnSpPr>
                <a:cxnSpLocks/>
                <a:endCxn id="2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5" name="Gruppieren 24">
                <a:extLst>
                  <a:ext uri="{FF2B5EF4-FFF2-40B4-BE49-F238E27FC236}">
                    <a16:creationId xmlns:a16="http://schemas.microsoft.com/office/drawing/2014/main" id="{1FA1F55D-840F-4E70-80C8-EA812E03CAD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6" name="Gleichschenkliges Dreieck 25">
                  <a:extLst>
                    <a:ext uri="{FF2B5EF4-FFF2-40B4-BE49-F238E27FC236}">
                      <a16:creationId xmlns:a16="http://schemas.microsoft.com/office/drawing/2014/main" id="{F13267A8-3404-F7F5-5ECB-D5800E6F43C5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7" name="Ellipse 26">
                  <a:extLst>
                    <a:ext uri="{FF2B5EF4-FFF2-40B4-BE49-F238E27FC236}">
                      <a16:creationId xmlns:a16="http://schemas.microsoft.com/office/drawing/2014/main" id="{844F47A6-4C0C-2D4D-1FB8-8ED245CEA2E0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8" name="Ellipse 27">
                  <a:extLst>
                    <a:ext uri="{FF2B5EF4-FFF2-40B4-BE49-F238E27FC236}">
                      <a16:creationId xmlns:a16="http://schemas.microsoft.com/office/drawing/2014/main" id="{DBD5EB6F-0E88-7077-036E-3A5EC356C45D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3" name="Ellipse 22">
              <a:extLst>
                <a:ext uri="{FF2B5EF4-FFF2-40B4-BE49-F238E27FC236}">
                  <a16:creationId xmlns:a16="http://schemas.microsoft.com/office/drawing/2014/main" id="{167A70B4-7C7F-E8DB-54CE-2642B8B1FDBF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791335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EF0FBF1-428B-178A-2E3E-19301B36F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2AEDFEE-FBDB-1E5D-D8FD-D02A77ACFA5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Wavelet Transform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Using the Ricker wavelet as a basis function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Scale the wavelet and apply convolution on the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target signal</a:t>
            </a: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High response indicates strong similarity</a:t>
            </a:r>
          </a:p>
        </p:txBody>
      </p:sp>
      <p:pic>
        <p:nvPicPr>
          <p:cNvPr id="377" name="Google Shape;377;p33">
            <a:extLst>
              <a:ext uri="{FF2B5EF4-FFF2-40B4-BE49-F238E27FC236}">
                <a16:creationId xmlns:a16="http://schemas.microsoft.com/office/drawing/2014/main" id="{FD956299-0F44-0EDC-4959-36FA58D8C60F}"/>
              </a:ext>
            </a:extLst>
          </p:cNvPr>
          <p:cNvPicPr preferRelativeResize="0"/>
          <p:nvPr/>
        </p:nvPicPr>
        <p:blipFill>
          <a:blip r:embed="rId3">
            <a:alphaModFix/>
          </a:blip>
          <a:srcRect l="5089" b="4652"/>
          <a:stretch>
            <a:fillRect/>
          </a:stretch>
        </p:blipFill>
        <p:spPr>
          <a:xfrm>
            <a:off x="6213205" y="1189394"/>
            <a:ext cx="1990201" cy="1107928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5EC45A9-5B4B-3C19-0A88-317712AED9C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B830C361-C208-E0B9-F925-C17D2FD2897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9D9556C8-C7E6-49DF-C2EE-798A4D33F50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1EB14B41-CE7F-12EE-2105-A3934F02969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2CE551F-A795-DFF8-1956-E1602A4EA3B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FA19D478-8F9E-DB56-8CF7-36D24C015038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D05EABF-0D82-9F87-BEBD-CBF028D6E09D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D93A135-6378-4E2C-9394-B108E1431B7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DB5948F-5451-351B-8505-4577093D27D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12</a:t>
            </a:fld>
            <a:r>
              <a:rPr lang="en-US" noProof="0" dirty="0"/>
              <a:t> / 39</a:t>
            </a:r>
          </a:p>
        </p:txBody>
      </p:sp>
      <p:pic>
        <p:nvPicPr>
          <p:cNvPr id="14" name="Grafik 13">
            <a:extLst>
              <a:ext uri="{FF2B5EF4-FFF2-40B4-BE49-F238E27FC236}">
                <a16:creationId xmlns:a16="http://schemas.microsoft.com/office/drawing/2014/main" id="{8C78D345-1002-A588-A1D5-35E08D81E61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156195" y="2571750"/>
            <a:ext cx="4655608" cy="1162474"/>
          </a:xfrm>
          <a:prstGeom prst="rect">
            <a:avLst/>
          </a:prstGeom>
        </p:spPr>
      </p:pic>
      <p:sp>
        <p:nvSpPr>
          <p:cNvPr id="2" name="Textfeld 1">
            <a:extLst>
              <a:ext uri="{FF2B5EF4-FFF2-40B4-BE49-F238E27FC236}">
                <a16:creationId xmlns:a16="http://schemas.microsoft.com/office/drawing/2014/main" id="{E7EC1943-BC5A-932C-6523-5FDCF89D8608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[5, 6]</a:t>
            </a:r>
          </a:p>
        </p:txBody>
      </p:sp>
    </p:spTree>
    <p:extLst>
      <p:ext uri="{BB962C8B-B14F-4D97-AF65-F5344CB8AC3E}">
        <p14:creationId xmlns:p14="http://schemas.microsoft.com/office/powerpoint/2010/main" val="211418849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3A63E7DE-B10D-3D1A-58B1-4D3F368CDC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952F2EE-3AB3-D68E-892C-99CE3FD2D8F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K-Means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FA1BD546-03CB-3E58-447F-685948AEC802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A8A25AE-8B90-B48D-61D8-8BDBA414B4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CC6522E9-55F3-DE8F-2D9E-F92EA90A31D2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4925F6C9-2A0F-255C-E25D-40C9582B98AF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4215CBDF-9378-867B-C5D9-9A8722D5DA1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4FCDD600-D293-CA4A-24DF-496BA9843D0C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200D138-C856-9628-42A7-8BF370F01203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B60A7B3-5021-D234-CF30-6EA1FFA9418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D1DE76-24CC-B2F5-51C9-53B62172EB70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13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4021F1AE-704F-B28F-477E-C588A76194A3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4DE4DBF9-1BD8-741B-06F0-7D992A7BE759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ACEC9CD1-BA0D-FA82-2688-225C809CF07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Randomly initialize K centroids</a:t>
            </a:r>
            <a:endParaRPr lang="en-US" sz="1700" noProof="0" dirty="0">
              <a:latin typeface="+mn-lt"/>
            </a:endParaRPr>
          </a:p>
        </p:txBody>
      </p:sp>
      <p:sp>
        <p:nvSpPr>
          <p:cNvPr id="23" name="Textfeld 22">
            <a:extLst>
              <a:ext uri="{FF2B5EF4-FFF2-40B4-BE49-F238E27FC236}">
                <a16:creationId xmlns:a16="http://schemas.microsoft.com/office/drawing/2014/main" id="{88332378-E9DD-2EE4-3FA8-9C680E47A006}"/>
              </a:ext>
            </a:extLst>
          </p:cNvPr>
          <p:cNvSpPr txBox="1"/>
          <p:nvPr/>
        </p:nvSpPr>
        <p:spPr>
          <a:xfrm>
            <a:off x="947840" y="3867209"/>
            <a:ext cx="7836159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Recompute the centroids by calculating the mean of all points assigned to it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B6BC3393-AE0F-E9FD-2976-77FDBF143A2C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Assign each point to the nearest c</a:t>
            </a:r>
            <a:r>
              <a:rPr lang="en-US" sz="1700" dirty="0">
                <a:latin typeface="+mn-lt"/>
              </a:rPr>
              <a:t>entroid</a:t>
            </a:r>
            <a:endParaRPr lang="en-US" sz="1700" noProof="0" dirty="0">
              <a:latin typeface="+mn-lt"/>
            </a:endParaRPr>
          </a:p>
        </p:txBody>
      </p:sp>
      <p:pic>
        <p:nvPicPr>
          <p:cNvPr id="7172" name="Picture 4">
            <a:extLst>
              <a:ext uri="{FF2B5EF4-FFF2-40B4-BE49-F238E27FC236}">
                <a16:creationId xmlns:a16="http://schemas.microsoft.com/office/drawing/2014/main" id="{343979AE-BE5E-8BD1-65A4-2F7E98DDB4E0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6186" r="52837"/>
          <a:stretch>
            <a:fillRect/>
          </a:stretch>
        </p:blipFill>
        <p:spPr bwMode="auto">
          <a:xfrm>
            <a:off x="6678138" y="1508421"/>
            <a:ext cx="1715264" cy="23083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7178" name="Gruppieren 7177">
            <a:extLst>
              <a:ext uri="{FF2B5EF4-FFF2-40B4-BE49-F238E27FC236}">
                <a16:creationId xmlns:a16="http://schemas.microsoft.com/office/drawing/2014/main" id="{C528A08C-733B-A924-DD87-EA86FAF5419A}"/>
              </a:ext>
            </a:extLst>
          </p:cNvPr>
          <p:cNvGrpSpPr/>
          <p:nvPr/>
        </p:nvGrpSpPr>
        <p:grpSpPr>
          <a:xfrm>
            <a:off x="670350" y="1350148"/>
            <a:ext cx="160496" cy="3145416"/>
            <a:chOff x="670350" y="1350148"/>
            <a:chExt cx="160496" cy="3145416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02C021F1-892F-82C5-D52B-B78F37273CA7}"/>
                </a:ext>
              </a:extLst>
            </p:cNvPr>
            <p:cNvGrpSpPr/>
            <p:nvPr/>
          </p:nvGrpSpPr>
          <p:grpSpPr>
            <a:xfrm>
              <a:off x="670350" y="1350148"/>
              <a:ext cx="160496" cy="3145416"/>
              <a:chOff x="666368" y="1547019"/>
              <a:chExt cx="160496" cy="3145416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A8CD6AB5-6A13-5CBE-2F92-784A84AB3F91}"/>
                  </a:ext>
                </a:extLst>
              </p:cNvPr>
              <p:cNvGrpSpPr/>
              <p:nvPr/>
            </p:nvGrpSpPr>
            <p:grpSpPr>
              <a:xfrm>
                <a:off x="666368" y="1547019"/>
                <a:ext cx="160496" cy="3145416"/>
                <a:chOff x="666368" y="1547019"/>
                <a:chExt cx="160496" cy="3145416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DED33B77-694F-F4D2-C875-2EFC2F5D2253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6" y="1547019"/>
                  <a:ext cx="3428" cy="2940086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9" name="Gruppieren 38">
                  <a:extLst>
                    <a:ext uri="{FF2B5EF4-FFF2-40B4-BE49-F238E27FC236}">
                      <a16:creationId xmlns:a16="http://schemas.microsoft.com/office/drawing/2014/main" id="{69315F91-5811-63F7-7FB5-A699F65417F6}"/>
                    </a:ext>
                  </a:extLst>
                </p:cNvPr>
                <p:cNvGrpSpPr/>
                <p:nvPr/>
              </p:nvGrpSpPr>
              <p:grpSpPr>
                <a:xfrm>
                  <a:off x="666368" y="1664319"/>
                  <a:ext cx="160496" cy="3028116"/>
                  <a:chOff x="353365" y="1509897"/>
                  <a:chExt cx="176268" cy="3325691"/>
                </a:xfrm>
              </p:grpSpPr>
              <p:grpSp>
                <p:nvGrpSpPr>
                  <p:cNvPr id="3" name="Gruppieren 2">
                    <a:extLst>
                      <a:ext uri="{FF2B5EF4-FFF2-40B4-BE49-F238E27FC236}">
                        <a16:creationId xmlns:a16="http://schemas.microsoft.com/office/drawing/2014/main" id="{CDA4E912-2F42-1303-24EE-DAE75B28CA82}"/>
                      </a:ext>
                    </a:extLst>
                  </p:cNvPr>
                  <p:cNvGrpSpPr/>
                  <p:nvPr/>
                </p:nvGrpSpPr>
                <p:grpSpPr>
                  <a:xfrm>
                    <a:off x="353365" y="1509897"/>
                    <a:ext cx="176268" cy="3325691"/>
                    <a:chOff x="6762353" y="2615584"/>
                    <a:chExt cx="176268" cy="3325691"/>
                  </a:xfrm>
                </p:grpSpPr>
                <p:sp>
                  <p:nvSpPr>
                    <p:cNvPr id="15" name="Gleichschenkliges Dreieck 14">
                      <a:extLst>
                        <a:ext uri="{FF2B5EF4-FFF2-40B4-BE49-F238E27FC236}">
                          <a16:creationId xmlns:a16="http://schemas.microsoft.com/office/drawing/2014/main" id="{8C5E56FC-B6BA-FD49-02E5-CFE6DAACAC6F}"/>
                        </a:ext>
                      </a:extLst>
                    </p:cNvPr>
                    <p:cNvSpPr/>
                    <p:nvPr/>
                  </p:nvSpPr>
                  <p:spPr>
                    <a:xfrm rot="10800000">
                      <a:off x="6762353" y="5715767"/>
                      <a:ext cx="176268" cy="225508"/>
                    </a:xfrm>
                    <a:prstGeom prst="triangl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6" name="Ellipse 15">
                      <a:extLst>
                        <a:ext uri="{FF2B5EF4-FFF2-40B4-BE49-F238E27FC236}">
                          <a16:creationId xmlns:a16="http://schemas.microsoft.com/office/drawing/2014/main" id="{FCB1A9DF-BCEF-2063-4B43-DB6E92E0E48B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2615584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7" name="Ellipse 16">
                      <a:extLst>
                        <a:ext uri="{FF2B5EF4-FFF2-40B4-BE49-F238E27FC236}">
                          <a16:creationId xmlns:a16="http://schemas.microsoft.com/office/drawing/2014/main" id="{62E496D2-A4E1-CCBA-AD95-FABD1ECDB56A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3311821"/>
                      <a:ext cx="90000" cy="90000"/>
                    </a:xfrm>
                    <a:prstGeom prst="ellipse">
                      <a:avLst/>
                    </a:prstGeom>
                    <a:solidFill>
                      <a:srgbClr val="000000"/>
                    </a:solidFill>
                    <a:ln>
                      <a:solidFill>
                        <a:srgbClr val="000000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8" name="Ellipse 17">
                      <a:extLst>
                        <a:ext uri="{FF2B5EF4-FFF2-40B4-BE49-F238E27FC236}">
                          <a16:creationId xmlns:a16="http://schemas.microsoft.com/office/drawing/2014/main" id="{AE783A49-3717-E870-F011-14929D1F6FBD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4704297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  <p:sp>
                  <p:nvSpPr>
                    <p:cNvPr id="19" name="Ellipse 18">
                      <a:extLst>
                        <a:ext uri="{FF2B5EF4-FFF2-40B4-BE49-F238E27FC236}">
                          <a16:creationId xmlns:a16="http://schemas.microsoft.com/office/drawing/2014/main" id="{F9F47CE1-4494-E584-5907-3E34D4261CFE}"/>
                        </a:ext>
                      </a:extLst>
                    </p:cNvPr>
                    <p:cNvSpPr/>
                    <p:nvPr/>
                  </p:nvSpPr>
                  <p:spPr>
                    <a:xfrm>
                      <a:off x="6805486" y="5400535"/>
                      <a:ext cx="90000" cy="90000"/>
                    </a:xfrm>
                    <a:prstGeom prst="ellipse">
                      <a:avLst/>
                    </a:prstGeom>
                    <a:solidFill>
                      <a:srgbClr val="0068B4"/>
                    </a:solidFill>
                    <a:ln>
                      <a:solidFill>
                        <a:srgbClr val="0068B4"/>
                      </a:solidFill>
                    </a:ln>
                  </p:spPr>
                  <p:style>
                    <a:lnRef idx="2">
                      <a:schemeClr val="accent1">
                        <a:shade val="50000"/>
                      </a:schemeClr>
                    </a:lnRef>
                    <a:fillRef idx="1">
                      <a:schemeClr val="accent1"/>
                    </a:fillRef>
                    <a:effectRef idx="0">
                      <a:schemeClr val="accent1"/>
                    </a:effectRef>
                    <a:fontRef idx="minor">
                      <a:schemeClr val="lt1"/>
                    </a:fontRef>
                  </p:style>
                  <p:txBody>
  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  <a:prstTxWarp prst="textNoShape">
                        <a:avLst/>
                      </a:prstTxWarp>
                      <a:noAutofit/>
                    </a:bodyPr>
                    <a:lstStyle/>
                    <a:p>
                      <a:pPr marL="0" indent="0" algn="l">
                        <a:spcBef>
                          <a:spcPts val="400"/>
                        </a:spcBef>
                        <a:buFont typeface="Arial" panose="020B0604020202020204" pitchFamily="34" charset="0"/>
                        <a:buNone/>
                      </a:pPr>
                      <a:endParaRPr lang="en-US" sz="1800" noProof="0" dirty="0">
                        <a:solidFill>
                          <a:schemeClr val="tx1"/>
                        </a:solidFill>
                      </a:endParaRPr>
                    </a:p>
                  </p:txBody>
                </p:sp>
              </p:grpSp>
              <p:cxnSp>
                <p:nvCxnSpPr>
                  <p:cNvPr id="25" name="Verbinder: gekrümmt 24">
                    <a:extLst>
                      <a:ext uri="{FF2B5EF4-FFF2-40B4-BE49-F238E27FC236}">
                        <a16:creationId xmlns:a16="http://schemas.microsoft.com/office/drawing/2014/main" id="{1794CF26-9921-55D2-A4B4-4EE135F2D126}"/>
                      </a:ext>
                    </a:extLst>
                  </p:cNvPr>
                  <p:cNvCxnSpPr>
                    <a:cxnSpLocks/>
                    <a:stCxn id="19" idx="2"/>
                    <a:endCxn id="18" idx="2"/>
                  </p:cNvCxnSpPr>
                  <p:nvPr/>
                </p:nvCxnSpPr>
                <p:spPr>
                  <a:xfrm rot="10800000">
                    <a:off x="396498" y="3643611"/>
                    <a:ext cx="13948" cy="696238"/>
                  </a:xfrm>
                  <a:prstGeom prst="curvedConnector3">
                    <a:avLst>
                      <a:gd name="adj1" fmla="val 2220000"/>
                    </a:avLst>
                  </a:prstGeom>
                  <a:ln w="19050">
                    <a:solidFill>
                      <a:srgbClr val="0068B4"/>
                    </a:solidFill>
                    <a:tailEnd type="triangle" w="lg" len="med"/>
                  </a:ln>
                </p:spPr>
                <p:style>
                  <a:lnRef idx="1">
                    <a:schemeClr val="accent1"/>
                  </a:lnRef>
                  <a:fillRef idx="0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tx1"/>
                  </a:fontRef>
                </p:style>
              </p:cxn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88FA3B7C-0CA0-711D-28EA-5446A8BFB287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7174" name="Gerader Verbinder 7173">
              <a:extLst>
                <a:ext uri="{FF2B5EF4-FFF2-40B4-BE49-F238E27FC236}">
                  <a16:creationId xmlns:a16="http://schemas.microsoft.com/office/drawing/2014/main" id="{131608A6-90DB-2DBE-05F5-71C5AECBEC29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8" y="2817275"/>
              <a:ext cx="379" cy="1472959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16F39627-B678-888D-5EEA-C55AD2415ECC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49176964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30AB386-0908-D59B-2839-FE887AB9C66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277E0DD-2C46-E1BF-A3EB-F1F21C787CA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Clustering with DBSCAN (</a:t>
            </a:r>
            <a:r>
              <a:rPr lang="en-US" sz="1700" i="1" dirty="0">
                <a:latin typeface="+mn-lt"/>
              </a:rPr>
              <a:t>Density-Based Spatial Clustering of Applications with Noise</a:t>
            </a:r>
            <a:r>
              <a:rPr lang="en-US" sz="1700" dirty="0">
                <a:latin typeface="+mn-lt"/>
              </a:rPr>
              <a:t>)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54FF386-1F5D-078B-4CFC-73B821CB4D4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C1130E7-3960-F8FB-8789-6E011BF86753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883D0F1-4266-B0C6-043C-EE3199DDA23B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E1C9405D-C8CA-D8D9-3886-CE01D19E74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FE5991B-B9F5-EA3B-C5D6-794F1C81A180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D40189E-7AF5-CBD5-044B-5E4AE7461C9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F78B8D1-6EAE-6322-CA7F-3913BD13BD7C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A052BDD-5F8F-8436-2899-67350E2AB351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6010B2E-D6D1-9FF1-3445-B646275DCCA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14</a:t>
            </a:fld>
            <a:r>
              <a:rPr lang="en-US" noProof="0" dirty="0"/>
              <a:t> / 39</a:t>
            </a:r>
          </a:p>
        </p:txBody>
      </p:sp>
      <p:sp>
        <p:nvSpPr>
          <p:cNvPr id="20" name="Textfeld 19">
            <a:extLst>
              <a:ext uri="{FF2B5EF4-FFF2-40B4-BE49-F238E27FC236}">
                <a16:creationId xmlns:a16="http://schemas.microsoft.com/office/drawing/2014/main" id="{7D697E1D-D9D0-EA40-E609-80C9D1626B9D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Training an autoencoder</a:t>
            </a:r>
          </a:p>
        </p:txBody>
      </p:sp>
      <p:sp>
        <p:nvSpPr>
          <p:cNvPr id="21" name="Textfeld 20">
            <a:extLst>
              <a:ext uri="{FF2B5EF4-FFF2-40B4-BE49-F238E27FC236}">
                <a16:creationId xmlns:a16="http://schemas.microsoft.com/office/drawing/2014/main" id="{F5BAFD77-8E87-1CB3-D45C-6252A18113F5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Using Encoder to transform inputs into latent-space</a:t>
            </a:r>
          </a:p>
        </p:txBody>
      </p:sp>
      <p:sp>
        <p:nvSpPr>
          <p:cNvPr id="22" name="Textfeld 21">
            <a:extLst>
              <a:ext uri="{FF2B5EF4-FFF2-40B4-BE49-F238E27FC236}">
                <a16:creationId xmlns:a16="http://schemas.microsoft.com/office/drawing/2014/main" id="{6E18C446-07D2-0991-45D6-F0E5DCA2855A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indent="-338400">
              <a:lnSpc>
                <a:spcPct val="95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Grouping together points that are closely packed</a:t>
            </a:r>
          </a:p>
        </p:txBody>
      </p:sp>
      <p:sp>
        <p:nvSpPr>
          <p:cNvPr id="7171" name="Textfeld 7170">
            <a:extLst>
              <a:ext uri="{FF2B5EF4-FFF2-40B4-BE49-F238E27FC236}">
                <a16:creationId xmlns:a16="http://schemas.microsoft.com/office/drawing/2014/main" id="{60B226B8-F337-06E6-3EE4-801BCF5705DF}"/>
              </a:ext>
            </a:extLst>
          </p:cNvPr>
          <p:cNvSpPr txBox="1"/>
          <p:nvPr/>
        </p:nvSpPr>
        <p:spPr>
          <a:xfrm>
            <a:off x="947840" y="3228958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Marking those as outliers that lie alone in low-density regions</a:t>
            </a:r>
            <a:endParaRPr lang="en-US" sz="1700" noProof="0" dirty="0">
              <a:latin typeface="+mn-lt"/>
            </a:endParaRPr>
          </a:p>
        </p:txBody>
      </p:sp>
      <p:pic>
        <p:nvPicPr>
          <p:cNvPr id="27" name="Picture 4">
            <a:extLst>
              <a:ext uri="{FF2B5EF4-FFF2-40B4-BE49-F238E27FC236}">
                <a16:creationId xmlns:a16="http://schemas.microsoft.com/office/drawing/2014/main" id="{8A0A7478-9D9A-5D5A-263E-391FADFDB446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84" t="6186" r="344"/>
          <a:stretch>
            <a:fillRect/>
          </a:stretch>
        </p:blipFill>
        <p:spPr bwMode="auto">
          <a:xfrm>
            <a:off x="6674709" y="1508421"/>
            <a:ext cx="1689832" cy="23079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5" name="Gruppieren 34">
            <a:extLst>
              <a:ext uri="{FF2B5EF4-FFF2-40B4-BE49-F238E27FC236}">
                <a16:creationId xmlns:a16="http://schemas.microsoft.com/office/drawing/2014/main" id="{CBA57BD1-C7FA-26D4-0EE3-E74CF2B3FC21}"/>
              </a:ext>
            </a:extLst>
          </p:cNvPr>
          <p:cNvGrpSpPr/>
          <p:nvPr/>
        </p:nvGrpSpPr>
        <p:grpSpPr>
          <a:xfrm>
            <a:off x="670351" y="1350148"/>
            <a:ext cx="160496" cy="2527183"/>
            <a:chOff x="670351" y="1350148"/>
            <a:chExt cx="160496" cy="2527183"/>
          </a:xfrm>
        </p:grpSpPr>
        <p:grpSp>
          <p:nvGrpSpPr>
            <p:cNvPr id="59" name="Gruppieren 58">
              <a:extLst>
                <a:ext uri="{FF2B5EF4-FFF2-40B4-BE49-F238E27FC236}">
                  <a16:creationId xmlns:a16="http://schemas.microsoft.com/office/drawing/2014/main" id="{CE296725-93E7-6C8F-F642-D51EFE15CD6D}"/>
                </a:ext>
              </a:extLst>
            </p:cNvPr>
            <p:cNvGrpSpPr/>
            <p:nvPr/>
          </p:nvGrpSpPr>
          <p:grpSpPr>
            <a:xfrm>
              <a:off x="670351" y="1350148"/>
              <a:ext cx="160496" cy="2527183"/>
              <a:chOff x="666369" y="1547019"/>
              <a:chExt cx="160496" cy="2527183"/>
            </a:xfrm>
          </p:grpSpPr>
          <p:grpSp>
            <p:nvGrpSpPr>
              <p:cNvPr id="55" name="Gruppieren 54">
                <a:extLst>
                  <a:ext uri="{FF2B5EF4-FFF2-40B4-BE49-F238E27FC236}">
                    <a16:creationId xmlns:a16="http://schemas.microsoft.com/office/drawing/2014/main" id="{E1324477-05E8-8890-7169-4C14AD7B320B}"/>
                  </a:ext>
                </a:extLst>
              </p:cNvPr>
              <p:cNvGrpSpPr/>
              <p:nvPr/>
            </p:nvGrpSpPr>
            <p:grpSpPr>
              <a:xfrm>
                <a:off x="666369" y="1547019"/>
                <a:ext cx="160496" cy="2527183"/>
                <a:chOff x="666369" y="1547019"/>
                <a:chExt cx="160496" cy="2527183"/>
              </a:xfrm>
            </p:grpSpPr>
            <p:cxnSp>
              <p:nvCxnSpPr>
                <p:cNvPr id="51" name="Gerader Verbinder 50">
                  <a:extLst>
                    <a:ext uri="{FF2B5EF4-FFF2-40B4-BE49-F238E27FC236}">
                      <a16:creationId xmlns:a16="http://schemas.microsoft.com/office/drawing/2014/main" id="{5CF9CF67-4054-DF9C-3F4B-1CC1FAD2AB4F}"/>
                    </a:ext>
                  </a:extLst>
                </p:cNvPr>
                <p:cNvCxnSpPr>
                  <a:cxnSpLocks/>
                  <a:endCxn id="15" idx="3"/>
                </p:cNvCxnSpPr>
                <p:nvPr/>
              </p:nvCxnSpPr>
              <p:spPr>
                <a:xfrm flipH="1">
                  <a:off x="746617" y="1547019"/>
                  <a:ext cx="3427" cy="2321853"/>
                </a:xfrm>
                <a:prstGeom prst="line">
                  <a:avLst/>
                </a:prstGeom>
                <a:ln w="19050">
                  <a:solidFill>
                    <a:srgbClr val="000000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  <p:grpSp>
              <p:nvGrpSpPr>
                <p:cNvPr id="3" name="Gruppieren 2">
                  <a:extLst>
                    <a:ext uri="{FF2B5EF4-FFF2-40B4-BE49-F238E27FC236}">
                      <a16:creationId xmlns:a16="http://schemas.microsoft.com/office/drawing/2014/main" id="{B63DCE2C-DC7C-5577-EF6D-58F2001ED475}"/>
                    </a:ext>
                  </a:extLst>
                </p:cNvPr>
                <p:cNvGrpSpPr/>
                <p:nvPr/>
              </p:nvGrpSpPr>
              <p:grpSpPr>
                <a:xfrm>
                  <a:off x="666369" y="1664319"/>
                  <a:ext cx="160496" cy="2409883"/>
                  <a:chOff x="6762354" y="2615584"/>
                  <a:chExt cx="176268" cy="2646699"/>
                </a:xfrm>
              </p:grpSpPr>
              <p:sp>
                <p:nvSpPr>
                  <p:cNvPr id="15" name="Gleichschenkliges Dreieck 14">
                    <a:extLst>
                      <a:ext uri="{FF2B5EF4-FFF2-40B4-BE49-F238E27FC236}">
                        <a16:creationId xmlns:a16="http://schemas.microsoft.com/office/drawing/2014/main" id="{F860287E-3684-3603-963D-3F2FEE51CE11}"/>
                      </a:ext>
                    </a:extLst>
                  </p:cNvPr>
                  <p:cNvSpPr/>
                  <p:nvPr/>
                </p:nvSpPr>
                <p:spPr>
                  <a:xfrm rot="10800000">
                    <a:off x="6762354" y="5036775"/>
                    <a:ext cx="176268" cy="225508"/>
                  </a:xfrm>
                  <a:prstGeom prst="triangl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6" name="Ellipse 15">
                    <a:extLst>
                      <a:ext uri="{FF2B5EF4-FFF2-40B4-BE49-F238E27FC236}">
                        <a16:creationId xmlns:a16="http://schemas.microsoft.com/office/drawing/2014/main" id="{134EFEA8-92FD-3FA7-30E1-519AC27B25B6}"/>
                      </a:ext>
                    </a:extLst>
                  </p:cNvPr>
                  <p:cNvSpPr/>
                  <p:nvPr/>
                </p:nvSpPr>
                <p:spPr>
                  <a:xfrm>
                    <a:off x="6805486" y="2615584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7" name="Ellipse 16">
                    <a:extLst>
                      <a:ext uri="{FF2B5EF4-FFF2-40B4-BE49-F238E27FC236}">
                        <a16:creationId xmlns:a16="http://schemas.microsoft.com/office/drawing/2014/main" id="{9802481D-C048-1BE8-58B1-B51657A013BB}"/>
                      </a:ext>
                    </a:extLst>
                  </p:cNvPr>
                  <p:cNvSpPr/>
                  <p:nvPr/>
                </p:nvSpPr>
                <p:spPr>
                  <a:xfrm>
                    <a:off x="6805486" y="3311821"/>
                    <a:ext cx="90000" cy="90000"/>
                  </a:xfrm>
                  <a:prstGeom prst="ellipse">
                    <a:avLst/>
                  </a:prstGeom>
                  <a:solidFill>
                    <a:srgbClr val="000000"/>
                  </a:solidFill>
                  <a:ln>
                    <a:solidFill>
                      <a:srgbClr val="000000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  <p:sp>
                <p:nvSpPr>
                  <p:cNvPr id="18" name="Ellipse 17">
                    <a:extLst>
                      <a:ext uri="{FF2B5EF4-FFF2-40B4-BE49-F238E27FC236}">
                        <a16:creationId xmlns:a16="http://schemas.microsoft.com/office/drawing/2014/main" id="{3EE9CC09-E8A8-21BE-3902-317AE80799B9}"/>
                      </a:ext>
                    </a:extLst>
                  </p:cNvPr>
                  <p:cNvSpPr/>
                  <p:nvPr/>
                </p:nvSpPr>
                <p:spPr>
                  <a:xfrm>
                    <a:off x="6805486" y="4704297"/>
                    <a:ext cx="90000" cy="90000"/>
                  </a:xfrm>
                  <a:prstGeom prst="ellipse">
                    <a:avLst/>
                  </a:prstGeom>
                  <a:solidFill>
                    <a:srgbClr val="0068B4"/>
                  </a:solidFill>
                  <a:ln>
                    <a:solidFill>
                      <a:srgbClr val="0068B4"/>
                    </a:solidFill>
                  </a:ln>
                </p:spPr>
                <p:style>
                  <a:lnRef idx="2">
                    <a:schemeClr val="accent1">
                      <a:shade val="50000"/>
                    </a:schemeClr>
                  </a:lnRef>
                  <a:fillRef idx="1">
                    <a:schemeClr val="accent1"/>
                  </a:fillRef>
                  <a:effectRef idx="0">
                    <a:schemeClr val="accent1"/>
                  </a:effectRef>
                  <a:fontRef idx="minor">
                    <a:schemeClr val="lt1"/>
                  </a:fontRef>
                </p:style>
                <p:txBody>
  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  <a:prstTxWarp prst="textNoShape">
                      <a:avLst/>
                    </a:prstTxWarp>
                    <a:noAutofit/>
                  </a:bodyPr>
                  <a:lstStyle/>
                  <a:p>
                    <a:pPr marL="0" indent="0" algn="l">
                      <a:spcBef>
                        <a:spcPts val="400"/>
                      </a:spcBef>
                      <a:buFont typeface="Arial" panose="020B0604020202020204" pitchFamily="34" charset="0"/>
                      <a:buNone/>
                    </a:pPr>
                    <a:endParaRPr lang="en-US" sz="1800" noProof="0" dirty="0">
                      <a:solidFill>
                        <a:schemeClr val="tx1"/>
                      </a:solidFill>
                    </a:endParaRPr>
                  </a:p>
                </p:txBody>
              </p:sp>
            </p:grpSp>
          </p:grpSp>
          <p:sp>
            <p:nvSpPr>
              <p:cNvPr id="41" name="Ellipse 40">
                <a:extLst>
                  <a:ext uri="{FF2B5EF4-FFF2-40B4-BE49-F238E27FC236}">
                    <a16:creationId xmlns:a16="http://schemas.microsoft.com/office/drawing/2014/main" id="{7DBE6F67-0951-CE4F-18A6-C989C7B498B5}"/>
                  </a:ext>
                </a:extLst>
              </p:cNvPr>
              <p:cNvSpPr/>
              <p:nvPr/>
            </p:nvSpPr>
            <p:spPr>
              <a:xfrm>
                <a:off x="706021" y="2932199"/>
                <a:ext cx="81947" cy="81947"/>
              </a:xfrm>
              <a:prstGeom prst="ellipse">
                <a:avLst/>
              </a:prstGeom>
              <a:solidFill>
                <a:srgbClr val="0068B4"/>
              </a:solidFill>
              <a:ln>
                <a:solidFill>
                  <a:srgbClr val="0068B4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<a:prstTxWarp prst="textNoShape">
                  <a:avLst/>
                </a:prstTxWarp>
                <a:noAutofit/>
              </a:bodyPr>
              <a:lstStyle/>
              <a:p>
                <a:pPr marL="0" indent="0" algn="l">
                  <a:spcBef>
                    <a:spcPts val="400"/>
                  </a:spcBef>
                  <a:buFont typeface="Arial" panose="020B0604020202020204" pitchFamily="34" charset="0"/>
                  <a:buNone/>
                </a:pPr>
                <a:endParaRPr lang="en-US" sz="1800" noProof="0" dirty="0">
                  <a:solidFill>
                    <a:schemeClr val="tx1"/>
                  </a:solidFill>
                </a:endParaRPr>
              </a:p>
            </p:txBody>
          </p:sp>
        </p:grpSp>
        <p:cxnSp>
          <p:nvCxnSpPr>
            <p:cNvPr id="34" name="Gerader Verbinder 33">
              <a:extLst>
                <a:ext uri="{FF2B5EF4-FFF2-40B4-BE49-F238E27FC236}">
                  <a16:creationId xmlns:a16="http://schemas.microsoft.com/office/drawing/2014/main" id="{9F29E4CE-B3CB-F877-4376-6181E16A3988}"/>
                </a:ext>
              </a:extLst>
            </p:cNvPr>
            <p:cNvCxnSpPr>
              <a:cxnSpLocks/>
              <a:stCxn id="41" idx="4"/>
              <a:endCxn id="15" idx="3"/>
            </p:cNvCxnSpPr>
            <p:nvPr/>
          </p:nvCxnSpPr>
          <p:spPr>
            <a:xfrm flipH="1">
              <a:off x="750599" y="2817275"/>
              <a:ext cx="378" cy="854726"/>
            </a:xfrm>
            <a:prstGeom prst="line">
              <a:avLst/>
            </a:prstGeom>
            <a:ln w="19050">
              <a:solidFill>
                <a:srgbClr val="0068B4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extfeld 1">
            <a:extLst>
              <a:ext uri="{FF2B5EF4-FFF2-40B4-BE49-F238E27FC236}">
                <a16:creationId xmlns:a16="http://schemas.microsoft.com/office/drawing/2014/main" id="{E029580F-2341-2542-166D-B338FBE50CFB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[7]</a:t>
            </a:r>
          </a:p>
        </p:txBody>
      </p:sp>
    </p:spTree>
    <p:extLst>
      <p:ext uri="{BB962C8B-B14F-4D97-AF65-F5344CB8AC3E}">
        <p14:creationId xmlns:p14="http://schemas.microsoft.com/office/powerpoint/2010/main" val="164366883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73B6B48-5DBE-2AF8-57CC-4C3B632636D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96DB8B13-BEC0-1D1F-BAF5-6E3E8BA48DAC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Isolation Forest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F74A049-654E-458D-F1A1-8B6EAD49A735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FCB63554-640B-6098-0C72-09CA35D16F9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7F3C4AB-4B84-98F7-1C5D-D2C232EA44B6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F78BA1A-C441-5BDC-E631-43714DD047EA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E53A6C86-4942-4D2E-7FA5-E7666ED39BD9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30781FE1-7A37-4BA1-B3E8-45A8F17187C2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5655D89-ED08-64A7-A410-4729191498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370CE877-A16B-7D5B-1F54-0530778E664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15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D6407492-DA74-0A0E-25C5-0BA8E61AEC34}"/>
              </a:ext>
            </a:extLst>
          </p:cNvPr>
          <p:cNvSpPr/>
          <p:nvPr/>
        </p:nvSpPr>
        <p:spPr>
          <a:xfrm>
            <a:off x="6316613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Ellipse 12">
            <a:extLst>
              <a:ext uri="{FF2B5EF4-FFF2-40B4-BE49-F238E27FC236}">
                <a16:creationId xmlns:a16="http://schemas.microsoft.com/office/drawing/2014/main" id="{949BED88-809F-BC0D-D147-F77DA2620D44}"/>
              </a:ext>
            </a:extLst>
          </p:cNvPr>
          <p:cNvSpPr/>
          <p:nvPr/>
        </p:nvSpPr>
        <p:spPr>
          <a:xfrm>
            <a:off x="6124513" y="1394390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73DEC4E2-531D-FACA-C197-40533ADA281F}"/>
              </a:ext>
            </a:extLst>
          </p:cNvPr>
          <p:cNvSpPr/>
          <p:nvPr/>
        </p:nvSpPr>
        <p:spPr>
          <a:xfrm>
            <a:off x="6508652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A8E39B25-6D14-2EDC-CBC2-D2E35E6EBC7A}"/>
              </a:ext>
            </a:extLst>
          </p:cNvPr>
          <p:cNvSpPr/>
          <p:nvPr/>
        </p:nvSpPr>
        <p:spPr>
          <a:xfrm>
            <a:off x="6316613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B6196B26-49E1-F4F9-7CD2-FC5C4ECC009B}"/>
              </a:ext>
            </a:extLst>
          </p:cNvPr>
          <p:cNvSpPr/>
          <p:nvPr/>
        </p:nvSpPr>
        <p:spPr>
          <a:xfrm>
            <a:off x="670075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CDE524BD-2E8D-1792-33B8-B8F43E4C4DBA}"/>
              </a:ext>
            </a:extLst>
          </p:cNvPr>
          <p:cNvSpPr/>
          <p:nvPr/>
        </p:nvSpPr>
        <p:spPr>
          <a:xfrm>
            <a:off x="6124513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43D22010-4C16-4107-F2E3-1CB0645D3427}"/>
              </a:ext>
            </a:extLst>
          </p:cNvPr>
          <p:cNvSpPr/>
          <p:nvPr/>
        </p:nvSpPr>
        <p:spPr>
          <a:xfrm>
            <a:off x="63166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3" name="Ellipse 22">
            <a:extLst>
              <a:ext uri="{FF2B5EF4-FFF2-40B4-BE49-F238E27FC236}">
                <a16:creationId xmlns:a16="http://schemas.microsoft.com/office/drawing/2014/main" id="{DE855C4B-CADD-2288-9E81-3F0B193C4D69}"/>
              </a:ext>
            </a:extLst>
          </p:cNvPr>
          <p:cNvSpPr/>
          <p:nvPr/>
        </p:nvSpPr>
        <p:spPr>
          <a:xfrm>
            <a:off x="5932413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0" name="Gerader Verbinder 29">
            <a:extLst>
              <a:ext uri="{FF2B5EF4-FFF2-40B4-BE49-F238E27FC236}">
                <a16:creationId xmlns:a16="http://schemas.microsoft.com/office/drawing/2014/main" id="{6B5F56CD-BBE1-A8E2-51A7-7B4211D62086}"/>
              </a:ext>
            </a:extLst>
          </p:cNvPr>
          <p:cNvCxnSpPr>
            <a:cxnSpLocks/>
            <a:stCxn id="3" idx="3"/>
            <a:endCxn id="13" idx="0"/>
          </p:cNvCxnSpPr>
          <p:nvPr/>
        </p:nvCxnSpPr>
        <p:spPr>
          <a:xfrm flipH="1">
            <a:off x="6220563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Gerader Verbinder 33">
            <a:extLst>
              <a:ext uri="{FF2B5EF4-FFF2-40B4-BE49-F238E27FC236}">
                <a16:creationId xmlns:a16="http://schemas.microsoft.com/office/drawing/2014/main" id="{67AD66B3-78AF-E275-CB57-15A38DEF67CF}"/>
              </a:ext>
            </a:extLst>
          </p:cNvPr>
          <p:cNvCxnSpPr>
            <a:cxnSpLocks/>
            <a:stCxn id="3" idx="5"/>
            <a:endCxn id="14" idx="0"/>
          </p:cNvCxnSpPr>
          <p:nvPr/>
        </p:nvCxnSpPr>
        <p:spPr>
          <a:xfrm>
            <a:off x="6480581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EC84ACB4-A807-CCA3-6D7F-A4CC7F6D6FB4}"/>
              </a:ext>
            </a:extLst>
          </p:cNvPr>
          <p:cNvCxnSpPr>
            <a:cxnSpLocks/>
            <a:stCxn id="14" idx="5"/>
            <a:endCxn id="16" idx="0"/>
          </p:cNvCxnSpPr>
          <p:nvPr/>
        </p:nvCxnSpPr>
        <p:spPr>
          <a:xfrm>
            <a:off x="6672620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19D5418-3458-A9AD-A895-446612DEA0DC}"/>
              </a:ext>
            </a:extLst>
          </p:cNvPr>
          <p:cNvCxnSpPr>
            <a:cxnSpLocks/>
            <a:stCxn id="14" idx="3"/>
            <a:endCxn id="15" idx="0"/>
          </p:cNvCxnSpPr>
          <p:nvPr/>
        </p:nvCxnSpPr>
        <p:spPr>
          <a:xfrm flipH="1">
            <a:off x="6412663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BD2D90C4-E025-F001-C6F4-F937E45CBB38}"/>
              </a:ext>
            </a:extLst>
          </p:cNvPr>
          <p:cNvCxnSpPr>
            <a:cxnSpLocks/>
            <a:stCxn id="15" idx="3"/>
            <a:endCxn id="17" idx="0"/>
          </p:cNvCxnSpPr>
          <p:nvPr/>
        </p:nvCxnSpPr>
        <p:spPr>
          <a:xfrm flipH="1">
            <a:off x="6220563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C7C5BD0D-E8C7-9513-A2B6-7649608A8908}"/>
              </a:ext>
            </a:extLst>
          </p:cNvPr>
          <p:cNvCxnSpPr>
            <a:cxnSpLocks/>
            <a:stCxn id="17" idx="3"/>
            <a:endCxn id="23" idx="0"/>
          </p:cNvCxnSpPr>
          <p:nvPr/>
        </p:nvCxnSpPr>
        <p:spPr>
          <a:xfrm flipH="1">
            <a:off x="6028463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D39FE545-2CD1-1CEB-D9CE-C011C855B816}"/>
              </a:ext>
            </a:extLst>
          </p:cNvPr>
          <p:cNvCxnSpPr>
            <a:cxnSpLocks/>
            <a:stCxn id="17" idx="5"/>
            <a:endCxn id="19" idx="0"/>
          </p:cNvCxnSpPr>
          <p:nvPr/>
        </p:nvCxnSpPr>
        <p:spPr>
          <a:xfrm>
            <a:off x="6288481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3" name="Ellipse 52">
            <a:extLst>
              <a:ext uri="{FF2B5EF4-FFF2-40B4-BE49-F238E27FC236}">
                <a16:creationId xmlns:a16="http://schemas.microsoft.com/office/drawing/2014/main" id="{E727F1DD-8D59-B82C-5546-0384F8FBAEDE}"/>
              </a:ext>
            </a:extLst>
          </p:cNvPr>
          <p:cNvSpPr/>
          <p:nvPr/>
        </p:nvSpPr>
        <p:spPr>
          <a:xfrm>
            <a:off x="7910922" y="102368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4" name="Ellipse 53">
            <a:extLst>
              <a:ext uri="{FF2B5EF4-FFF2-40B4-BE49-F238E27FC236}">
                <a16:creationId xmlns:a16="http://schemas.microsoft.com/office/drawing/2014/main" id="{A78898DE-7210-AA2D-3626-E2A7FF9291F0}"/>
              </a:ext>
            </a:extLst>
          </p:cNvPr>
          <p:cNvSpPr/>
          <p:nvPr/>
        </p:nvSpPr>
        <p:spPr>
          <a:xfrm>
            <a:off x="7718822" y="1394390"/>
            <a:ext cx="192100" cy="192100"/>
          </a:xfrm>
          <a:prstGeom prst="ellipse">
            <a:avLst/>
          </a:prstGeom>
          <a:solidFill>
            <a:srgbClr val="F2F2F2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5" name="Ellipse 54">
            <a:extLst>
              <a:ext uri="{FF2B5EF4-FFF2-40B4-BE49-F238E27FC236}">
                <a16:creationId xmlns:a16="http://schemas.microsoft.com/office/drawing/2014/main" id="{E9EEFE3A-9ED5-F740-41A3-76D5CA890796}"/>
              </a:ext>
            </a:extLst>
          </p:cNvPr>
          <p:cNvSpPr/>
          <p:nvPr/>
        </p:nvSpPr>
        <p:spPr>
          <a:xfrm>
            <a:off x="8102961" y="139439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6" name="Ellipse 55">
            <a:extLst>
              <a:ext uri="{FF2B5EF4-FFF2-40B4-BE49-F238E27FC236}">
                <a16:creationId xmlns:a16="http://schemas.microsoft.com/office/drawing/2014/main" id="{035DCCB3-9D32-30D9-C9AD-3F0E776727A9}"/>
              </a:ext>
            </a:extLst>
          </p:cNvPr>
          <p:cNvSpPr/>
          <p:nvPr/>
        </p:nvSpPr>
        <p:spPr>
          <a:xfrm>
            <a:off x="79109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7" name="Ellipse 56">
            <a:extLst>
              <a:ext uri="{FF2B5EF4-FFF2-40B4-BE49-F238E27FC236}">
                <a16:creationId xmlns:a16="http://schemas.microsoft.com/office/drawing/2014/main" id="{54D0B181-03B6-3A9C-B7AD-37D3731F0FCB}"/>
              </a:ext>
            </a:extLst>
          </p:cNvPr>
          <p:cNvSpPr/>
          <p:nvPr/>
        </p:nvSpPr>
        <p:spPr>
          <a:xfrm>
            <a:off x="8295061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8" name="Ellipse 57">
            <a:extLst>
              <a:ext uri="{FF2B5EF4-FFF2-40B4-BE49-F238E27FC236}">
                <a16:creationId xmlns:a16="http://schemas.microsoft.com/office/drawing/2014/main" id="{BA5BBB05-8A26-6CD8-5A47-051585E2F315}"/>
              </a:ext>
            </a:extLst>
          </p:cNvPr>
          <p:cNvSpPr/>
          <p:nvPr/>
        </p:nvSpPr>
        <p:spPr>
          <a:xfrm>
            <a:off x="7718822" y="213581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59" name="Ellipse 58">
            <a:extLst>
              <a:ext uri="{FF2B5EF4-FFF2-40B4-BE49-F238E27FC236}">
                <a16:creationId xmlns:a16="http://schemas.microsoft.com/office/drawing/2014/main" id="{E3CDC496-1165-F8EA-89BB-24EC065339DB}"/>
              </a:ext>
            </a:extLst>
          </p:cNvPr>
          <p:cNvSpPr/>
          <p:nvPr/>
        </p:nvSpPr>
        <p:spPr>
          <a:xfrm>
            <a:off x="79109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60" name="Ellipse 59">
            <a:extLst>
              <a:ext uri="{FF2B5EF4-FFF2-40B4-BE49-F238E27FC236}">
                <a16:creationId xmlns:a16="http://schemas.microsoft.com/office/drawing/2014/main" id="{A8FB7951-F29B-B523-CF79-C12D127535C3}"/>
              </a:ext>
            </a:extLst>
          </p:cNvPr>
          <p:cNvSpPr/>
          <p:nvPr/>
        </p:nvSpPr>
        <p:spPr>
          <a:xfrm>
            <a:off x="7526722" y="250212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61" name="Gerader Verbinder 60">
            <a:extLst>
              <a:ext uri="{FF2B5EF4-FFF2-40B4-BE49-F238E27FC236}">
                <a16:creationId xmlns:a16="http://schemas.microsoft.com/office/drawing/2014/main" id="{D1D1A934-8BB7-7BC7-75D5-363501DC68B8}"/>
              </a:ext>
            </a:extLst>
          </p:cNvPr>
          <p:cNvCxnSpPr>
            <a:cxnSpLocks/>
            <a:stCxn id="53" idx="3"/>
            <a:endCxn id="54" idx="0"/>
          </p:cNvCxnSpPr>
          <p:nvPr/>
        </p:nvCxnSpPr>
        <p:spPr>
          <a:xfrm flipH="1">
            <a:off x="7814872" y="118764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2" name="Gerader Verbinder 61">
            <a:extLst>
              <a:ext uri="{FF2B5EF4-FFF2-40B4-BE49-F238E27FC236}">
                <a16:creationId xmlns:a16="http://schemas.microsoft.com/office/drawing/2014/main" id="{B8478282-016C-3585-5A92-DC863156312E}"/>
              </a:ext>
            </a:extLst>
          </p:cNvPr>
          <p:cNvCxnSpPr>
            <a:cxnSpLocks/>
            <a:stCxn id="53" idx="5"/>
            <a:endCxn id="55" idx="0"/>
          </p:cNvCxnSpPr>
          <p:nvPr/>
        </p:nvCxnSpPr>
        <p:spPr>
          <a:xfrm>
            <a:off x="8074890" y="118764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E30DB282-BFCB-3447-8455-E83AC0534ADB}"/>
              </a:ext>
            </a:extLst>
          </p:cNvPr>
          <p:cNvCxnSpPr>
            <a:cxnSpLocks/>
            <a:stCxn id="55" idx="5"/>
            <a:endCxn id="57" idx="0"/>
          </p:cNvCxnSpPr>
          <p:nvPr/>
        </p:nvCxnSpPr>
        <p:spPr>
          <a:xfrm>
            <a:off x="8266929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2" name="Gerader Verbinder 191">
            <a:extLst>
              <a:ext uri="{FF2B5EF4-FFF2-40B4-BE49-F238E27FC236}">
                <a16:creationId xmlns:a16="http://schemas.microsoft.com/office/drawing/2014/main" id="{561AD4B5-7A13-68B5-CF8C-D25741D32C82}"/>
              </a:ext>
            </a:extLst>
          </p:cNvPr>
          <p:cNvCxnSpPr>
            <a:cxnSpLocks/>
            <a:stCxn id="55" idx="3"/>
            <a:endCxn id="56" idx="0"/>
          </p:cNvCxnSpPr>
          <p:nvPr/>
        </p:nvCxnSpPr>
        <p:spPr>
          <a:xfrm flipH="1">
            <a:off x="8006972" y="1558358"/>
            <a:ext cx="124121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3" name="Gerader Verbinder 192">
            <a:extLst>
              <a:ext uri="{FF2B5EF4-FFF2-40B4-BE49-F238E27FC236}">
                <a16:creationId xmlns:a16="http://schemas.microsoft.com/office/drawing/2014/main" id="{A5930E52-5E70-1ADE-0C30-B42BD04855A9}"/>
              </a:ext>
            </a:extLst>
          </p:cNvPr>
          <p:cNvCxnSpPr>
            <a:cxnSpLocks/>
            <a:stCxn id="56" idx="3"/>
            <a:endCxn id="58" idx="0"/>
          </p:cNvCxnSpPr>
          <p:nvPr/>
        </p:nvCxnSpPr>
        <p:spPr>
          <a:xfrm flipH="1">
            <a:off x="7814872" y="192906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F83D32B8-B12A-355E-3059-7398E849849E}"/>
              </a:ext>
            </a:extLst>
          </p:cNvPr>
          <p:cNvCxnSpPr>
            <a:cxnSpLocks/>
            <a:stCxn id="58" idx="3"/>
            <a:endCxn id="60" idx="0"/>
          </p:cNvCxnSpPr>
          <p:nvPr/>
        </p:nvCxnSpPr>
        <p:spPr>
          <a:xfrm flipH="1">
            <a:off x="7622772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5" name="Gerader Verbinder 194">
            <a:extLst>
              <a:ext uri="{FF2B5EF4-FFF2-40B4-BE49-F238E27FC236}">
                <a16:creationId xmlns:a16="http://schemas.microsoft.com/office/drawing/2014/main" id="{A8C1EA79-ABB7-CA6E-6585-9BCB026E7371}"/>
              </a:ext>
            </a:extLst>
          </p:cNvPr>
          <p:cNvCxnSpPr>
            <a:cxnSpLocks/>
            <a:stCxn id="58" idx="5"/>
            <a:endCxn id="59" idx="0"/>
          </p:cNvCxnSpPr>
          <p:nvPr/>
        </p:nvCxnSpPr>
        <p:spPr>
          <a:xfrm>
            <a:off x="7882790" y="2299778"/>
            <a:ext cx="124182" cy="202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6" name="Ellipse 195">
            <a:extLst>
              <a:ext uri="{FF2B5EF4-FFF2-40B4-BE49-F238E27FC236}">
                <a16:creationId xmlns:a16="http://schemas.microsoft.com/office/drawing/2014/main" id="{192637B9-B1C7-917E-CCBC-6CEFF8795DC7}"/>
              </a:ext>
            </a:extLst>
          </p:cNvPr>
          <p:cNvSpPr/>
          <p:nvPr/>
        </p:nvSpPr>
        <p:spPr>
          <a:xfrm>
            <a:off x="7526722" y="1765100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157ECC07-956F-A014-663E-E3101D63AC2A}"/>
              </a:ext>
            </a:extLst>
          </p:cNvPr>
          <p:cNvCxnSpPr>
            <a:cxnSpLocks/>
            <a:stCxn id="54" idx="3"/>
            <a:endCxn id="196" idx="0"/>
          </p:cNvCxnSpPr>
          <p:nvPr/>
        </p:nvCxnSpPr>
        <p:spPr>
          <a:xfrm flipH="1">
            <a:off x="7622772" y="1558358"/>
            <a:ext cx="124182" cy="2067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Ellipse 199">
            <a:extLst>
              <a:ext uri="{FF2B5EF4-FFF2-40B4-BE49-F238E27FC236}">
                <a16:creationId xmlns:a16="http://schemas.microsoft.com/office/drawing/2014/main" id="{DC6E3065-40E8-93C1-2EDB-AB5E76547B71}"/>
              </a:ext>
            </a:extLst>
          </p:cNvPr>
          <p:cNvSpPr/>
          <p:nvPr/>
        </p:nvSpPr>
        <p:spPr>
          <a:xfrm>
            <a:off x="6344745" y="3024253"/>
            <a:ext cx="192100" cy="192100"/>
          </a:xfrm>
          <a:prstGeom prst="ellipse">
            <a:avLst/>
          </a:prstGeom>
          <a:solidFill>
            <a:srgbClr val="FF4B4B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1" name="Ellipse 200">
            <a:extLst>
              <a:ext uri="{FF2B5EF4-FFF2-40B4-BE49-F238E27FC236}">
                <a16:creationId xmlns:a16="http://schemas.microsoft.com/office/drawing/2014/main" id="{A6A0B93D-EFA3-F584-6CC3-106054D1FD58}"/>
              </a:ext>
            </a:extLst>
          </p:cNvPr>
          <p:cNvSpPr/>
          <p:nvPr/>
        </p:nvSpPr>
        <p:spPr>
          <a:xfrm>
            <a:off x="6344684" y="329141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2" name="Textfeld 19">
            <a:extLst>
              <a:ext uri="{FF2B5EF4-FFF2-40B4-BE49-F238E27FC236}">
                <a16:creationId xmlns:a16="http://schemas.microsoft.com/office/drawing/2014/main" id="{0AF7B777-98CB-64D1-5874-6A313C72F129}"/>
              </a:ext>
            </a:extLst>
          </p:cNvPr>
          <p:cNvSpPr txBox="1"/>
          <p:nvPr/>
        </p:nvSpPr>
        <p:spPr>
          <a:xfrm>
            <a:off x="6575317" y="2941136"/>
            <a:ext cx="2205253" cy="61555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Outlier</a:t>
            </a:r>
          </a:p>
          <a:p>
            <a:r>
              <a:rPr lang="en-US" sz="1700" dirty="0">
                <a:latin typeface="+mn-lt"/>
              </a:rPr>
              <a:t>Regular data point</a:t>
            </a:r>
          </a:p>
        </p:txBody>
      </p:sp>
      <p:sp>
        <p:nvSpPr>
          <p:cNvPr id="204" name="Textfeld 203">
            <a:extLst>
              <a:ext uri="{FF2B5EF4-FFF2-40B4-BE49-F238E27FC236}">
                <a16:creationId xmlns:a16="http://schemas.microsoft.com/office/drawing/2014/main" id="{C5E38BF2-E5EF-3A42-FB6F-92B1037BC169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Create random splits to isolate </a:t>
            </a:r>
            <a:r>
              <a:rPr lang="en-US" sz="1700" dirty="0">
                <a:latin typeface="+mn-lt"/>
              </a:rPr>
              <a:t>all data points</a:t>
            </a:r>
            <a:endParaRPr lang="en-US" sz="1700" noProof="0" dirty="0">
              <a:latin typeface="+mn-lt"/>
            </a:endParaRPr>
          </a:p>
        </p:txBody>
      </p:sp>
      <p:sp>
        <p:nvSpPr>
          <p:cNvPr id="205" name="Textfeld 204">
            <a:extLst>
              <a:ext uri="{FF2B5EF4-FFF2-40B4-BE49-F238E27FC236}">
                <a16:creationId xmlns:a16="http://schemas.microsoft.com/office/drawing/2014/main" id="{B997FEB9-585B-A25F-9AFC-B4A0BC40FDE1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anomaly score</a:t>
            </a:r>
          </a:p>
        </p:txBody>
      </p:sp>
      <p:sp>
        <p:nvSpPr>
          <p:cNvPr id="206" name="Textfeld 205">
            <a:extLst>
              <a:ext uri="{FF2B5EF4-FFF2-40B4-BE49-F238E27FC236}">
                <a16:creationId xmlns:a16="http://schemas.microsoft.com/office/drawing/2014/main" id="{D38EACB7-6425-00CE-00E8-C613EA417615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Determine the outliers using a threshold for the score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07" name="Gruppieren 206">
            <a:extLst>
              <a:ext uri="{FF2B5EF4-FFF2-40B4-BE49-F238E27FC236}">
                <a16:creationId xmlns:a16="http://schemas.microsoft.com/office/drawing/2014/main" id="{57DFF7C2-99A9-2F37-B9FF-E3B142A06F80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08" name="Gruppieren 207">
              <a:extLst>
                <a:ext uri="{FF2B5EF4-FFF2-40B4-BE49-F238E27FC236}">
                  <a16:creationId xmlns:a16="http://schemas.microsoft.com/office/drawing/2014/main" id="{790AA10F-FEDA-8F72-75F0-713795A0A629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0" name="Gerader Verbinder 209">
                <a:extLst>
                  <a:ext uri="{FF2B5EF4-FFF2-40B4-BE49-F238E27FC236}">
                    <a16:creationId xmlns:a16="http://schemas.microsoft.com/office/drawing/2014/main" id="{8C59F7E1-8760-9AA1-94AB-464745194EE8}"/>
                  </a:ext>
                </a:extLst>
              </p:cNvPr>
              <p:cNvCxnSpPr>
                <a:cxnSpLocks/>
                <a:endCxn id="212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1" name="Gruppieren 210">
                <a:extLst>
                  <a:ext uri="{FF2B5EF4-FFF2-40B4-BE49-F238E27FC236}">
                    <a16:creationId xmlns:a16="http://schemas.microsoft.com/office/drawing/2014/main" id="{AAD69ED2-54E2-05BE-9F87-73D25E9540FD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2" name="Gleichschenkliges Dreieck 211">
                  <a:extLst>
                    <a:ext uri="{FF2B5EF4-FFF2-40B4-BE49-F238E27FC236}">
                      <a16:creationId xmlns:a16="http://schemas.microsoft.com/office/drawing/2014/main" id="{FC190AA2-71EE-F566-C58F-11794CF44639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3" name="Ellipse 212">
                  <a:extLst>
                    <a:ext uri="{FF2B5EF4-FFF2-40B4-BE49-F238E27FC236}">
                      <a16:creationId xmlns:a16="http://schemas.microsoft.com/office/drawing/2014/main" id="{6E3A130B-8147-9682-273A-1730D3490DDA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4" name="Ellipse 213">
                  <a:extLst>
                    <a:ext uri="{FF2B5EF4-FFF2-40B4-BE49-F238E27FC236}">
                      <a16:creationId xmlns:a16="http://schemas.microsoft.com/office/drawing/2014/main" id="{E2D80DA5-D6B3-4BBF-3FD3-CB21E6CB2078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09" name="Ellipse 208">
              <a:extLst>
                <a:ext uri="{FF2B5EF4-FFF2-40B4-BE49-F238E27FC236}">
                  <a16:creationId xmlns:a16="http://schemas.microsoft.com/office/drawing/2014/main" id="{184FB634-E35F-0264-EF50-958659BD933D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CD3AB6C-5583-3FE1-C24F-4794F9E233A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</p:spTree>
    <p:extLst>
      <p:ext uri="{BB962C8B-B14F-4D97-AF65-F5344CB8AC3E}">
        <p14:creationId xmlns:p14="http://schemas.microsoft.com/office/powerpoint/2010/main" val="408083094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96F92FD-FB96-1F89-0FC0-EE3A46F257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C32DBDE-37D3-7822-290D-E8BA183F647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89671E7D-39B4-59B6-2D73-C9C217388AE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09AE5676-76BE-CD0A-C6C8-F4FC402167F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5A6E122-B581-B94D-39A2-6A98B98F74A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3B29B6C4-63A2-FA1C-BF66-87B34965771C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CB8FF58C-1FBE-B615-88D5-AEA971657B3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89A260FB-D2D0-70D9-D509-5DBBA403D6E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2" name="Google Shape;206;p15">
            <a:extLst>
              <a:ext uri="{FF2B5EF4-FFF2-40B4-BE49-F238E27FC236}">
                <a16:creationId xmlns:a16="http://schemas.microsoft.com/office/drawing/2014/main" id="{516FDEA9-948D-5E54-2920-98AFA5B80DA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lvl="0"/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</a:t>
            </a:r>
            <a:r>
              <a:rPr lang="en-US" sz="800" b="1" dirty="0">
                <a:solidFill>
                  <a:schemeClr val="lt1"/>
                </a:solidFill>
                <a:latin typeface="+mn-lt"/>
              </a:rPr>
              <a:t>N. Weidemann</a:t>
            </a:r>
            <a:endParaRPr lang="en-US" sz="800" b="1" noProof="0" dirty="0">
              <a:solidFill>
                <a:schemeClr val="lt1"/>
              </a:solidFill>
              <a:latin typeface="+mn-lt"/>
            </a:endParaRPr>
          </a:p>
        </p:txBody>
      </p:sp>
      <p:sp>
        <p:nvSpPr>
          <p:cNvPr id="13" name="Foliennummernplatzhalter 12">
            <a:extLst>
              <a:ext uri="{FF2B5EF4-FFF2-40B4-BE49-F238E27FC236}">
                <a16:creationId xmlns:a16="http://schemas.microsoft.com/office/drawing/2014/main" id="{6F9B47E6-9EAA-CA0D-4E5B-3409E4ED07E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16</a:t>
            </a:fld>
            <a:r>
              <a:rPr lang="en-US" noProof="0" dirty="0"/>
              <a:t> / 39</a:t>
            </a:r>
          </a:p>
        </p:txBody>
      </p:sp>
      <p:sp>
        <p:nvSpPr>
          <p:cNvPr id="3" name="Ellipse 2">
            <a:extLst>
              <a:ext uri="{FF2B5EF4-FFF2-40B4-BE49-F238E27FC236}">
                <a16:creationId xmlns:a16="http://schemas.microsoft.com/office/drawing/2014/main" id="{E1D39FF4-7EE5-A1EB-75E7-885F8EE43126}"/>
              </a:ext>
            </a:extLst>
          </p:cNvPr>
          <p:cNvSpPr/>
          <p:nvPr/>
        </p:nvSpPr>
        <p:spPr>
          <a:xfrm>
            <a:off x="6940586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4F66AE34-0B7D-C80D-9001-691D090E59F4}"/>
              </a:ext>
            </a:extLst>
          </p:cNvPr>
          <p:cNvSpPr/>
          <p:nvPr/>
        </p:nvSpPr>
        <p:spPr>
          <a:xfrm>
            <a:off x="6934826" y="232872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5" name="Ellipse 14">
            <a:extLst>
              <a:ext uri="{FF2B5EF4-FFF2-40B4-BE49-F238E27FC236}">
                <a16:creationId xmlns:a16="http://schemas.microsoft.com/office/drawing/2014/main" id="{2CEF8FD7-F2E1-13D5-4790-5F0002F21E33}"/>
              </a:ext>
            </a:extLst>
          </p:cNvPr>
          <p:cNvSpPr/>
          <p:nvPr/>
        </p:nvSpPr>
        <p:spPr>
          <a:xfrm>
            <a:off x="7320552" y="1972149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6CAB171C-F793-DC45-4C38-52DD1D4C659F}"/>
              </a:ext>
            </a:extLst>
          </p:cNvPr>
          <p:cNvSpPr/>
          <p:nvPr/>
        </p:nvSpPr>
        <p:spPr>
          <a:xfrm>
            <a:off x="7320552" y="2332462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7" name="Ellipse 16">
            <a:extLst>
              <a:ext uri="{FF2B5EF4-FFF2-40B4-BE49-F238E27FC236}">
                <a16:creationId xmlns:a16="http://schemas.microsoft.com/office/drawing/2014/main" id="{E8461DA9-0B66-9D83-D130-CAF5485A6AE4}"/>
              </a:ext>
            </a:extLst>
          </p:cNvPr>
          <p:cNvSpPr/>
          <p:nvPr/>
        </p:nvSpPr>
        <p:spPr>
          <a:xfrm>
            <a:off x="7700518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7" name="Ellipse 26">
            <a:extLst>
              <a:ext uri="{FF2B5EF4-FFF2-40B4-BE49-F238E27FC236}">
                <a16:creationId xmlns:a16="http://schemas.microsoft.com/office/drawing/2014/main" id="{67C8C6B4-6D54-0DD8-8F43-06B6831BAE21}"/>
              </a:ext>
            </a:extLst>
          </p:cNvPr>
          <p:cNvSpPr/>
          <p:nvPr/>
        </p:nvSpPr>
        <p:spPr>
          <a:xfrm>
            <a:off x="8080484" y="197214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8" name="Ellipse 27">
            <a:extLst>
              <a:ext uri="{FF2B5EF4-FFF2-40B4-BE49-F238E27FC236}">
                <a16:creationId xmlns:a16="http://schemas.microsoft.com/office/drawing/2014/main" id="{127D1ADF-DDF1-3EE4-9F18-A45B426362F6}"/>
              </a:ext>
            </a:extLst>
          </p:cNvPr>
          <p:cNvSpPr/>
          <p:nvPr/>
        </p:nvSpPr>
        <p:spPr>
          <a:xfrm>
            <a:off x="7704819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5B235E82-4662-C4C2-8F0E-ED79FC384AB8}"/>
              </a:ext>
            </a:extLst>
          </p:cNvPr>
          <p:cNvSpPr/>
          <p:nvPr/>
        </p:nvSpPr>
        <p:spPr>
          <a:xfrm>
            <a:off x="8080484" y="232872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0" name="Ellipse 29">
            <a:extLst>
              <a:ext uri="{FF2B5EF4-FFF2-40B4-BE49-F238E27FC236}">
                <a16:creationId xmlns:a16="http://schemas.microsoft.com/office/drawing/2014/main" id="{9890EC71-8E83-182E-EA46-EB36335F4ED4}"/>
              </a:ext>
            </a:extLst>
          </p:cNvPr>
          <p:cNvSpPr/>
          <p:nvPr/>
        </p:nvSpPr>
        <p:spPr>
          <a:xfrm>
            <a:off x="7700518" y="161556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1" name="Ellipse 30">
            <a:extLst>
              <a:ext uri="{FF2B5EF4-FFF2-40B4-BE49-F238E27FC236}">
                <a16:creationId xmlns:a16="http://schemas.microsoft.com/office/drawing/2014/main" id="{75B88058-F19E-8072-AAA6-500FC3CE85A5}"/>
              </a:ext>
            </a:extLst>
          </p:cNvPr>
          <p:cNvSpPr/>
          <p:nvPr/>
        </p:nvSpPr>
        <p:spPr>
          <a:xfrm>
            <a:off x="8080484" y="1612443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2" name="Ellipse 31">
            <a:extLst>
              <a:ext uri="{FF2B5EF4-FFF2-40B4-BE49-F238E27FC236}">
                <a16:creationId xmlns:a16="http://schemas.microsoft.com/office/drawing/2014/main" id="{2C5EE53B-B8FA-77D2-2633-589F2BB6995E}"/>
              </a:ext>
            </a:extLst>
          </p:cNvPr>
          <p:cNvSpPr/>
          <p:nvPr/>
        </p:nvSpPr>
        <p:spPr>
          <a:xfrm>
            <a:off x="8080484" y="1252737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3" name="Ellipse 32">
            <a:extLst>
              <a:ext uri="{FF2B5EF4-FFF2-40B4-BE49-F238E27FC236}">
                <a16:creationId xmlns:a16="http://schemas.microsoft.com/office/drawing/2014/main" id="{22BC8B3B-57D6-5F47-8653-E00FDA3CA6B2}"/>
              </a:ext>
            </a:extLst>
          </p:cNvPr>
          <p:cNvSpPr/>
          <p:nvPr/>
        </p:nvSpPr>
        <p:spPr>
          <a:xfrm>
            <a:off x="7708736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4" name="Ellipse 33">
            <a:extLst>
              <a:ext uri="{FF2B5EF4-FFF2-40B4-BE49-F238E27FC236}">
                <a16:creationId xmlns:a16="http://schemas.microsoft.com/office/drawing/2014/main" id="{C08CFCAA-AA6F-6677-2CD5-1A818FE5F490}"/>
              </a:ext>
            </a:extLst>
          </p:cNvPr>
          <p:cNvSpPr/>
          <p:nvPr/>
        </p:nvSpPr>
        <p:spPr>
          <a:xfrm>
            <a:off x="8080484" y="268530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35" name="Ellipse 34">
            <a:extLst>
              <a:ext uri="{FF2B5EF4-FFF2-40B4-BE49-F238E27FC236}">
                <a16:creationId xmlns:a16="http://schemas.microsoft.com/office/drawing/2014/main" id="{612C3B91-3DA2-3EBC-CC8D-29DA0A9D8C89}"/>
              </a:ext>
            </a:extLst>
          </p:cNvPr>
          <p:cNvSpPr/>
          <p:nvPr/>
        </p:nvSpPr>
        <p:spPr>
          <a:xfrm>
            <a:off x="8080484" y="3041889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38" name="Gerader Verbinder 37">
            <a:extLst>
              <a:ext uri="{FF2B5EF4-FFF2-40B4-BE49-F238E27FC236}">
                <a16:creationId xmlns:a16="http://schemas.microsoft.com/office/drawing/2014/main" id="{B33A619D-582E-BF58-9499-35C959CD1B09}"/>
              </a:ext>
            </a:extLst>
          </p:cNvPr>
          <p:cNvCxnSpPr>
            <a:cxnSpLocks/>
            <a:stCxn id="15" idx="6"/>
            <a:endCxn id="17" idx="2"/>
          </p:cNvCxnSpPr>
          <p:nvPr/>
        </p:nvCxnSpPr>
        <p:spPr>
          <a:xfrm>
            <a:off x="7512652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Gerader Verbinder 40">
            <a:extLst>
              <a:ext uri="{FF2B5EF4-FFF2-40B4-BE49-F238E27FC236}">
                <a16:creationId xmlns:a16="http://schemas.microsoft.com/office/drawing/2014/main" id="{5A116A2D-5DF1-D772-DC45-B1C7D6747808}"/>
              </a:ext>
            </a:extLst>
          </p:cNvPr>
          <p:cNvCxnSpPr>
            <a:cxnSpLocks/>
            <a:stCxn id="15" idx="6"/>
            <a:endCxn id="30" idx="2"/>
          </p:cNvCxnSpPr>
          <p:nvPr/>
        </p:nvCxnSpPr>
        <p:spPr>
          <a:xfrm flipV="1">
            <a:off x="7512652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Gerader Verbinder 43">
            <a:extLst>
              <a:ext uri="{FF2B5EF4-FFF2-40B4-BE49-F238E27FC236}">
                <a16:creationId xmlns:a16="http://schemas.microsoft.com/office/drawing/2014/main" id="{84407F87-5B6F-7698-6CD1-BDECC04D92D6}"/>
              </a:ext>
            </a:extLst>
          </p:cNvPr>
          <p:cNvCxnSpPr>
            <a:cxnSpLocks/>
            <a:stCxn id="15" idx="6"/>
            <a:endCxn id="28" idx="2"/>
          </p:cNvCxnSpPr>
          <p:nvPr/>
        </p:nvCxnSpPr>
        <p:spPr>
          <a:xfrm>
            <a:off x="7512652" y="2068199"/>
            <a:ext cx="192167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7" name="Gerader Verbinder 46">
            <a:extLst>
              <a:ext uri="{FF2B5EF4-FFF2-40B4-BE49-F238E27FC236}">
                <a16:creationId xmlns:a16="http://schemas.microsoft.com/office/drawing/2014/main" id="{65CDC9ED-3199-CC3F-DA06-9ADEEE74710B}"/>
              </a:ext>
            </a:extLst>
          </p:cNvPr>
          <p:cNvCxnSpPr>
            <a:cxnSpLocks/>
            <a:stCxn id="15" idx="6"/>
            <a:endCxn id="33" idx="2"/>
          </p:cNvCxnSpPr>
          <p:nvPr/>
        </p:nvCxnSpPr>
        <p:spPr>
          <a:xfrm>
            <a:off x="7512652" y="2068199"/>
            <a:ext cx="196084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Gerader Verbinder 49">
            <a:extLst>
              <a:ext uri="{FF2B5EF4-FFF2-40B4-BE49-F238E27FC236}">
                <a16:creationId xmlns:a16="http://schemas.microsoft.com/office/drawing/2014/main" id="{3BE0B6E2-D8A3-5AB8-3A33-AEBCB004948E}"/>
              </a:ext>
            </a:extLst>
          </p:cNvPr>
          <p:cNvCxnSpPr>
            <a:cxnSpLocks/>
            <a:stCxn id="16" idx="6"/>
            <a:endCxn id="33" idx="2"/>
          </p:cNvCxnSpPr>
          <p:nvPr/>
        </p:nvCxnSpPr>
        <p:spPr>
          <a:xfrm>
            <a:off x="7512652" y="2428512"/>
            <a:ext cx="196084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Gerader Verbinder 52">
            <a:extLst>
              <a:ext uri="{FF2B5EF4-FFF2-40B4-BE49-F238E27FC236}">
                <a16:creationId xmlns:a16="http://schemas.microsoft.com/office/drawing/2014/main" id="{6A89C9C5-862F-DB6F-5C4A-D11C667EF5F4}"/>
              </a:ext>
            </a:extLst>
          </p:cNvPr>
          <p:cNvCxnSpPr>
            <a:cxnSpLocks/>
            <a:stCxn id="16" idx="6"/>
            <a:endCxn id="28" idx="2"/>
          </p:cNvCxnSpPr>
          <p:nvPr/>
        </p:nvCxnSpPr>
        <p:spPr>
          <a:xfrm flipV="1">
            <a:off x="7512652" y="2424779"/>
            <a:ext cx="192167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Gerader Verbinder 56">
            <a:extLst>
              <a:ext uri="{FF2B5EF4-FFF2-40B4-BE49-F238E27FC236}">
                <a16:creationId xmlns:a16="http://schemas.microsoft.com/office/drawing/2014/main" id="{BD593E1F-D17F-194C-AD98-526C88083F35}"/>
              </a:ext>
            </a:extLst>
          </p:cNvPr>
          <p:cNvCxnSpPr>
            <a:cxnSpLocks/>
            <a:stCxn id="17" idx="2"/>
            <a:endCxn id="16" idx="6"/>
          </p:cNvCxnSpPr>
          <p:nvPr/>
        </p:nvCxnSpPr>
        <p:spPr>
          <a:xfrm flipH="1">
            <a:off x="7512652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0" name="Gerader Verbinder 59">
            <a:extLst>
              <a:ext uri="{FF2B5EF4-FFF2-40B4-BE49-F238E27FC236}">
                <a16:creationId xmlns:a16="http://schemas.microsoft.com/office/drawing/2014/main" id="{7B63E764-C570-F906-9C24-B14747D67174}"/>
              </a:ext>
            </a:extLst>
          </p:cNvPr>
          <p:cNvCxnSpPr>
            <a:cxnSpLocks/>
            <a:stCxn id="30" idx="2"/>
            <a:endCxn id="16" idx="6"/>
          </p:cNvCxnSpPr>
          <p:nvPr/>
        </p:nvCxnSpPr>
        <p:spPr>
          <a:xfrm flipH="1">
            <a:off x="7512652" y="1711619"/>
            <a:ext cx="187866" cy="71689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Gerader Verbinder 62">
            <a:extLst>
              <a:ext uri="{FF2B5EF4-FFF2-40B4-BE49-F238E27FC236}">
                <a16:creationId xmlns:a16="http://schemas.microsoft.com/office/drawing/2014/main" id="{C79CE026-AE2D-6C9A-FD10-867EF587E671}"/>
              </a:ext>
            </a:extLst>
          </p:cNvPr>
          <p:cNvCxnSpPr>
            <a:cxnSpLocks/>
            <a:stCxn id="35" idx="2"/>
            <a:endCxn id="33" idx="6"/>
          </p:cNvCxnSpPr>
          <p:nvPr/>
        </p:nvCxnSpPr>
        <p:spPr>
          <a:xfrm flipH="1" flipV="1">
            <a:off x="7900836" y="278135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4" name="Gerader Verbinder 193">
            <a:extLst>
              <a:ext uri="{FF2B5EF4-FFF2-40B4-BE49-F238E27FC236}">
                <a16:creationId xmlns:a16="http://schemas.microsoft.com/office/drawing/2014/main" id="{CB031104-4862-71A5-F5E7-57DEF4203050}"/>
              </a:ext>
            </a:extLst>
          </p:cNvPr>
          <p:cNvCxnSpPr>
            <a:cxnSpLocks/>
            <a:stCxn id="34" idx="2"/>
            <a:endCxn id="33" idx="6"/>
          </p:cNvCxnSpPr>
          <p:nvPr/>
        </p:nvCxnSpPr>
        <p:spPr>
          <a:xfrm flipH="1">
            <a:off x="7900836" y="2781359"/>
            <a:ext cx="179648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7" name="Gerader Verbinder 196">
            <a:extLst>
              <a:ext uri="{FF2B5EF4-FFF2-40B4-BE49-F238E27FC236}">
                <a16:creationId xmlns:a16="http://schemas.microsoft.com/office/drawing/2014/main" id="{E80B8471-EC4C-F653-D176-DCC0D4A0C9C5}"/>
              </a:ext>
            </a:extLst>
          </p:cNvPr>
          <p:cNvCxnSpPr>
            <a:cxnSpLocks/>
            <a:stCxn id="29" idx="2"/>
            <a:endCxn id="33" idx="6"/>
          </p:cNvCxnSpPr>
          <p:nvPr/>
        </p:nvCxnSpPr>
        <p:spPr>
          <a:xfrm flipH="1">
            <a:off x="7900836" y="2424779"/>
            <a:ext cx="179648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0" name="Gerader Verbinder 199">
            <a:extLst>
              <a:ext uri="{FF2B5EF4-FFF2-40B4-BE49-F238E27FC236}">
                <a16:creationId xmlns:a16="http://schemas.microsoft.com/office/drawing/2014/main" id="{96519E16-AC3D-C93B-9896-00ED7BDB9595}"/>
              </a:ext>
            </a:extLst>
          </p:cNvPr>
          <p:cNvCxnSpPr>
            <a:cxnSpLocks/>
            <a:stCxn id="27" idx="2"/>
            <a:endCxn id="33" idx="6"/>
          </p:cNvCxnSpPr>
          <p:nvPr/>
        </p:nvCxnSpPr>
        <p:spPr>
          <a:xfrm flipH="1">
            <a:off x="7900836" y="2068199"/>
            <a:ext cx="179648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3" name="Gerader Verbinder 202">
            <a:extLst>
              <a:ext uri="{FF2B5EF4-FFF2-40B4-BE49-F238E27FC236}">
                <a16:creationId xmlns:a16="http://schemas.microsoft.com/office/drawing/2014/main" id="{128EBC76-584E-B731-5F70-DB9640DC3428}"/>
              </a:ext>
            </a:extLst>
          </p:cNvPr>
          <p:cNvCxnSpPr>
            <a:cxnSpLocks/>
            <a:stCxn id="31" idx="2"/>
            <a:endCxn id="33" idx="6"/>
          </p:cNvCxnSpPr>
          <p:nvPr/>
        </p:nvCxnSpPr>
        <p:spPr>
          <a:xfrm flipH="1">
            <a:off x="7900836" y="1708493"/>
            <a:ext cx="179648" cy="107286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" name="Gerader Verbinder 205">
            <a:extLst>
              <a:ext uri="{FF2B5EF4-FFF2-40B4-BE49-F238E27FC236}">
                <a16:creationId xmlns:a16="http://schemas.microsoft.com/office/drawing/2014/main" id="{E535C433-7266-F48B-0383-02816FBD6625}"/>
              </a:ext>
            </a:extLst>
          </p:cNvPr>
          <p:cNvCxnSpPr>
            <a:cxnSpLocks/>
            <a:stCxn id="32" idx="2"/>
            <a:endCxn id="33" idx="6"/>
          </p:cNvCxnSpPr>
          <p:nvPr/>
        </p:nvCxnSpPr>
        <p:spPr>
          <a:xfrm flipH="1">
            <a:off x="7900836" y="1348787"/>
            <a:ext cx="179648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" name="Gerader Verbinder 208">
            <a:extLst>
              <a:ext uri="{FF2B5EF4-FFF2-40B4-BE49-F238E27FC236}">
                <a16:creationId xmlns:a16="http://schemas.microsoft.com/office/drawing/2014/main" id="{54034C47-2D6B-53D6-6D10-87DD70CC5304}"/>
              </a:ext>
            </a:extLst>
          </p:cNvPr>
          <p:cNvCxnSpPr>
            <a:cxnSpLocks/>
            <a:stCxn id="28" idx="6"/>
            <a:endCxn id="35" idx="2"/>
          </p:cNvCxnSpPr>
          <p:nvPr/>
        </p:nvCxnSpPr>
        <p:spPr>
          <a:xfrm>
            <a:off x="7896919" y="2424779"/>
            <a:ext cx="183565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" name="Gerader Verbinder 211">
            <a:extLst>
              <a:ext uri="{FF2B5EF4-FFF2-40B4-BE49-F238E27FC236}">
                <a16:creationId xmlns:a16="http://schemas.microsoft.com/office/drawing/2014/main" id="{E92707AA-88F1-0F3F-0FBB-2DEFFA4B0E7B}"/>
              </a:ext>
            </a:extLst>
          </p:cNvPr>
          <p:cNvCxnSpPr>
            <a:cxnSpLocks/>
            <a:stCxn id="28" idx="6"/>
            <a:endCxn id="34" idx="2"/>
          </p:cNvCxnSpPr>
          <p:nvPr/>
        </p:nvCxnSpPr>
        <p:spPr>
          <a:xfrm>
            <a:off x="7896919" y="242477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" name="Gerader Verbinder 214">
            <a:extLst>
              <a:ext uri="{FF2B5EF4-FFF2-40B4-BE49-F238E27FC236}">
                <a16:creationId xmlns:a16="http://schemas.microsoft.com/office/drawing/2014/main" id="{2E288195-B20E-4418-AAC1-FA6143FB5219}"/>
              </a:ext>
            </a:extLst>
          </p:cNvPr>
          <p:cNvCxnSpPr>
            <a:cxnSpLocks/>
            <a:stCxn id="28" idx="6"/>
            <a:endCxn id="29" idx="2"/>
          </p:cNvCxnSpPr>
          <p:nvPr/>
        </p:nvCxnSpPr>
        <p:spPr>
          <a:xfrm>
            <a:off x="7896919" y="2424779"/>
            <a:ext cx="183565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Gerader Verbinder 217">
            <a:extLst>
              <a:ext uri="{FF2B5EF4-FFF2-40B4-BE49-F238E27FC236}">
                <a16:creationId xmlns:a16="http://schemas.microsoft.com/office/drawing/2014/main" id="{BED38DBB-9D4A-5F1C-26B8-3888DA90836C}"/>
              </a:ext>
            </a:extLst>
          </p:cNvPr>
          <p:cNvCxnSpPr>
            <a:cxnSpLocks/>
            <a:stCxn id="28" idx="6"/>
            <a:endCxn id="27" idx="2"/>
          </p:cNvCxnSpPr>
          <p:nvPr/>
        </p:nvCxnSpPr>
        <p:spPr>
          <a:xfrm flipV="1">
            <a:off x="7896919" y="2068199"/>
            <a:ext cx="183565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1" name="Gerader Verbinder 220">
            <a:extLst>
              <a:ext uri="{FF2B5EF4-FFF2-40B4-BE49-F238E27FC236}">
                <a16:creationId xmlns:a16="http://schemas.microsoft.com/office/drawing/2014/main" id="{8634DA4D-AE97-E49D-F05C-60CE88F587DB}"/>
              </a:ext>
            </a:extLst>
          </p:cNvPr>
          <p:cNvCxnSpPr>
            <a:cxnSpLocks/>
            <a:stCxn id="28" idx="6"/>
            <a:endCxn id="31" idx="2"/>
          </p:cNvCxnSpPr>
          <p:nvPr/>
        </p:nvCxnSpPr>
        <p:spPr>
          <a:xfrm flipV="1">
            <a:off x="7896919" y="1708493"/>
            <a:ext cx="183565" cy="71628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5" name="Gerader Verbinder 224">
            <a:extLst>
              <a:ext uri="{FF2B5EF4-FFF2-40B4-BE49-F238E27FC236}">
                <a16:creationId xmlns:a16="http://schemas.microsoft.com/office/drawing/2014/main" id="{743BDDE8-BB30-50DB-E213-50C896ED0862}"/>
              </a:ext>
            </a:extLst>
          </p:cNvPr>
          <p:cNvCxnSpPr>
            <a:cxnSpLocks/>
            <a:stCxn id="28" idx="6"/>
            <a:endCxn id="32" idx="2"/>
          </p:cNvCxnSpPr>
          <p:nvPr/>
        </p:nvCxnSpPr>
        <p:spPr>
          <a:xfrm flipV="1">
            <a:off x="7896919" y="1348787"/>
            <a:ext cx="183565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8" name="Gerader Verbinder 227">
            <a:extLst>
              <a:ext uri="{FF2B5EF4-FFF2-40B4-BE49-F238E27FC236}">
                <a16:creationId xmlns:a16="http://schemas.microsoft.com/office/drawing/2014/main" id="{6536701A-58DD-EE61-DB71-A57956787764}"/>
              </a:ext>
            </a:extLst>
          </p:cNvPr>
          <p:cNvCxnSpPr>
            <a:cxnSpLocks/>
            <a:stCxn id="17" idx="6"/>
            <a:endCxn id="35" idx="2"/>
          </p:cNvCxnSpPr>
          <p:nvPr/>
        </p:nvCxnSpPr>
        <p:spPr>
          <a:xfrm>
            <a:off x="7892618" y="206819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1" name="Gerader Verbinder 230">
            <a:extLst>
              <a:ext uri="{FF2B5EF4-FFF2-40B4-BE49-F238E27FC236}">
                <a16:creationId xmlns:a16="http://schemas.microsoft.com/office/drawing/2014/main" id="{C646CB29-289F-3923-485E-8F05AF8320CA}"/>
              </a:ext>
            </a:extLst>
          </p:cNvPr>
          <p:cNvCxnSpPr>
            <a:cxnSpLocks/>
            <a:stCxn id="17" idx="6"/>
            <a:endCxn id="34" idx="2"/>
          </p:cNvCxnSpPr>
          <p:nvPr/>
        </p:nvCxnSpPr>
        <p:spPr>
          <a:xfrm>
            <a:off x="7892618" y="206819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4" name="Gerader Verbinder 233">
            <a:extLst>
              <a:ext uri="{FF2B5EF4-FFF2-40B4-BE49-F238E27FC236}">
                <a16:creationId xmlns:a16="http://schemas.microsoft.com/office/drawing/2014/main" id="{4B7E0E08-59F1-AFDE-D3DB-70B3B9DF1941}"/>
              </a:ext>
            </a:extLst>
          </p:cNvPr>
          <p:cNvCxnSpPr>
            <a:cxnSpLocks/>
            <a:stCxn id="17" idx="6"/>
            <a:endCxn id="29" idx="2"/>
          </p:cNvCxnSpPr>
          <p:nvPr/>
        </p:nvCxnSpPr>
        <p:spPr>
          <a:xfrm>
            <a:off x="7892618" y="206819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7" name="Gerader Verbinder 236">
            <a:extLst>
              <a:ext uri="{FF2B5EF4-FFF2-40B4-BE49-F238E27FC236}">
                <a16:creationId xmlns:a16="http://schemas.microsoft.com/office/drawing/2014/main" id="{340B198E-AB28-7AAB-7877-8B9C88B3D1BB}"/>
              </a:ext>
            </a:extLst>
          </p:cNvPr>
          <p:cNvCxnSpPr>
            <a:cxnSpLocks/>
            <a:stCxn id="17" idx="6"/>
            <a:endCxn id="27" idx="2"/>
          </p:cNvCxnSpPr>
          <p:nvPr/>
        </p:nvCxnSpPr>
        <p:spPr>
          <a:xfrm>
            <a:off x="7892618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0" name="Gerader Verbinder 239">
            <a:extLst>
              <a:ext uri="{FF2B5EF4-FFF2-40B4-BE49-F238E27FC236}">
                <a16:creationId xmlns:a16="http://schemas.microsoft.com/office/drawing/2014/main" id="{9C60B81B-ED2C-FCED-35FF-C9394CD117A3}"/>
              </a:ext>
            </a:extLst>
          </p:cNvPr>
          <p:cNvCxnSpPr>
            <a:cxnSpLocks/>
            <a:stCxn id="17" idx="6"/>
            <a:endCxn id="31" idx="2"/>
          </p:cNvCxnSpPr>
          <p:nvPr/>
        </p:nvCxnSpPr>
        <p:spPr>
          <a:xfrm flipV="1">
            <a:off x="7892618" y="1708493"/>
            <a:ext cx="187866" cy="35970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3" name="Gerader Verbinder 242">
            <a:extLst>
              <a:ext uri="{FF2B5EF4-FFF2-40B4-BE49-F238E27FC236}">
                <a16:creationId xmlns:a16="http://schemas.microsoft.com/office/drawing/2014/main" id="{B6277C44-E45B-56B7-C76C-C86696CD667B}"/>
              </a:ext>
            </a:extLst>
          </p:cNvPr>
          <p:cNvCxnSpPr>
            <a:cxnSpLocks/>
            <a:stCxn id="17" idx="6"/>
            <a:endCxn id="32" idx="2"/>
          </p:cNvCxnSpPr>
          <p:nvPr/>
        </p:nvCxnSpPr>
        <p:spPr>
          <a:xfrm flipV="1">
            <a:off x="7892618" y="1348787"/>
            <a:ext cx="187866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6" name="Gerader Verbinder 245">
            <a:extLst>
              <a:ext uri="{FF2B5EF4-FFF2-40B4-BE49-F238E27FC236}">
                <a16:creationId xmlns:a16="http://schemas.microsoft.com/office/drawing/2014/main" id="{B55D5FD3-C56F-B737-0946-3CDC2920E46F}"/>
              </a:ext>
            </a:extLst>
          </p:cNvPr>
          <p:cNvCxnSpPr>
            <a:cxnSpLocks/>
            <a:stCxn id="32" idx="2"/>
            <a:endCxn id="30" idx="6"/>
          </p:cNvCxnSpPr>
          <p:nvPr/>
        </p:nvCxnSpPr>
        <p:spPr>
          <a:xfrm flipH="1">
            <a:off x="7892618" y="1348787"/>
            <a:ext cx="187866" cy="36283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9" name="Gerader Verbinder 248">
            <a:extLst>
              <a:ext uri="{FF2B5EF4-FFF2-40B4-BE49-F238E27FC236}">
                <a16:creationId xmlns:a16="http://schemas.microsoft.com/office/drawing/2014/main" id="{29164AEE-A5E4-3BF4-34BE-8911395E986B}"/>
              </a:ext>
            </a:extLst>
          </p:cNvPr>
          <p:cNvCxnSpPr>
            <a:cxnSpLocks/>
            <a:stCxn id="31" idx="2"/>
            <a:endCxn id="30" idx="6"/>
          </p:cNvCxnSpPr>
          <p:nvPr/>
        </p:nvCxnSpPr>
        <p:spPr>
          <a:xfrm flipH="1">
            <a:off x="7892618" y="1708493"/>
            <a:ext cx="187866" cy="3126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2" name="Gerader Verbinder 251">
            <a:extLst>
              <a:ext uri="{FF2B5EF4-FFF2-40B4-BE49-F238E27FC236}">
                <a16:creationId xmlns:a16="http://schemas.microsoft.com/office/drawing/2014/main" id="{41A6B309-8BE2-9C78-D3EE-477A06FED811}"/>
              </a:ext>
            </a:extLst>
          </p:cNvPr>
          <p:cNvCxnSpPr>
            <a:cxnSpLocks/>
            <a:stCxn id="27" idx="2"/>
            <a:endCxn id="30" idx="6"/>
          </p:cNvCxnSpPr>
          <p:nvPr/>
        </p:nvCxnSpPr>
        <p:spPr>
          <a:xfrm flipH="1" flipV="1">
            <a:off x="7892618" y="1711619"/>
            <a:ext cx="18786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5" name="Gerader Verbinder 254">
            <a:extLst>
              <a:ext uri="{FF2B5EF4-FFF2-40B4-BE49-F238E27FC236}">
                <a16:creationId xmlns:a16="http://schemas.microsoft.com/office/drawing/2014/main" id="{7060528B-0A2A-7EE6-A216-2DE0B00A997A}"/>
              </a:ext>
            </a:extLst>
          </p:cNvPr>
          <p:cNvCxnSpPr>
            <a:cxnSpLocks/>
            <a:stCxn id="29" idx="2"/>
            <a:endCxn id="30" idx="6"/>
          </p:cNvCxnSpPr>
          <p:nvPr/>
        </p:nvCxnSpPr>
        <p:spPr>
          <a:xfrm flipH="1" flipV="1">
            <a:off x="7892618" y="1711619"/>
            <a:ext cx="18786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0" name="Gerader Verbinder 2049">
            <a:extLst>
              <a:ext uri="{FF2B5EF4-FFF2-40B4-BE49-F238E27FC236}">
                <a16:creationId xmlns:a16="http://schemas.microsoft.com/office/drawing/2014/main" id="{2BFD9C5A-5640-C440-F798-9F6B07A587C0}"/>
              </a:ext>
            </a:extLst>
          </p:cNvPr>
          <p:cNvCxnSpPr>
            <a:cxnSpLocks/>
            <a:stCxn id="34" idx="2"/>
            <a:endCxn id="30" idx="6"/>
          </p:cNvCxnSpPr>
          <p:nvPr/>
        </p:nvCxnSpPr>
        <p:spPr>
          <a:xfrm flipH="1" flipV="1">
            <a:off x="7892618" y="1711619"/>
            <a:ext cx="18786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54" name="Gerader Verbinder 2053">
            <a:extLst>
              <a:ext uri="{FF2B5EF4-FFF2-40B4-BE49-F238E27FC236}">
                <a16:creationId xmlns:a16="http://schemas.microsoft.com/office/drawing/2014/main" id="{807D0570-8A3C-3E5D-A16A-B761279CDF20}"/>
              </a:ext>
            </a:extLst>
          </p:cNvPr>
          <p:cNvCxnSpPr>
            <a:cxnSpLocks/>
            <a:stCxn id="35" idx="2"/>
            <a:endCxn id="30" idx="6"/>
          </p:cNvCxnSpPr>
          <p:nvPr/>
        </p:nvCxnSpPr>
        <p:spPr>
          <a:xfrm flipH="1" flipV="1">
            <a:off x="7892618" y="1711619"/>
            <a:ext cx="187866" cy="142632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57" name="Ellipse 2056">
            <a:extLst>
              <a:ext uri="{FF2B5EF4-FFF2-40B4-BE49-F238E27FC236}">
                <a16:creationId xmlns:a16="http://schemas.microsoft.com/office/drawing/2014/main" id="{5AA8439E-26AA-F2B8-B0D3-8FD390A30C3C}"/>
              </a:ext>
            </a:extLst>
          </p:cNvPr>
          <p:cNvSpPr/>
          <p:nvPr/>
        </p:nvSpPr>
        <p:spPr>
          <a:xfrm>
            <a:off x="6555623" y="197214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8" name="Ellipse 2057">
            <a:extLst>
              <a:ext uri="{FF2B5EF4-FFF2-40B4-BE49-F238E27FC236}">
                <a16:creationId xmlns:a16="http://schemas.microsoft.com/office/drawing/2014/main" id="{2C5F9F71-0042-23A8-BBEB-A0350D237712}"/>
              </a:ext>
            </a:extLst>
          </p:cNvPr>
          <p:cNvSpPr/>
          <p:nvPr/>
        </p:nvSpPr>
        <p:spPr>
          <a:xfrm>
            <a:off x="6554735" y="2327618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59" name="Ellipse 2058">
            <a:extLst>
              <a:ext uri="{FF2B5EF4-FFF2-40B4-BE49-F238E27FC236}">
                <a16:creationId xmlns:a16="http://schemas.microsoft.com/office/drawing/2014/main" id="{B8DB423A-F228-00EE-96C6-A5BF9C96A21E}"/>
              </a:ext>
            </a:extLst>
          </p:cNvPr>
          <p:cNvSpPr/>
          <p:nvPr/>
        </p:nvSpPr>
        <p:spPr>
          <a:xfrm>
            <a:off x="6558600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0" name="Ellipse 2059">
            <a:extLst>
              <a:ext uri="{FF2B5EF4-FFF2-40B4-BE49-F238E27FC236}">
                <a16:creationId xmlns:a16="http://schemas.microsoft.com/office/drawing/2014/main" id="{788F7346-1501-D8EA-C125-15BDEA943886}"/>
              </a:ext>
            </a:extLst>
          </p:cNvPr>
          <p:cNvSpPr/>
          <p:nvPr/>
        </p:nvSpPr>
        <p:spPr>
          <a:xfrm>
            <a:off x="6553837" y="1252737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1" name="Ellipse 2060">
            <a:extLst>
              <a:ext uri="{FF2B5EF4-FFF2-40B4-BE49-F238E27FC236}">
                <a16:creationId xmlns:a16="http://schemas.microsoft.com/office/drawing/2014/main" id="{7906A0DA-EF1F-607B-CFEA-D556EC33C7E3}"/>
              </a:ext>
            </a:extLst>
          </p:cNvPr>
          <p:cNvSpPr/>
          <p:nvPr/>
        </p:nvSpPr>
        <p:spPr>
          <a:xfrm>
            <a:off x="6554735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2" name="Ellipse 2061">
            <a:extLst>
              <a:ext uri="{FF2B5EF4-FFF2-40B4-BE49-F238E27FC236}">
                <a16:creationId xmlns:a16="http://schemas.microsoft.com/office/drawing/2014/main" id="{469F44CC-3D20-D6C1-AC93-FF47EBF0FA4B}"/>
              </a:ext>
            </a:extLst>
          </p:cNvPr>
          <p:cNvSpPr/>
          <p:nvPr/>
        </p:nvSpPr>
        <p:spPr>
          <a:xfrm>
            <a:off x="6558600" y="304188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3" name="Ellipse 2062">
            <a:extLst>
              <a:ext uri="{FF2B5EF4-FFF2-40B4-BE49-F238E27FC236}">
                <a16:creationId xmlns:a16="http://schemas.microsoft.com/office/drawing/2014/main" id="{6BF2110E-E3BC-F2BC-98E5-7CD705EA22B0}"/>
              </a:ext>
            </a:extLst>
          </p:cNvPr>
          <p:cNvSpPr/>
          <p:nvPr/>
        </p:nvSpPr>
        <p:spPr>
          <a:xfrm>
            <a:off x="6942919" y="1607321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064" name="Ellipse 2063">
            <a:extLst>
              <a:ext uri="{FF2B5EF4-FFF2-40B4-BE49-F238E27FC236}">
                <a16:creationId xmlns:a16="http://schemas.microsoft.com/office/drawing/2014/main" id="{BB751A12-3D24-203C-32DA-E4E83845CCAC}"/>
              </a:ext>
            </a:extLst>
          </p:cNvPr>
          <p:cNvSpPr/>
          <p:nvPr/>
        </p:nvSpPr>
        <p:spPr>
          <a:xfrm>
            <a:off x="6942919" y="2685309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cxnSp>
        <p:nvCxnSpPr>
          <p:cNvPr id="2065" name="Gerader Verbinder 2064">
            <a:extLst>
              <a:ext uri="{FF2B5EF4-FFF2-40B4-BE49-F238E27FC236}">
                <a16:creationId xmlns:a16="http://schemas.microsoft.com/office/drawing/2014/main" id="{C23E8A9A-8426-7459-8117-4FA4598F5D00}"/>
              </a:ext>
            </a:extLst>
          </p:cNvPr>
          <p:cNvCxnSpPr>
            <a:cxnSpLocks/>
            <a:stCxn id="2064" idx="6"/>
            <a:endCxn id="16" idx="2"/>
          </p:cNvCxnSpPr>
          <p:nvPr/>
        </p:nvCxnSpPr>
        <p:spPr>
          <a:xfrm flipV="1">
            <a:off x="7135019" y="2428512"/>
            <a:ext cx="185533" cy="35284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66" name="Gerader Verbinder 2065">
            <a:extLst>
              <a:ext uri="{FF2B5EF4-FFF2-40B4-BE49-F238E27FC236}">
                <a16:creationId xmlns:a16="http://schemas.microsoft.com/office/drawing/2014/main" id="{60E31BCB-22F4-3691-E577-9393FEE90753}"/>
              </a:ext>
            </a:extLst>
          </p:cNvPr>
          <p:cNvCxnSpPr>
            <a:cxnSpLocks/>
            <a:stCxn id="16" idx="2"/>
            <a:endCxn id="14" idx="6"/>
          </p:cNvCxnSpPr>
          <p:nvPr/>
        </p:nvCxnSpPr>
        <p:spPr>
          <a:xfrm flipH="1" flipV="1">
            <a:off x="7126926" y="2424779"/>
            <a:ext cx="193626" cy="373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1" name="Gerader Verbinder 2070">
            <a:extLst>
              <a:ext uri="{FF2B5EF4-FFF2-40B4-BE49-F238E27FC236}">
                <a16:creationId xmlns:a16="http://schemas.microsoft.com/office/drawing/2014/main" id="{70A34D6E-6C6E-60FA-6113-1F013E123C25}"/>
              </a:ext>
            </a:extLst>
          </p:cNvPr>
          <p:cNvCxnSpPr>
            <a:cxnSpLocks/>
            <a:stCxn id="3" idx="6"/>
            <a:endCxn id="16" idx="2"/>
          </p:cNvCxnSpPr>
          <p:nvPr/>
        </p:nvCxnSpPr>
        <p:spPr>
          <a:xfrm>
            <a:off x="7132686" y="2068199"/>
            <a:ext cx="187866" cy="360313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4" name="Gerader Verbinder 2073">
            <a:extLst>
              <a:ext uri="{FF2B5EF4-FFF2-40B4-BE49-F238E27FC236}">
                <a16:creationId xmlns:a16="http://schemas.microsoft.com/office/drawing/2014/main" id="{16AA00B0-584B-6773-C30E-ED61FEA2D2AA}"/>
              </a:ext>
            </a:extLst>
          </p:cNvPr>
          <p:cNvCxnSpPr>
            <a:cxnSpLocks/>
            <a:stCxn id="2063" idx="6"/>
            <a:endCxn id="16" idx="2"/>
          </p:cNvCxnSpPr>
          <p:nvPr/>
        </p:nvCxnSpPr>
        <p:spPr>
          <a:xfrm>
            <a:off x="7135019" y="1703371"/>
            <a:ext cx="185533" cy="72514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77" name="Gerader Verbinder 2076">
            <a:extLst>
              <a:ext uri="{FF2B5EF4-FFF2-40B4-BE49-F238E27FC236}">
                <a16:creationId xmlns:a16="http://schemas.microsoft.com/office/drawing/2014/main" id="{F5F75E80-1BAB-C96C-87BC-BC07A45B78AC}"/>
              </a:ext>
            </a:extLst>
          </p:cNvPr>
          <p:cNvCxnSpPr>
            <a:cxnSpLocks/>
            <a:stCxn id="2063" idx="6"/>
            <a:endCxn id="15" idx="2"/>
          </p:cNvCxnSpPr>
          <p:nvPr/>
        </p:nvCxnSpPr>
        <p:spPr>
          <a:xfrm>
            <a:off x="7135019" y="1703371"/>
            <a:ext cx="185533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0" name="Gerader Verbinder 2079">
            <a:extLst>
              <a:ext uri="{FF2B5EF4-FFF2-40B4-BE49-F238E27FC236}">
                <a16:creationId xmlns:a16="http://schemas.microsoft.com/office/drawing/2014/main" id="{52B4B1EB-852E-1727-0424-198559649C24}"/>
              </a:ext>
            </a:extLst>
          </p:cNvPr>
          <p:cNvCxnSpPr>
            <a:cxnSpLocks/>
            <a:stCxn id="3" idx="6"/>
            <a:endCxn id="15" idx="2"/>
          </p:cNvCxnSpPr>
          <p:nvPr/>
        </p:nvCxnSpPr>
        <p:spPr>
          <a:xfrm>
            <a:off x="7132686" y="2068199"/>
            <a:ext cx="187866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3" name="Gerader Verbinder 2082">
            <a:extLst>
              <a:ext uri="{FF2B5EF4-FFF2-40B4-BE49-F238E27FC236}">
                <a16:creationId xmlns:a16="http://schemas.microsoft.com/office/drawing/2014/main" id="{68DC0066-1040-5605-FC07-A7332724B781}"/>
              </a:ext>
            </a:extLst>
          </p:cNvPr>
          <p:cNvCxnSpPr>
            <a:cxnSpLocks/>
            <a:stCxn id="14" idx="6"/>
            <a:endCxn id="15" idx="2"/>
          </p:cNvCxnSpPr>
          <p:nvPr/>
        </p:nvCxnSpPr>
        <p:spPr>
          <a:xfrm flipV="1">
            <a:off x="7126926" y="2068199"/>
            <a:ext cx="193626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6" name="Gerader Verbinder 2085">
            <a:extLst>
              <a:ext uri="{FF2B5EF4-FFF2-40B4-BE49-F238E27FC236}">
                <a16:creationId xmlns:a16="http://schemas.microsoft.com/office/drawing/2014/main" id="{25EFB1D9-339A-666D-E8D9-DEDDF185B08C}"/>
              </a:ext>
            </a:extLst>
          </p:cNvPr>
          <p:cNvCxnSpPr>
            <a:cxnSpLocks/>
            <a:stCxn id="2064" idx="6"/>
            <a:endCxn id="15" idx="2"/>
          </p:cNvCxnSpPr>
          <p:nvPr/>
        </p:nvCxnSpPr>
        <p:spPr>
          <a:xfrm flipV="1">
            <a:off x="7135019" y="2068199"/>
            <a:ext cx="185533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89" name="Gerader Verbinder 2088">
            <a:extLst>
              <a:ext uri="{FF2B5EF4-FFF2-40B4-BE49-F238E27FC236}">
                <a16:creationId xmlns:a16="http://schemas.microsoft.com/office/drawing/2014/main" id="{676F942F-3415-DA3A-F905-D96535958245}"/>
              </a:ext>
            </a:extLst>
          </p:cNvPr>
          <p:cNvCxnSpPr>
            <a:cxnSpLocks/>
            <a:stCxn id="2062" idx="6"/>
            <a:endCxn id="2064" idx="2"/>
          </p:cNvCxnSpPr>
          <p:nvPr/>
        </p:nvCxnSpPr>
        <p:spPr>
          <a:xfrm flipV="1">
            <a:off x="6750700" y="2781359"/>
            <a:ext cx="192219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2" name="Gerader Verbinder 2091">
            <a:extLst>
              <a:ext uri="{FF2B5EF4-FFF2-40B4-BE49-F238E27FC236}">
                <a16:creationId xmlns:a16="http://schemas.microsoft.com/office/drawing/2014/main" id="{4E8F319C-C9B8-0B58-EC29-828368BB6E22}"/>
              </a:ext>
            </a:extLst>
          </p:cNvPr>
          <p:cNvCxnSpPr>
            <a:cxnSpLocks/>
            <a:stCxn id="2061" idx="6"/>
            <a:endCxn id="2064" idx="2"/>
          </p:cNvCxnSpPr>
          <p:nvPr/>
        </p:nvCxnSpPr>
        <p:spPr>
          <a:xfrm>
            <a:off x="6746835" y="2781359"/>
            <a:ext cx="196084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5" name="Gerader Verbinder 2094">
            <a:extLst>
              <a:ext uri="{FF2B5EF4-FFF2-40B4-BE49-F238E27FC236}">
                <a16:creationId xmlns:a16="http://schemas.microsoft.com/office/drawing/2014/main" id="{9FFDED81-64AA-F51B-A4EE-9D18CC47C2DE}"/>
              </a:ext>
            </a:extLst>
          </p:cNvPr>
          <p:cNvCxnSpPr>
            <a:cxnSpLocks/>
            <a:stCxn id="2058" idx="6"/>
            <a:endCxn id="2064" idx="2"/>
          </p:cNvCxnSpPr>
          <p:nvPr/>
        </p:nvCxnSpPr>
        <p:spPr>
          <a:xfrm>
            <a:off x="6746835" y="2423668"/>
            <a:ext cx="196084" cy="35769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98" name="Gerader Verbinder 2097">
            <a:extLst>
              <a:ext uri="{FF2B5EF4-FFF2-40B4-BE49-F238E27FC236}">
                <a16:creationId xmlns:a16="http://schemas.microsoft.com/office/drawing/2014/main" id="{04DAF948-146D-7F91-4561-723E949BD26C}"/>
              </a:ext>
            </a:extLst>
          </p:cNvPr>
          <p:cNvCxnSpPr>
            <a:cxnSpLocks/>
            <a:stCxn id="2057" idx="6"/>
            <a:endCxn id="2064" idx="2"/>
          </p:cNvCxnSpPr>
          <p:nvPr/>
        </p:nvCxnSpPr>
        <p:spPr>
          <a:xfrm>
            <a:off x="6747723" y="2068199"/>
            <a:ext cx="19519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1" name="Gerader Verbinder 2100">
            <a:extLst>
              <a:ext uri="{FF2B5EF4-FFF2-40B4-BE49-F238E27FC236}">
                <a16:creationId xmlns:a16="http://schemas.microsoft.com/office/drawing/2014/main" id="{A1D6520B-E4AD-DA20-A8B3-4A517D964170}"/>
              </a:ext>
            </a:extLst>
          </p:cNvPr>
          <p:cNvCxnSpPr>
            <a:cxnSpLocks/>
            <a:stCxn id="2059" idx="6"/>
            <a:endCxn id="2064" idx="2"/>
          </p:cNvCxnSpPr>
          <p:nvPr/>
        </p:nvCxnSpPr>
        <p:spPr>
          <a:xfrm>
            <a:off x="6750700" y="1703371"/>
            <a:ext cx="192219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4" name="Gerader Verbinder 2103">
            <a:extLst>
              <a:ext uri="{FF2B5EF4-FFF2-40B4-BE49-F238E27FC236}">
                <a16:creationId xmlns:a16="http://schemas.microsoft.com/office/drawing/2014/main" id="{E696641A-22B3-0B16-E818-F955D44F09E6}"/>
              </a:ext>
            </a:extLst>
          </p:cNvPr>
          <p:cNvCxnSpPr>
            <a:cxnSpLocks/>
            <a:stCxn id="2060" idx="6"/>
            <a:endCxn id="2064" idx="2"/>
          </p:cNvCxnSpPr>
          <p:nvPr/>
        </p:nvCxnSpPr>
        <p:spPr>
          <a:xfrm>
            <a:off x="6745937" y="1348787"/>
            <a:ext cx="196982" cy="143257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07" name="Gerader Verbinder 2106">
            <a:extLst>
              <a:ext uri="{FF2B5EF4-FFF2-40B4-BE49-F238E27FC236}">
                <a16:creationId xmlns:a16="http://schemas.microsoft.com/office/drawing/2014/main" id="{786EC6FE-AF9D-A396-FFBF-284A82644E06}"/>
              </a:ext>
            </a:extLst>
          </p:cNvPr>
          <p:cNvCxnSpPr>
            <a:cxnSpLocks/>
            <a:stCxn id="2060" idx="6"/>
            <a:endCxn id="14" idx="2"/>
          </p:cNvCxnSpPr>
          <p:nvPr/>
        </p:nvCxnSpPr>
        <p:spPr>
          <a:xfrm>
            <a:off x="6745937" y="1348787"/>
            <a:ext cx="188889" cy="107599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0" name="Gerader Verbinder 2109">
            <a:extLst>
              <a:ext uri="{FF2B5EF4-FFF2-40B4-BE49-F238E27FC236}">
                <a16:creationId xmlns:a16="http://schemas.microsoft.com/office/drawing/2014/main" id="{8C32A1FA-4C65-2479-C90C-9D94D3978DE0}"/>
              </a:ext>
            </a:extLst>
          </p:cNvPr>
          <p:cNvCxnSpPr>
            <a:cxnSpLocks/>
            <a:stCxn id="2059" idx="6"/>
            <a:endCxn id="14" idx="2"/>
          </p:cNvCxnSpPr>
          <p:nvPr/>
        </p:nvCxnSpPr>
        <p:spPr>
          <a:xfrm>
            <a:off x="6750700" y="1703371"/>
            <a:ext cx="184126" cy="72140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3" name="Gerader Verbinder 2112">
            <a:extLst>
              <a:ext uri="{FF2B5EF4-FFF2-40B4-BE49-F238E27FC236}">
                <a16:creationId xmlns:a16="http://schemas.microsoft.com/office/drawing/2014/main" id="{C4A6775E-E3D7-7F4F-B98B-041EA1068BFF}"/>
              </a:ext>
            </a:extLst>
          </p:cNvPr>
          <p:cNvCxnSpPr>
            <a:cxnSpLocks/>
            <a:stCxn id="2057" idx="6"/>
            <a:endCxn id="14" idx="2"/>
          </p:cNvCxnSpPr>
          <p:nvPr/>
        </p:nvCxnSpPr>
        <p:spPr>
          <a:xfrm>
            <a:off x="6747723" y="2068199"/>
            <a:ext cx="187103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6" name="Gerader Verbinder 2115">
            <a:extLst>
              <a:ext uri="{FF2B5EF4-FFF2-40B4-BE49-F238E27FC236}">
                <a16:creationId xmlns:a16="http://schemas.microsoft.com/office/drawing/2014/main" id="{3E9FC45D-2DA3-92AC-106A-6BA9F1572CEC}"/>
              </a:ext>
            </a:extLst>
          </p:cNvPr>
          <p:cNvCxnSpPr>
            <a:cxnSpLocks/>
            <a:stCxn id="2058" idx="6"/>
            <a:endCxn id="14" idx="2"/>
          </p:cNvCxnSpPr>
          <p:nvPr/>
        </p:nvCxnSpPr>
        <p:spPr>
          <a:xfrm>
            <a:off x="6746835" y="2423668"/>
            <a:ext cx="187991" cy="1111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19" name="Gerader Verbinder 2118">
            <a:extLst>
              <a:ext uri="{FF2B5EF4-FFF2-40B4-BE49-F238E27FC236}">
                <a16:creationId xmlns:a16="http://schemas.microsoft.com/office/drawing/2014/main" id="{CB647802-35A9-83ED-5344-027AFF2AD7C0}"/>
              </a:ext>
            </a:extLst>
          </p:cNvPr>
          <p:cNvCxnSpPr>
            <a:cxnSpLocks/>
            <a:stCxn id="2061" idx="6"/>
            <a:endCxn id="14" idx="2"/>
          </p:cNvCxnSpPr>
          <p:nvPr/>
        </p:nvCxnSpPr>
        <p:spPr>
          <a:xfrm flipV="1">
            <a:off x="6746835" y="2424779"/>
            <a:ext cx="187991" cy="35658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2" name="Gerader Verbinder 2121">
            <a:extLst>
              <a:ext uri="{FF2B5EF4-FFF2-40B4-BE49-F238E27FC236}">
                <a16:creationId xmlns:a16="http://schemas.microsoft.com/office/drawing/2014/main" id="{8AC95E08-65C0-509F-2F0A-758BF4C89EC2}"/>
              </a:ext>
            </a:extLst>
          </p:cNvPr>
          <p:cNvCxnSpPr>
            <a:cxnSpLocks/>
            <a:stCxn id="2062" idx="6"/>
            <a:endCxn id="14" idx="2"/>
          </p:cNvCxnSpPr>
          <p:nvPr/>
        </p:nvCxnSpPr>
        <p:spPr>
          <a:xfrm flipV="1">
            <a:off x="6750700" y="2424779"/>
            <a:ext cx="184126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5" name="Gerader Verbinder 2124">
            <a:extLst>
              <a:ext uri="{FF2B5EF4-FFF2-40B4-BE49-F238E27FC236}">
                <a16:creationId xmlns:a16="http://schemas.microsoft.com/office/drawing/2014/main" id="{625587FE-50EA-C37A-4EA1-23A7A17B6E08}"/>
              </a:ext>
            </a:extLst>
          </p:cNvPr>
          <p:cNvCxnSpPr>
            <a:cxnSpLocks/>
            <a:stCxn id="2062" idx="6"/>
            <a:endCxn id="3" idx="2"/>
          </p:cNvCxnSpPr>
          <p:nvPr/>
        </p:nvCxnSpPr>
        <p:spPr>
          <a:xfrm flipV="1">
            <a:off x="6750700" y="2068199"/>
            <a:ext cx="189886" cy="106974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28" name="Gerader Verbinder 2127">
            <a:extLst>
              <a:ext uri="{FF2B5EF4-FFF2-40B4-BE49-F238E27FC236}">
                <a16:creationId xmlns:a16="http://schemas.microsoft.com/office/drawing/2014/main" id="{E7CCC2D1-292D-EA7C-68D6-238B3152332F}"/>
              </a:ext>
            </a:extLst>
          </p:cNvPr>
          <p:cNvCxnSpPr>
            <a:cxnSpLocks/>
            <a:stCxn id="2061" idx="6"/>
            <a:endCxn id="3" idx="2"/>
          </p:cNvCxnSpPr>
          <p:nvPr/>
        </p:nvCxnSpPr>
        <p:spPr>
          <a:xfrm flipV="1">
            <a:off x="6746835" y="2068199"/>
            <a:ext cx="193751" cy="71316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1" name="Gerader Verbinder 2130">
            <a:extLst>
              <a:ext uri="{FF2B5EF4-FFF2-40B4-BE49-F238E27FC236}">
                <a16:creationId xmlns:a16="http://schemas.microsoft.com/office/drawing/2014/main" id="{96708DC3-00F7-7BBD-DC18-680137999B04}"/>
              </a:ext>
            </a:extLst>
          </p:cNvPr>
          <p:cNvCxnSpPr>
            <a:cxnSpLocks/>
            <a:stCxn id="2058" idx="6"/>
            <a:endCxn id="3" idx="2"/>
          </p:cNvCxnSpPr>
          <p:nvPr/>
        </p:nvCxnSpPr>
        <p:spPr>
          <a:xfrm flipV="1">
            <a:off x="6746835" y="2068199"/>
            <a:ext cx="193751" cy="355469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4" name="Gerader Verbinder 2133">
            <a:extLst>
              <a:ext uri="{FF2B5EF4-FFF2-40B4-BE49-F238E27FC236}">
                <a16:creationId xmlns:a16="http://schemas.microsoft.com/office/drawing/2014/main" id="{5E1B9F3B-3891-6CB6-9768-722D7E4DE96F}"/>
              </a:ext>
            </a:extLst>
          </p:cNvPr>
          <p:cNvCxnSpPr>
            <a:cxnSpLocks/>
            <a:stCxn id="2057" idx="6"/>
            <a:endCxn id="3" idx="2"/>
          </p:cNvCxnSpPr>
          <p:nvPr/>
        </p:nvCxnSpPr>
        <p:spPr>
          <a:xfrm>
            <a:off x="6747723" y="2068199"/>
            <a:ext cx="192863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37" name="Gerader Verbinder 2136">
            <a:extLst>
              <a:ext uri="{FF2B5EF4-FFF2-40B4-BE49-F238E27FC236}">
                <a16:creationId xmlns:a16="http://schemas.microsoft.com/office/drawing/2014/main" id="{49CF1920-5585-2B67-9F61-C54F03A89053}"/>
              </a:ext>
            </a:extLst>
          </p:cNvPr>
          <p:cNvCxnSpPr>
            <a:cxnSpLocks/>
            <a:stCxn id="2059" idx="6"/>
            <a:endCxn id="3" idx="2"/>
          </p:cNvCxnSpPr>
          <p:nvPr/>
        </p:nvCxnSpPr>
        <p:spPr>
          <a:xfrm>
            <a:off x="6750700" y="1703371"/>
            <a:ext cx="18988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0" name="Gerader Verbinder 2139">
            <a:extLst>
              <a:ext uri="{FF2B5EF4-FFF2-40B4-BE49-F238E27FC236}">
                <a16:creationId xmlns:a16="http://schemas.microsoft.com/office/drawing/2014/main" id="{39CCE4E1-B178-5F36-BC58-31D45B144518}"/>
              </a:ext>
            </a:extLst>
          </p:cNvPr>
          <p:cNvCxnSpPr>
            <a:cxnSpLocks/>
            <a:stCxn id="2060" idx="6"/>
            <a:endCxn id="3" idx="2"/>
          </p:cNvCxnSpPr>
          <p:nvPr/>
        </p:nvCxnSpPr>
        <p:spPr>
          <a:xfrm>
            <a:off x="6745937" y="1348787"/>
            <a:ext cx="194649" cy="719412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3" name="Gerader Verbinder 2142">
            <a:extLst>
              <a:ext uri="{FF2B5EF4-FFF2-40B4-BE49-F238E27FC236}">
                <a16:creationId xmlns:a16="http://schemas.microsoft.com/office/drawing/2014/main" id="{E429B884-5C82-1D55-55F6-73286677B1D9}"/>
              </a:ext>
            </a:extLst>
          </p:cNvPr>
          <p:cNvCxnSpPr>
            <a:cxnSpLocks/>
            <a:stCxn id="2060" idx="6"/>
            <a:endCxn id="2063" idx="2"/>
          </p:cNvCxnSpPr>
          <p:nvPr/>
        </p:nvCxnSpPr>
        <p:spPr>
          <a:xfrm>
            <a:off x="6745937" y="1348787"/>
            <a:ext cx="196982" cy="354584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6" name="Gerader Verbinder 2145">
            <a:extLst>
              <a:ext uri="{FF2B5EF4-FFF2-40B4-BE49-F238E27FC236}">
                <a16:creationId xmlns:a16="http://schemas.microsoft.com/office/drawing/2014/main" id="{723D6B4A-121A-631A-EF69-1284E5FA660A}"/>
              </a:ext>
            </a:extLst>
          </p:cNvPr>
          <p:cNvCxnSpPr>
            <a:cxnSpLocks/>
            <a:stCxn id="2059" idx="6"/>
            <a:endCxn id="2063" idx="2"/>
          </p:cNvCxnSpPr>
          <p:nvPr/>
        </p:nvCxnSpPr>
        <p:spPr>
          <a:xfrm>
            <a:off x="6750700" y="1703371"/>
            <a:ext cx="192219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49" name="Gerader Verbinder 2148">
            <a:extLst>
              <a:ext uri="{FF2B5EF4-FFF2-40B4-BE49-F238E27FC236}">
                <a16:creationId xmlns:a16="http://schemas.microsoft.com/office/drawing/2014/main" id="{8CFA7D2B-FCA8-6410-FCBE-CD97EA0530C3}"/>
              </a:ext>
            </a:extLst>
          </p:cNvPr>
          <p:cNvCxnSpPr>
            <a:cxnSpLocks/>
            <a:stCxn id="2057" idx="6"/>
            <a:endCxn id="2063" idx="2"/>
          </p:cNvCxnSpPr>
          <p:nvPr/>
        </p:nvCxnSpPr>
        <p:spPr>
          <a:xfrm flipV="1">
            <a:off x="6747723" y="1703371"/>
            <a:ext cx="195196" cy="36482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2" name="Gerader Verbinder 2151">
            <a:extLst>
              <a:ext uri="{FF2B5EF4-FFF2-40B4-BE49-F238E27FC236}">
                <a16:creationId xmlns:a16="http://schemas.microsoft.com/office/drawing/2014/main" id="{E0BEF78C-9DE2-E9FA-3BC1-0D2C6E12C424}"/>
              </a:ext>
            </a:extLst>
          </p:cNvPr>
          <p:cNvCxnSpPr>
            <a:cxnSpLocks/>
            <a:stCxn id="2058" idx="6"/>
            <a:endCxn id="2063" idx="2"/>
          </p:cNvCxnSpPr>
          <p:nvPr/>
        </p:nvCxnSpPr>
        <p:spPr>
          <a:xfrm flipV="1">
            <a:off x="6746835" y="1703371"/>
            <a:ext cx="196084" cy="720297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5" name="Gerader Verbinder 2154">
            <a:extLst>
              <a:ext uri="{FF2B5EF4-FFF2-40B4-BE49-F238E27FC236}">
                <a16:creationId xmlns:a16="http://schemas.microsoft.com/office/drawing/2014/main" id="{A16E7B43-5558-C7EA-A83D-E7DF56C4A259}"/>
              </a:ext>
            </a:extLst>
          </p:cNvPr>
          <p:cNvCxnSpPr>
            <a:cxnSpLocks/>
            <a:stCxn id="2061" idx="6"/>
            <a:endCxn id="2063" idx="2"/>
          </p:cNvCxnSpPr>
          <p:nvPr/>
        </p:nvCxnSpPr>
        <p:spPr>
          <a:xfrm flipV="1">
            <a:off x="6746835" y="1703371"/>
            <a:ext cx="196084" cy="107798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58" name="Gerader Verbinder 2157">
            <a:extLst>
              <a:ext uri="{FF2B5EF4-FFF2-40B4-BE49-F238E27FC236}">
                <a16:creationId xmlns:a16="http://schemas.microsoft.com/office/drawing/2014/main" id="{EF3E0744-3AC7-CF74-92A6-F0139E579992}"/>
              </a:ext>
            </a:extLst>
          </p:cNvPr>
          <p:cNvCxnSpPr>
            <a:cxnSpLocks/>
            <a:stCxn id="2062" idx="6"/>
            <a:endCxn id="2063" idx="2"/>
          </p:cNvCxnSpPr>
          <p:nvPr/>
        </p:nvCxnSpPr>
        <p:spPr>
          <a:xfrm flipV="1">
            <a:off x="6750700" y="1703371"/>
            <a:ext cx="192219" cy="1434568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62" name="Pfeil: nach rechts 2161">
            <a:extLst>
              <a:ext uri="{FF2B5EF4-FFF2-40B4-BE49-F238E27FC236}">
                <a16:creationId xmlns:a16="http://schemas.microsoft.com/office/drawing/2014/main" id="{0E9564CA-94FE-CD43-FB45-9A552D786AE7}"/>
              </a:ext>
            </a:extLst>
          </p:cNvPr>
          <p:cNvSpPr/>
          <p:nvPr/>
        </p:nvSpPr>
        <p:spPr>
          <a:xfrm>
            <a:off x="8310063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3" name="Pfeil: nach rechts 2162">
            <a:extLst>
              <a:ext uri="{FF2B5EF4-FFF2-40B4-BE49-F238E27FC236}">
                <a16:creationId xmlns:a16="http://schemas.microsoft.com/office/drawing/2014/main" id="{48C5BC0E-EFAD-9821-1C3D-0A947705608D}"/>
              </a:ext>
            </a:extLst>
          </p:cNvPr>
          <p:cNvSpPr/>
          <p:nvPr/>
        </p:nvSpPr>
        <p:spPr>
          <a:xfrm>
            <a:off x="6295668" y="2169093"/>
            <a:ext cx="240733" cy="163369"/>
          </a:xfrm>
          <a:prstGeom prst="rightArrow">
            <a:avLst/>
          </a:prstGeom>
          <a:solidFill>
            <a:schemeClr val="tx1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4" name="Ellipse 2163">
            <a:extLst>
              <a:ext uri="{FF2B5EF4-FFF2-40B4-BE49-F238E27FC236}">
                <a16:creationId xmlns:a16="http://schemas.microsoft.com/office/drawing/2014/main" id="{CB94ADB7-932B-D681-2CAC-769CBCF1463B}"/>
              </a:ext>
            </a:extLst>
          </p:cNvPr>
          <p:cNvSpPr/>
          <p:nvPr/>
        </p:nvSpPr>
        <p:spPr>
          <a:xfrm>
            <a:off x="6825138" y="3493203"/>
            <a:ext cx="192100" cy="192100"/>
          </a:xfrm>
          <a:prstGeom prst="ellipse">
            <a:avLst/>
          </a:prstGeom>
          <a:solidFill>
            <a:schemeClr val="bg1">
              <a:lumMod val="6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5" name="Ellipse 2164">
            <a:extLst>
              <a:ext uri="{FF2B5EF4-FFF2-40B4-BE49-F238E27FC236}">
                <a16:creationId xmlns:a16="http://schemas.microsoft.com/office/drawing/2014/main" id="{D24B87A4-93EE-C481-4287-EEADEBB07EEF}"/>
              </a:ext>
            </a:extLst>
          </p:cNvPr>
          <p:cNvSpPr/>
          <p:nvPr/>
        </p:nvSpPr>
        <p:spPr>
          <a:xfrm>
            <a:off x="6825077" y="3760368"/>
            <a:ext cx="192100" cy="192100"/>
          </a:xfrm>
          <a:prstGeom prst="ellipse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6" name="Textfeld 19">
            <a:extLst>
              <a:ext uri="{FF2B5EF4-FFF2-40B4-BE49-F238E27FC236}">
                <a16:creationId xmlns:a16="http://schemas.microsoft.com/office/drawing/2014/main" id="{77B65175-A9A6-CB78-A3E4-E302B0B465BC}"/>
              </a:ext>
            </a:extLst>
          </p:cNvPr>
          <p:cNvSpPr txBox="1"/>
          <p:nvPr/>
        </p:nvSpPr>
        <p:spPr>
          <a:xfrm>
            <a:off x="7055711" y="3410086"/>
            <a:ext cx="1897790" cy="8771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latin typeface="+mn-lt"/>
              </a:rPr>
              <a:t>Encoder</a:t>
            </a:r>
          </a:p>
          <a:p>
            <a:r>
              <a:rPr lang="en-US" sz="1700" dirty="0">
                <a:latin typeface="+mn-lt"/>
              </a:rPr>
              <a:t>Latent space</a:t>
            </a:r>
            <a:endParaRPr lang="en-US" sz="1700" noProof="0" dirty="0">
              <a:latin typeface="+mn-lt"/>
            </a:endParaRPr>
          </a:p>
          <a:p>
            <a:r>
              <a:rPr lang="en-US" sz="1700" dirty="0">
                <a:latin typeface="+mn-lt"/>
              </a:rPr>
              <a:t>Decoder</a:t>
            </a:r>
          </a:p>
        </p:txBody>
      </p:sp>
      <p:sp>
        <p:nvSpPr>
          <p:cNvPr id="2167" name="Ellipse 2166">
            <a:extLst>
              <a:ext uri="{FF2B5EF4-FFF2-40B4-BE49-F238E27FC236}">
                <a16:creationId xmlns:a16="http://schemas.microsoft.com/office/drawing/2014/main" id="{2B4429BB-51A8-6030-9870-993E4F0AE5CA}"/>
              </a:ext>
            </a:extLst>
          </p:cNvPr>
          <p:cNvSpPr/>
          <p:nvPr/>
        </p:nvSpPr>
        <p:spPr>
          <a:xfrm>
            <a:off x="6824657" y="4012194"/>
            <a:ext cx="192100" cy="192100"/>
          </a:xfrm>
          <a:prstGeom prst="ellipse">
            <a:avLst/>
          </a:prstGeom>
          <a:solidFill>
            <a:srgbClr val="0068B4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2168" name="Textfeld 2167">
            <a:extLst>
              <a:ext uri="{FF2B5EF4-FFF2-40B4-BE49-F238E27FC236}">
                <a16:creationId xmlns:a16="http://schemas.microsoft.com/office/drawing/2014/main" id="{7C6419F3-DBB9-561B-DE0E-12B21327CA62}"/>
              </a:ext>
            </a:extLst>
          </p:cNvPr>
          <p:cNvSpPr txBox="1"/>
          <p:nvPr/>
        </p:nvSpPr>
        <p:spPr>
          <a:xfrm>
            <a:off x="947840" y="1332845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Training an autoencoder</a:t>
            </a:r>
          </a:p>
        </p:txBody>
      </p:sp>
      <p:sp>
        <p:nvSpPr>
          <p:cNvPr id="2169" name="Textfeld 2168">
            <a:extLst>
              <a:ext uri="{FF2B5EF4-FFF2-40B4-BE49-F238E27FC236}">
                <a16:creationId xmlns:a16="http://schemas.microsoft.com/office/drawing/2014/main" id="{64F4237F-1DBF-5687-D116-0354F7978C42}"/>
              </a:ext>
            </a:extLst>
          </p:cNvPr>
          <p:cNvSpPr txBox="1"/>
          <p:nvPr/>
        </p:nvSpPr>
        <p:spPr>
          <a:xfrm>
            <a:off x="947840" y="1969700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dirty="0">
                <a:latin typeface="+mn-lt"/>
              </a:rPr>
              <a:t>Compute the reconstruction error</a:t>
            </a:r>
          </a:p>
        </p:txBody>
      </p:sp>
      <p:sp>
        <p:nvSpPr>
          <p:cNvPr id="2170" name="Textfeld 2169">
            <a:extLst>
              <a:ext uri="{FF2B5EF4-FFF2-40B4-BE49-F238E27FC236}">
                <a16:creationId xmlns:a16="http://schemas.microsoft.com/office/drawing/2014/main" id="{99DEDC8E-09E2-5323-5327-ED4ACC651482}"/>
              </a:ext>
            </a:extLst>
          </p:cNvPr>
          <p:cNvSpPr txBox="1"/>
          <p:nvPr/>
        </p:nvSpPr>
        <p:spPr>
          <a:xfrm>
            <a:off x="947840" y="2599329"/>
            <a:ext cx="7832730" cy="35394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700" noProof="0" dirty="0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Identify peaks based on a threshold for the error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2171" name="Gruppieren 2170">
            <a:extLst>
              <a:ext uri="{FF2B5EF4-FFF2-40B4-BE49-F238E27FC236}">
                <a16:creationId xmlns:a16="http://schemas.microsoft.com/office/drawing/2014/main" id="{40A1BB80-C7D9-BB6C-2258-9D07E02A8E27}"/>
              </a:ext>
            </a:extLst>
          </p:cNvPr>
          <p:cNvGrpSpPr/>
          <p:nvPr/>
        </p:nvGrpSpPr>
        <p:grpSpPr>
          <a:xfrm>
            <a:off x="670348" y="1350148"/>
            <a:ext cx="160496" cy="1866796"/>
            <a:chOff x="666366" y="1547019"/>
            <a:chExt cx="160496" cy="1866796"/>
          </a:xfrm>
        </p:grpSpPr>
        <p:grpSp>
          <p:nvGrpSpPr>
            <p:cNvPr id="2172" name="Gruppieren 2171">
              <a:extLst>
                <a:ext uri="{FF2B5EF4-FFF2-40B4-BE49-F238E27FC236}">
                  <a16:creationId xmlns:a16="http://schemas.microsoft.com/office/drawing/2014/main" id="{609385C0-E712-9568-ED0F-9EA20F366E28}"/>
                </a:ext>
              </a:extLst>
            </p:cNvPr>
            <p:cNvGrpSpPr/>
            <p:nvPr/>
          </p:nvGrpSpPr>
          <p:grpSpPr>
            <a:xfrm>
              <a:off x="666366" y="1547019"/>
              <a:ext cx="160496" cy="1866796"/>
              <a:chOff x="666366" y="1547019"/>
              <a:chExt cx="160496" cy="1866796"/>
            </a:xfrm>
          </p:grpSpPr>
          <p:cxnSp>
            <p:nvCxnSpPr>
              <p:cNvPr id="2174" name="Gerader Verbinder 2173">
                <a:extLst>
                  <a:ext uri="{FF2B5EF4-FFF2-40B4-BE49-F238E27FC236}">
                    <a16:creationId xmlns:a16="http://schemas.microsoft.com/office/drawing/2014/main" id="{581FF0E7-6F77-6F23-3DB6-17B0511410B4}"/>
                  </a:ext>
                </a:extLst>
              </p:cNvPr>
              <p:cNvCxnSpPr>
                <a:cxnSpLocks/>
                <a:endCxn id="2176" idx="3"/>
              </p:cNvCxnSpPr>
              <p:nvPr/>
            </p:nvCxnSpPr>
            <p:spPr>
              <a:xfrm flipH="1">
                <a:off x="746614" y="1547019"/>
                <a:ext cx="3430" cy="1661466"/>
              </a:xfrm>
              <a:prstGeom prst="line">
                <a:avLst/>
              </a:prstGeom>
              <a:ln w="19050">
                <a:solidFill>
                  <a:srgbClr val="000000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grpSp>
            <p:nvGrpSpPr>
              <p:cNvPr id="2175" name="Gruppieren 2174">
                <a:extLst>
                  <a:ext uri="{FF2B5EF4-FFF2-40B4-BE49-F238E27FC236}">
                    <a16:creationId xmlns:a16="http://schemas.microsoft.com/office/drawing/2014/main" id="{E3E0D4C3-85E6-C8DD-3D65-ABF0B6EE2153}"/>
                  </a:ext>
                </a:extLst>
              </p:cNvPr>
              <p:cNvGrpSpPr/>
              <p:nvPr/>
            </p:nvGrpSpPr>
            <p:grpSpPr>
              <a:xfrm>
                <a:off x="666366" y="1664321"/>
                <a:ext cx="160496" cy="1749494"/>
                <a:chOff x="6762351" y="2615586"/>
                <a:chExt cx="176268" cy="1921414"/>
              </a:xfrm>
            </p:grpSpPr>
            <p:sp>
              <p:nvSpPr>
                <p:cNvPr id="2176" name="Gleichschenkliges Dreieck 2175">
                  <a:extLst>
                    <a:ext uri="{FF2B5EF4-FFF2-40B4-BE49-F238E27FC236}">
                      <a16:creationId xmlns:a16="http://schemas.microsoft.com/office/drawing/2014/main" id="{B377CCDC-1828-C9BD-ACB0-D023BC0D1877}"/>
                    </a:ext>
                  </a:extLst>
                </p:cNvPr>
                <p:cNvSpPr/>
                <p:nvPr/>
              </p:nvSpPr>
              <p:spPr>
                <a:xfrm rot="10800000">
                  <a:off x="6762351" y="4311493"/>
                  <a:ext cx="176268" cy="225507"/>
                </a:xfrm>
                <a:prstGeom prst="triangl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7" name="Ellipse 2176">
                  <a:extLst>
                    <a:ext uri="{FF2B5EF4-FFF2-40B4-BE49-F238E27FC236}">
                      <a16:creationId xmlns:a16="http://schemas.microsoft.com/office/drawing/2014/main" id="{91FEC85C-3B57-04CA-F903-D179F27E06CE}"/>
                    </a:ext>
                  </a:extLst>
                </p:cNvPr>
                <p:cNvSpPr/>
                <p:nvPr/>
              </p:nvSpPr>
              <p:spPr>
                <a:xfrm>
                  <a:off x="6808652" y="2615586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2178" name="Ellipse 2177">
                  <a:extLst>
                    <a:ext uri="{FF2B5EF4-FFF2-40B4-BE49-F238E27FC236}">
                      <a16:creationId xmlns:a16="http://schemas.microsoft.com/office/drawing/2014/main" id="{A57A1CB7-2F1F-3346-4B0C-4CFE988673A0}"/>
                    </a:ext>
                  </a:extLst>
                </p:cNvPr>
                <p:cNvSpPr/>
                <p:nvPr/>
              </p:nvSpPr>
              <p:spPr>
                <a:xfrm>
                  <a:off x="6805486" y="3311821"/>
                  <a:ext cx="90000" cy="9000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solidFill>
                    <a:srgbClr val="000000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    <a:prstTxWarp prst="textNoShape">
                    <a:avLst/>
                  </a:prstTxWarp>
                  <a:noAutofit/>
                </a:bodyPr>
                <a:lstStyle/>
                <a:p>
                  <a:pPr marL="0" indent="0" algn="l">
                    <a:spcBef>
                      <a:spcPts val="400"/>
                    </a:spcBef>
                    <a:buFont typeface="Arial" panose="020B0604020202020204" pitchFamily="34" charset="0"/>
                    <a:buNone/>
                  </a:pPr>
                  <a:endParaRPr lang="en-US" sz="1800" noProof="0" dirty="0">
                    <a:solidFill>
                      <a:schemeClr val="tx1"/>
                    </a:solidFill>
                  </a:endParaRPr>
                </a:p>
              </p:txBody>
            </p:sp>
          </p:grpSp>
        </p:grpSp>
        <p:sp>
          <p:nvSpPr>
            <p:cNvPr id="2173" name="Ellipse 2172">
              <a:extLst>
                <a:ext uri="{FF2B5EF4-FFF2-40B4-BE49-F238E27FC236}">
                  <a16:creationId xmlns:a16="http://schemas.microsoft.com/office/drawing/2014/main" id="{BC75D86D-CA1D-B6D6-989F-EA6E6DE1BE4C}"/>
                </a:ext>
              </a:extLst>
            </p:cNvPr>
            <p:cNvSpPr/>
            <p:nvPr/>
          </p:nvSpPr>
          <p:spPr>
            <a:xfrm>
              <a:off x="706021" y="2932199"/>
              <a:ext cx="81947" cy="81947"/>
            </a:xfrm>
            <a:prstGeom prst="ellips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72000" tIns="72000" rIns="72000" bIns="72000" numCol="1" spcCol="0" rtlCol="0" fromWordArt="0" anchor="t" anchorCtr="0" forceAA="0" compatLnSpc="1">
              <a:prstTxWarp prst="textNoShape">
                <a:avLst/>
              </a:prstTxWarp>
              <a:noAutofit/>
            </a:bodyPr>
            <a:lstStyle/>
            <a:p>
              <a:pPr marL="0" indent="0" algn="l">
                <a:spcBef>
                  <a:spcPts val="400"/>
                </a:spcBef>
                <a:buFont typeface="Arial" panose="020B0604020202020204" pitchFamily="34" charset="0"/>
                <a:buNone/>
              </a:pPr>
              <a:endParaRPr lang="en-US" sz="1800" noProof="0" dirty="0">
                <a:solidFill>
                  <a:schemeClr val="tx1"/>
                </a:solidFill>
              </a:endParaRPr>
            </a:p>
          </p:txBody>
        </p:sp>
      </p:grpSp>
      <p:sp>
        <p:nvSpPr>
          <p:cNvPr id="2179" name="Google Shape;222;p17">
            <a:extLst>
              <a:ext uri="{FF2B5EF4-FFF2-40B4-BE49-F238E27FC236}">
                <a16:creationId xmlns:a16="http://schemas.microsoft.com/office/drawing/2014/main" id="{6E2AD721-294B-29C3-FA04-FE170654BDD1}"/>
              </a:ext>
            </a:extLst>
          </p:cNvPr>
          <p:cNvSpPr txBox="1">
            <a:spLocks/>
          </p:cNvSpPr>
          <p:nvPr/>
        </p:nvSpPr>
        <p:spPr>
          <a:xfrm>
            <a:off x="359999" y="752086"/>
            <a:ext cx="8420571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700" dirty="0">
                <a:latin typeface="+mn-lt"/>
              </a:rPr>
              <a:t>Autoencoder</a:t>
            </a:r>
          </a:p>
        </p:txBody>
      </p:sp>
    </p:spTree>
    <p:extLst>
      <p:ext uri="{BB962C8B-B14F-4D97-AF65-F5344CB8AC3E}">
        <p14:creationId xmlns:p14="http://schemas.microsoft.com/office/powerpoint/2010/main" val="3414887532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A963F088-85AD-963F-B3D1-84329FA15F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DC5F0B37-FA6F-298F-1407-9B4F23238D32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118800" indent="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Determining the parameters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Arial" panose="020B0604020202020204" pitchFamily="34" charset="0"/>
              <a:buChar char="•"/>
            </a:pPr>
            <a:r>
              <a:rPr lang="en-US" sz="1700" dirty="0">
                <a:latin typeface="+mn-lt"/>
              </a:rPr>
              <a:t>T</a:t>
            </a:r>
            <a:r>
              <a:rPr lang="en-US" sz="1700" noProof="0" dirty="0">
                <a:latin typeface="+mn-lt"/>
              </a:rPr>
              <a:t>he quality of the parameters is estimated purely from </a:t>
            </a:r>
            <a:r>
              <a:rPr lang="en-US" sz="1700" b="1" noProof="0" dirty="0">
                <a:latin typeface="+mn-lt"/>
              </a:rPr>
              <a:t>statistical metrics:</a:t>
            </a:r>
            <a:endParaRPr lang="en-US" sz="1700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Total number of peaks</a:t>
            </a:r>
            <a:endParaRPr lang="en-US" sz="1543" noProof="0" dirty="0">
              <a:latin typeface="+mn-lt"/>
            </a:endParaRP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height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Mean peak prominence</a:t>
            </a:r>
          </a:p>
          <a:p>
            <a:pPr lvl="1" indent="-338400">
              <a:lnSpc>
                <a:spcPct val="95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Count of sequences without peaks</a:t>
            </a:r>
          </a:p>
          <a:p>
            <a:pPr indent="-338400">
              <a:lnSpc>
                <a:spcPct val="95000"/>
              </a:lnSpc>
              <a:spcBef>
                <a:spcPts val="1200"/>
              </a:spcBef>
            </a:pPr>
            <a:endParaRPr lang="en-US" sz="1700" noProof="0" dirty="0">
              <a:latin typeface="+mn-lt"/>
            </a:endParaRPr>
          </a:p>
          <a:p>
            <a:pPr indent="-338400">
              <a:lnSpc>
                <a:spcPct val="95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Using </a:t>
            </a:r>
            <a:r>
              <a:rPr lang="en-US" sz="1700" b="1" noProof="0" dirty="0">
                <a:latin typeface="+mn-lt"/>
              </a:rPr>
              <a:t>Pareto-Front-Analysis</a:t>
            </a:r>
            <a:r>
              <a:rPr lang="en-US" sz="1700" noProof="0" dirty="0">
                <a:latin typeface="+mn-lt"/>
              </a:rPr>
              <a:t> to select the best solution</a:t>
            </a:r>
          </a:p>
        </p:txBody>
      </p: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3139A676-370C-8570-5333-363F3152D1D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2" name="Gruppieren 11">
              <a:extLst>
                <a:ext uri="{FF2B5EF4-FFF2-40B4-BE49-F238E27FC236}">
                  <a16:creationId xmlns:a16="http://schemas.microsoft.com/office/drawing/2014/main" id="{CA50C20D-A2B8-17DB-68D6-83E1B7640C8C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14" name="Richtungspfeil 33">
                <a:extLst>
                  <a:ext uri="{FF2B5EF4-FFF2-40B4-BE49-F238E27FC236}">
                    <a16:creationId xmlns:a16="http://schemas.microsoft.com/office/drawing/2014/main" id="{3C501578-F092-AF7D-93DD-37F6027DA5C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5" name="Eingekerbter Richtungspfeil 1">
                <a:extLst>
                  <a:ext uri="{FF2B5EF4-FFF2-40B4-BE49-F238E27FC236}">
                    <a16:creationId xmlns:a16="http://schemas.microsoft.com/office/drawing/2014/main" id="{7D0D487A-D9F0-AF9B-6E23-CAD7BA7EA9C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2374914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Methodology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6" name="Eingekerbter Richtungspfeil 10">
                <a:extLst>
                  <a:ext uri="{FF2B5EF4-FFF2-40B4-BE49-F238E27FC236}">
                    <a16:creationId xmlns:a16="http://schemas.microsoft.com/office/drawing/2014/main" id="{0E200AE8-C3B0-4BA2-5258-5FBF7943A37B}"/>
                  </a:ext>
                </a:extLst>
              </p:cNvPr>
              <p:cNvSpPr/>
              <p:nvPr/>
            </p:nvSpPr>
            <p:spPr>
              <a:xfrm>
                <a:off x="3893493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7" name="Eingekerbter Richtungspfeil 11">
                <a:extLst>
                  <a:ext uri="{FF2B5EF4-FFF2-40B4-BE49-F238E27FC236}">
                    <a16:creationId xmlns:a16="http://schemas.microsoft.com/office/drawing/2014/main" id="{67DBACE0-8BD0-2CD1-BC71-91F1114E07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3" name="Eingekerbter Richtungspfeil 11">
              <a:extLst>
                <a:ext uri="{FF2B5EF4-FFF2-40B4-BE49-F238E27FC236}">
                  <a16:creationId xmlns:a16="http://schemas.microsoft.com/office/drawing/2014/main" id="{56125CC7-81D9-0451-BC0A-0799F230831E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8" name="Google Shape;206;p15">
            <a:extLst>
              <a:ext uri="{FF2B5EF4-FFF2-40B4-BE49-F238E27FC236}">
                <a16:creationId xmlns:a16="http://schemas.microsoft.com/office/drawing/2014/main" id="{AAD4577F-BC91-8424-D25E-EEC97C6EBD6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9" name="Foliennummernplatzhalter 18">
            <a:extLst>
              <a:ext uri="{FF2B5EF4-FFF2-40B4-BE49-F238E27FC236}">
                <a16:creationId xmlns:a16="http://schemas.microsoft.com/office/drawing/2014/main" id="{27FF16BA-92C4-8E21-E6F7-D96B3EF3EC2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17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427E03BF-C307-3A51-E144-85BA394CD71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3937" y="2832863"/>
            <a:ext cx="1557827" cy="1557827"/>
          </a:xfrm>
          <a:prstGeom prst="rect">
            <a:avLst/>
          </a:prstGeom>
        </p:spPr>
      </p:pic>
      <p:cxnSp>
        <p:nvCxnSpPr>
          <p:cNvPr id="5" name="Gerade Verbindung mit Pfeil 4">
            <a:extLst>
              <a:ext uri="{FF2B5EF4-FFF2-40B4-BE49-F238E27FC236}">
                <a16:creationId xmlns:a16="http://schemas.microsoft.com/office/drawing/2014/main" id="{BA30D2FC-FEB3-403D-94CD-6349CD1331E9}"/>
              </a:ext>
            </a:extLst>
          </p:cNvPr>
          <p:cNvCxnSpPr>
            <a:cxnSpLocks/>
          </p:cNvCxnSpPr>
          <p:nvPr/>
        </p:nvCxnSpPr>
        <p:spPr>
          <a:xfrm flipV="1">
            <a:off x="6545473" y="2832863"/>
            <a:ext cx="0" cy="1557827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" name="Gerade Verbindung mit Pfeil 6">
            <a:extLst>
              <a:ext uri="{FF2B5EF4-FFF2-40B4-BE49-F238E27FC236}">
                <a16:creationId xmlns:a16="http://schemas.microsoft.com/office/drawing/2014/main" id="{CD8A595B-5C55-A03A-8F37-0920B0979C6E}"/>
              </a:ext>
            </a:extLst>
          </p:cNvPr>
          <p:cNvCxnSpPr>
            <a:cxnSpLocks/>
          </p:cNvCxnSpPr>
          <p:nvPr/>
        </p:nvCxnSpPr>
        <p:spPr>
          <a:xfrm>
            <a:off x="6545473" y="4390690"/>
            <a:ext cx="1557127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" name="Textfeld 1">
            <a:extLst>
              <a:ext uri="{FF2B5EF4-FFF2-40B4-BE49-F238E27FC236}">
                <a16:creationId xmlns:a16="http://schemas.microsoft.com/office/drawing/2014/main" id="{392771D8-A8B4-C139-1A15-CC360B3D764F}"/>
              </a:ext>
            </a:extLst>
          </p:cNvPr>
          <p:cNvSpPr txBox="1"/>
          <p:nvPr/>
        </p:nvSpPr>
        <p:spPr>
          <a:xfrm>
            <a:off x="0" y="4673796"/>
            <a:ext cx="922084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>
                <a:solidFill>
                  <a:schemeClr val="bg1">
                    <a:lumMod val="50000"/>
                  </a:schemeClr>
                </a:solidFill>
              </a:rPr>
              <a:t>[8]</a:t>
            </a:r>
          </a:p>
        </p:txBody>
      </p:sp>
    </p:spTree>
    <p:extLst>
      <p:ext uri="{BB962C8B-B14F-4D97-AF65-F5344CB8AC3E}">
        <p14:creationId xmlns:p14="http://schemas.microsoft.com/office/powerpoint/2010/main" val="342237244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0E06195D-0629-2058-2B6A-A6BDAF8978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D5356C76-A2CA-B1AA-B375-A96A76261B5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25753663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B0EF2E46-61CA-6EB2-B85B-757B9CB92E1A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1AAE43F-B1CE-FD17-5D65-41E844C018A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70195578-C7F7-BB9F-748D-EB18EC3BB10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18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28425954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D06FB7C-A9C7-34D9-1879-F5931D4E822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F46D9CFC-BC69-D075-6AFE-5F11BE552BCF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800"/>
            <a:ext cx="8424000" cy="36378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8800" lvl="0" indent="0">
              <a:lnSpc>
                <a:spcPct val="95000"/>
              </a:lnSpc>
              <a:spcBef>
                <a:spcPts val="1200"/>
              </a:spcBef>
              <a:buNone/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0F03134-2925-6E62-6697-8C8A3489157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BF19FF1-CF0C-5006-E827-E8634AC752A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54EE36D-4F0C-97EE-B1CF-B421A1D3249C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B1AF6FA-7629-135C-D61A-4F6C09827AA9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0CF9651-AFEC-0844-662B-5DEE5513A7F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9A10E64D-95E9-B0B5-8E6D-9E0969368EF3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3E25B91E-2657-EA9F-E047-4343B1583496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7194FC4E-4EA2-5E09-76EB-F045653C6544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2E99098C-983D-3452-17E4-252F0A9A85F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19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3" name="Tabelle 12">
            <a:extLst>
              <a:ext uri="{FF2B5EF4-FFF2-40B4-BE49-F238E27FC236}">
                <a16:creationId xmlns:a16="http://schemas.microsoft.com/office/drawing/2014/main" id="{236DBDA1-D188-BF12-335F-70E67FDC07E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68847299"/>
              </p:ext>
            </p:extLst>
          </p:nvPr>
        </p:nvGraphicFramePr>
        <p:xfrm>
          <a:off x="359999" y="752085"/>
          <a:ext cx="8423999" cy="2585475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7260">
                  <a:extLst>
                    <a:ext uri="{9D8B030D-6E8A-4147-A177-3AD203B41FA5}">
                      <a16:colId xmlns:a16="http://schemas.microsoft.com/office/drawing/2014/main" val="4273250222"/>
                    </a:ext>
                  </a:extLst>
                </a:gridCol>
                <a:gridCol w="1135759">
                  <a:extLst>
                    <a:ext uri="{9D8B030D-6E8A-4147-A177-3AD203B41FA5}">
                      <a16:colId xmlns:a16="http://schemas.microsoft.com/office/drawing/2014/main" val="2738435818"/>
                    </a:ext>
                  </a:extLst>
                </a:gridCol>
                <a:gridCol w="1505112">
                  <a:extLst>
                    <a:ext uri="{9D8B030D-6E8A-4147-A177-3AD203B41FA5}">
                      <a16:colId xmlns:a16="http://schemas.microsoft.com/office/drawing/2014/main" val="2739909526"/>
                    </a:ext>
                  </a:extLst>
                </a:gridCol>
                <a:gridCol w="1883697">
                  <a:extLst>
                    <a:ext uri="{9D8B030D-6E8A-4147-A177-3AD203B41FA5}">
                      <a16:colId xmlns:a16="http://schemas.microsoft.com/office/drawing/2014/main" val="2431807236"/>
                    </a:ext>
                  </a:extLst>
                </a:gridCol>
                <a:gridCol w="729472">
                  <a:extLst>
                    <a:ext uri="{9D8B030D-6E8A-4147-A177-3AD203B41FA5}">
                      <a16:colId xmlns:a16="http://schemas.microsoft.com/office/drawing/2014/main" val="3509772731"/>
                    </a:ext>
                  </a:extLst>
                </a:gridCol>
                <a:gridCol w="637134">
                  <a:extLst>
                    <a:ext uri="{9D8B030D-6E8A-4147-A177-3AD203B41FA5}">
                      <a16:colId xmlns:a16="http://schemas.microsoft.com/office/drawing/2014/main" val="1354858488"/>
                    </a:ext>
                  </a:extLst>
                </a:gridCol>
                <a:gridCol w="558007">
                  <a:extLst>
                    <a:ext uri="{9D8B030D-6E8A-4147-A177-3AD203B41FA5}">
                      <a16:colId xmlns:a16="http://schemas.microsoft.com/office/drawing/2014/main" val="3551615383"/>
                    </a:ext>
                  </a:extLst>
                </a:gridCol>
                <a:gridCol w="477558">
                  <a:extLst>
                    <a:ext uri="{9D8B030D-6E8A-4147-A177-3AD203B41FA5}">
                      <a16:colId xmlns:a16="http://schemas.microsoft.com/office/drawing/2014/main" val="3767899939"/>
                    </a:ext>
                  </a:extLst>
                </a:gridCol>
              </a:tblGrid>
              <a:tr h="390915"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Method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1200" noProof="0" dirty="0"/>
                        <a:t>Features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gridSpan="2"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1" i="0" u="none" strike="noStrike" cap="none" noProof="0" dirty="0">
                          <a:solidFill>
                            <a:schemeClr val="lt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Parameters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PC</a:t>
                      </a:r>
                    </a:p>
                  </a:txBody>
                  <a:tcPr>
                    <a:lnL w="28575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MH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SWP</a:t>
                      </a:r>
                    </a:p>
                  </a:txBody>
                  <a:tcPr>
                    <a:lnL w="12700" cap="flat" cmpd="sng" algn="ctr">
                      <a:solidFill>
                        <a:schemeClr val="bg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0068B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50726571"/>
                  </a:ext>
                </a:extLst>
              </a:tr>
              <a:tr h="18762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2977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840389681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Threshold-Based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Threshold = 0.7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Min-Prominence = 1.1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660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6.74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922156145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Moving-Average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Torque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Window = 1250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GB" sz="1200" noProof="0" dirty="0"/>
                        <a:t>Threshold = 2.0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56111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1.89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0.13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1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96144607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Wavelet Transform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Min-Width = 100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Max-Width = 150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4964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0.88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12509082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K-Means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Cmd.-Speed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tx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K-Clusters = 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365670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noProof="0" dirty="0"/>
                        <a:t>1.2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0.09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74794586"/>
                  </a:ext>
                </a:extLst>
              </a:tr>
              <a:tr h="0"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DBSCAN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200" noProof="0" dirty="0"/>
                        <a:t>Torque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gridSpan="2">
                  <a:txBody>
                    <a:bodyPr/>
                    <a:lstStyle/>
                    <a:p>
                      <a:r>
                        <a:rPr lang="en-US" sz="1200" noProof="0" dirty="0"/>
                        <a:t>Epsilon = 3.5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 hMerge="1">
                  <a:txBody>
                    <a:bodyPr/>
                    <a:lstStyle/>
                    <a:p>
                      <a:endParaRPr lang="de-DE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91936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3.2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0.16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9689484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Isolation Forest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Torque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Estimators = 100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Tx/>
                        <a:buFont typeface="Arial"/>
                        <a:buNone/>
                        <a:tabLst/>
                        <a:defRPr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73476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4.37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0.08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48168925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Autoencoder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US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All inputs</a:t>
                      </a:r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Latent Dims = 8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R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Font typeface="Arial"/>
                      </a:pPr>
                      <a:r>
                        <a:rPr lang="en-GB" sz="1200" b="0" i="0" u="none" strike="noStrike" cap="none" noProof="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  <a:sym typeface="Arial"/>
                        </a:rPr>
                        <a:t>Contamination = 0.01</a:t>
                      </a:r>
                      <a:endParaRPr lang="en-US" sz="1200" b="0" i="0" u="none" strike="noStrike" cap="none" noProof="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  <a:sym typeface="Arial"/>
                      </a:endParaRP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33600</a:t>
                      </a:r>
                      <a:endParaRPr lang="en-US" sz="1200" noProof="0" dirty="0"/>
                    </a:p>
                  </a:txBody>
                  <a:tcPr>
                    <a:lnL w="28575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0.03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200" noProof="0" dirty="0"/>
                        <a:t>2.85</a:t>
                      </a:r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200" noProof="0" dirty="0"/>
                        <a:t>0</a:t>
                      </a:r>
                      <a:endParaRPr lang="en-US" sz="1200" noProof="0" dirty="0"/>
                    </a:p>
                  </a:txBody>
                  <a:tcPr>
                    <a:lnL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068B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272770"/>
                  </a:ext>
                </a:extLst>
              </a:tr>
            </a:tbl>
          </a:graphicData>
        </a:graphic>
      </p:graphicFrame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6CE69B81-38AC-6119-613E-CB7E4301ABAB}"/>
              </a:ext>
            </a:extLst>
          </p:cNvPr>
          <p:cNvSpPr txBox="1">
            <a:spLocks/>
          </p:cNvSpPr>
          <p:nvPr/>
        </p:nvSpPr>
        <p:spPr>
          <a:xfrm>
            <a:off x="359999" y="3809329"/>
            <a:ext cx="8424000" cy="581361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118800" indent="0">
              <a:lnSpc>
                <a:spcPct val="95000"/>
              </a:lnSpc>
              <a:spcBef>
                <a:spcPts val="1200"/>
              </a:spcBef>
              <a:buFont typeface="Arial"/>
              <a:buNone/>
            </a:pPr>
            <a:r>
              <a:rPr lang="en-US" sz="1400" dirty="0">
                <a:latin typeface="+mn-lt"/>
              </a:rPr>
              <a:t>PC: Peak-Count	MH: Mean Height	MP: Mean Prominence	    SWP: Sequences Without Peaks</a:t>
            </a:r>
          </a:p>
        </p:txBody>
      </p:sp>
    </p:spTree>
    <p:extLst>
      <p:ext uri="{BB962C8B-B14F-4D97-AF65-F5344CB8AC3E}">
        <p14:creationId xmlns:p14="http://schemas.microsoft.com/office/powerpoint/2010/main" val="3936933865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DE9AA62-4CEB-02D7-AA20-1B35EA6949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5A2C6425-D795-1F48-BD0B-850CF7A50366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latin typeface="+mn-lt"/>
              </a:rPr>
              <a:t>Threshold-Based Detection (Torque)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770A0A7-3AAE-3A40-C679-C5A9ABEE45D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7CF56EE2-4373-3660-CF3B-75889981F434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C12100E-A100-4859-77E6-BD4D450A5EF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182A85F3-0BD7-A70B-9E48-FC0764949B3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4D2AFD7-E5E1-0A7F-19CF-AC0C75480A49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EDF19A9-5237-19D2-A47A-3A098A58ACD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7F9E773-E7E7-6B4F-3B74-D573963E072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FBB1CF25-F7D6-7605-4465-816482B3E61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A47C35F-E47F-44F0-3DA7-9CBA8B47B50B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20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8B99FEA5-2DA3-1420-67A4-B51495A1974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1"/>
            <a:ext cx="3895250" cy="1638723"/>
          </a:xfrm>
          <a:prstGeom prst="rect">
            <a:avLst/>
          </a:prstGeom>
        </p:spPr>
      </p:pic>
      <p:pic>
        <p:nvPicPr>
          <p:cNvPr id="13" name="Grafik 12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109302CA-C311-605B-4DC6-ED7F220853B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6341807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9497271B-D6A6-21BB-1254-7424875807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6D83D43-2485-0131-80DE-79FE8455F9D2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Threshold-Based Detection (Cmd.-Speed)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16229E3C-9F65-37C5-89B8-C3CAFD682D5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2CAAE0D-0A29-349D-476D-42E5B6A5AC51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0324BADE-8417-962B-83A8-7E62CAD86ED5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F779B7E7-6573-67BF-8EF7-BC32F4B8FE4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5D6A2B4E-D0E7-E026-9DCC-DDA3B9CCED2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0DAEA082-EEC2-F2E1-85D4-7BC0EE0AEFA9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4A2B2228-0A95-C253-5E22-FA5CD6794500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B88F4D44-1178-2F2E-3C6D-505A41D805D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CD7A83BA-7B75-1BCF-6736-FDF3CFE7FE7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21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CF87176F-2242-D2B0-1193-EB7B00A708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2680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Text, Reihe, Diagramm, parallel enthält.&#10;&#10;KI-generierte Inhalte können fehlerhaft sein.">
            <a:extLst>
              <a:ext uri="{FF2B5EF4-FFF2-40B4-BE49-F238E27FC236}">
                <a16:creationId xmlns:a16="http://schemas.microsoft.com/office/drawing/2014/main" id="{D8937CB6-F99C-0332-95DB-32E660A7BC5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5" y="2981403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660585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8C2AEE6-32AF-D7D3-4D57-2781E902A03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84BCDC02-F4C9-5A11-C56C-0288A41AF200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Moving-Average-Based Detection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BC4282A6-8D50-8EB6-CF90-4907208D7C3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E523477-D7C6-E1DF-A804-3714A7E0830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316A8861-23FC-65E3-4516-C51105B27C4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6CA0F9D6-684D-3842-26F4-B834956B12F1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B61F8B88-BC42-1260-44F8-1582C40D2DBD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9DDEBD02-E85A-C785-E349-B04F31412924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106477F8-49B2-93C9-52C2-B0922654AA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0A7B090-23D0-5678-AE1A-19418561C010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D2250CD8-092F-44D8-0331-8418996E80C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22</a:t>
            </a:fld>
            <a:r>
              <a:rPr lang="en-US" noProof="0" dirty="0"/>
              <a:t> / 39</a:t>
            </a:r>
          </a:p>
        </p:txBody>
      </p:sp>
      <p:pic>
        <p:nvPicPr>
          <p:cNvPr id="19" name="Picture 2" descr="A graph showing a graph of a graph&#10;&#10;AI-generated content may be incorrect.">
            <a:extLst>
              <a:ext uri="{FF2B5EF4-FFF2-40B4-BE49-F238E27FC236}">
                <a16:creationId xmlns:a16="http://schemas.microsoft.com/office/drawing/2014/main" id="{F77351FA-CC79-5D6E-91F0-163EBFD397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3330"/>
            <a:ext cx="3895250" cy="1638074"/>
          </a:xfrm>
          <a:prstGeom prst="rect">
            <a:avLst/>
          </a:prstGeom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A2146FC0-0A22-A0DE-01FE-8C2F8A306A1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4"/>
            <a:ext cx="3895250" cy="16539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9403613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17B2AC0D-8256-237C-83AE-5675A33C5D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23E8BF85-6A8E-D3C7-8BCE-1088229B59E5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Wavelet Transform</a:t>
            </a:r>
          </a:p>
          <a:p>
            <a:pPr lvl="0" indent="-338400" algn="ctr">
              <a:lnSpc>
                <a:spcPct val="95000"/>
              </a:lnSpc>
              <a:spcBef>
                <a:spcPts val="1200"/>
              </a:spcBef>
              <a:buNone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58D53D2-09E1-7543-7522-58411C650228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37B56458-6E5A-7630-E82B-12D46A9D663F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F15C8CE0-235C-B34C-7CDE-E00D0ED8BEA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AA83D35E-CAD1-08FF-4198-6B0CAAD3F2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21A66082-A9D8-3809-124C-CBCB8701D500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A7DCC575-C2AB-EB52-05E8-1FD62F67DD1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DD3C7A18-B6B9-70D7-AFE7-A644B8F2A92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5EE15655-71B2-2774-D3F2-03C1F34F919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867EEFEF-2E7A-1A13-70A7-B3543E246F7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23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Diagramm, Screenshot, Reihe enthält.&#10;&#10;KI-generierte Inhalte können fehlerhaft sein.">
            <a:extLst>
              <a:ext uri="{FF2B5EF4-FFF2-40B4-BE49-F238E27FC236}">
                <a16:creationId xmlns:a16="http://schemas.microsoft.com/office/drawing/2014/main" id="{93985E6A-4A61-49EF-D722-2D552A9535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1"/>
            <a:ext cx="3895250" cy="1638724"/>
          </a:xfrm>
          <a:prstGeom prst="rect">
            <a:avLst/>
          </a:prstGeom>
        </p:spPr>
      </p:pic>
      <p:pic>
        <p:nvPicPr>
          <p:cNvPr id="17" name="Grafik 16" descr="Ein Bild, das Reihe, Diagramm, Text, Screenshot enthält.&#10;&#10;KI-generierte Inhalte können fehlerhaft sein.">
            <a:extLst>
              <a:ext uri="{FF2B5EF4-FFF2-40B4-BE49-F238E27FC236}">
                <a16:creationId xmlns:a16="http://schemas.microsoft.com/office/drawing/2014/main" id="{2FEB318F-4A2A-C8E4-1785-9342990E576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8222471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39A8C1F-B522-BB9F-7E32-84923E0EDA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B8FDFC66-3A6C-C726-AD5F-218ECD0CAD5C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K-Means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02045637-AC74-9B9D-60C7-FD398234106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D9C2433-4CAC-57D9-8687-27A39266E4FE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2431F73B-BDE4-5EE2-9409-F014B617EAFF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763D4149-212C-6F4C-B084-F55E1E6C26D8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488ADF42-7F3B-2CCF-FB1C-5371BFD3FB7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FC8BA9AB-A504-48DC-9C4C-03D3165E1C46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06E95D6E-F18C-FB32-F9A8-7006338B70F7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A54F375D-33D6-AD80-6B67-3E04587D3F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18EC58CC-5BCF-1FFA-9FAD-5B458E098C01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24</a:t>
            </a:fld>
            <a:r>
              <a:rPr lang="en-US" noProof="0" dirty="0"/>
              <a:t> / 39</a:t>
            </a:r>
          </a:p>
        </p:txBody>
      </p:sp>
      <p:pic>
        <p:nvPicPr>
          <p:cNvPr id="13" name="Grafik 12" descr="Ein Bild, das Text, Schrift, Diagramm, Reihe enthält.&#10;&#10;KI-generierte Inhalte können fehlerhaft sein.">
            <a:extLst>
              <a:ext uri="{FF2B5EF4-FFF2-40B4-BE49-F238E27FC236}">
                <a16:creationId xmlns:a16="http://schemas.microsoft.com/office/drawing/2014/main" id="{34AD6C52-D577-B9DA-0D85-2064F4D720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4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Diagramm, Reihe, Schrift enthält.&#10;&#10;KI-generierte Inhalte können fehlerhaft sein.">
            <a:extLst>
              <a:ext uri="{FF2B5EF4-FFF2-40B4-BE49-F238E27FC236}">
                <a16:creationId xmlns:a16="http://schemas.microsoft.com/office/drawing/2014/main" id="{679F896C-AE35-4462-290F-D77FFF866FCE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7760293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FEEA6405-5F0E-6C73-349C-E0F3C124DD8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FD79390B-39F5-36DB-BEDB-57DDA1E88EE9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Clustering with DBSCAN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2A986758-01F6-FF96-CF7B-D189447746A4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16D599B-EE12-9F4C-C380-2E2DC0D44FCD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620DEA19-CB36-4609-3D2C-C979CA192197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8B08C664-6D50-4C49-26AD-62BEDCFE6F9B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99BBA1BD-7E56-74BC-473C-11277BE6A85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8F4BC032-BC11-71C0-54F1-7B5B0D9C549E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F7FA89-25E9-09CC-A83F-AC29766B6768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4D82368F-7B49-56F7-736E-61CEBE38C6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A42D193-CDD8-91E3-B165-73AEFEF22AE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25</a:t>
            </a:fld>
            <a:r>
              <a:rPr lang="en-US" noProof="0" dirty="0"/>
              <a:t> / 39</a:t>
            </a:r>
          </a:p>
        </p:txBody>
      </p:sp>
      <p:pic>
        <p:nvPicPr>
          <p:cNvPr id="3" name="Grafik 2" descr="Ein Bild, das Text, Schrift, Screenshot, Diagramm enthält.&#10;&#10;KI-generierte Inhalte können fehlerhaft sein.">
            <a:extLst>
              <a:ext uri="{FF2B5EF4-FFF2-40B4-BE49-F238E27FC236}">
                <a16:creationId xmlns:a16="http://schemas.microsoft.com/office/drawing/2014/main" id="{486B1638-230D-DDDF-0B6F-DF6336A2076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2682"/>
            <a:ext cx="3895250" cy="1638723"/>
          </a:xfrm>
          <a:prstGeom prst="rect">
            <a:avLst/>
          </a:prstGeom>
        </p:spPr>
      </p:pic>
      <p:pic>
        <p:nvPicPr>
          <p:cNvPr id="17" name="Grafik 16" descr="Ein Bild, das Text, Reihe, Diagramm, Zahl enthält.&#10;&#10;KI-generierte Inhalte können fehlerhaft sein.">
            <a:extLst>
              <a:ext uri="{FF2B5EF4-FFF2-40B4-BE49-F238E27FC236}">
                <a16:creationId xmlns:a16="http://schemas.microsoft.com/office/drawing/2014/main" id="{7A8C8119-03D3-82C5-88DA-15D1DA0539C5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4" y="2981405"/>
            <a:ext cx="3895249" cy="16617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11095190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838F4DC2-F1A4-41AF-BE1A-0B65B68E6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A173D38C-F274-69CF-3272-97141585EE04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Isolation Forest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A44590-9643-7016-561A-09029E81F55F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173DB92-53A4-6A6A-5454-FEE2B22FF670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8B2A46A8-78CA-8AB0-7472-1A783AC4DE6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2A26DAEA-C9A8-2C62-E90E-A30D5840517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53C5CB5-E0FA-42EC-A48B-A9B9B475FA6E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95C3630-7BC1-B3C7-1619-A1151AF092CA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65A66CAF-5B69-F208-3213-D007F658D61A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8AAFC34C-057C-688E-F66E-4E71968C361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4C15D3DD-6C7B-8645-D49F-EA27FA4B55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26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>
            <a:extLst>
              <a:ext uri="{FF2B5EF4-FFF2-40B4-BE49-F238E27FC236}">
                <a16:creationId xmlns:a16="http://schemas.microsoft.com/office/drawing/2014/main" id="{9F169583-C3F8-5E04-A4C7-7644F0529A8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6" y="1343331"/>
            <a:ext cx="3895250" cy="1638074"/>
          </a:xfrm>
          <a:prstGeom prst="rect">
            <a:avLst/>
          </a:prstGeom>
        </p:spPr>
      </p:pic>
      <p:pic>
        <p:nvPicPr>
          <p:cNvPr id="19" name="Picture 14">
            <a:extLst>
              <a:ext uri="{FF2B5EF4-FFF2-40B4-BE49-F238E27FC236}">
                <a16:creationId xmlns:a16="http://schemas.microsoft.com/office/drawing/2014/main" id="{E55E5D27-EB6A-B920-4EF3-B18DD1EEBEA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6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910920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C8364D1-343A-F0D6-212B-8D0524E92B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222;p17">
            <a:extLst>
              <a:ext uri="{FF2B5EF4-FFF2-40B4-BE49-F238E27FC236}">
                <a16:creationId xmlns:a16="http://schemas.microsoft.com/office/drawing/2014/main" id="{924183EA-7624-93FF-A9C6-25FD783938B7}"/>
              </a:ext>
            </a:extLst>
          </p:cNvPr>
          <p:cNvSpPr txBox="1">
            <a:spLocks/>
          </p:cNvSpPr>
          <p:nvPr/>
        </p:nvSpPr>
        <p:spPr>
          <a:xfrm>
            <a:off x="359999" y="752800"/>
            <a:ext cx="8424000" cy="3848186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 algn="ctr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Autoencoder</a:t>
            </a: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3E00B810-C3AA-E7D2-E200-5B605DDD57C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532EE537-2619-194A-6BE6-4D98F97819B5}"/>
                </a:ext>
              </a:extLst>
            </p:cNvPr>
            <p:cNvGrpSpPr/>
            <p:nvPr/>
          </p:nvGrpSpPr>
          <p:grpSpPr>
            <a:xfrm>
              <a:off x="797538" y="70119"/>
              <a:ext cx="9040145" cy="425576"/>
              <a:chOff x="958348" y="786838"/>
              <a:chExt cx="4045251" cy="346364"/>
            </a:xfrm>
          </p:grpSpPr>
          <p:sp>
            <p:nvSpPr>
              <p:cNvPr id="8" name="Richtungspfeil 33">
                <a:extLst>
                  <a:ext uri="{FF2B5EF4-FFF2-40B4-BE49-F238E27FC236}">
                    <a16:creationId xmlns:a16="http://schemas.microsoft.com/office/drawing/2014/main" id="{959DB562-3562-E0D4-DAFB-2B17A647912A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9" name="Eingekerbter Richtungspfeil 1">
                <a:extLst>
                  <a:ext uri="{FF2B5EF4-FFF2-40B4-BE49-F238E27FC236}">
                    <a16:creationId xmlns:a16="http://schemas.microsoft.com/office/drawing/2014/main" id="{EE4D8A42-C3FE-9FBD-9A93-05A4A45B7CD7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11" name="Eingekerbter Richtungspfeil 10">
                <a:extLst>
                  <a:ext uri="{FF2B5EF4-FFF2-40B4-BE49-F238E27FC236}">
                    <a16:creationId xmlns:a16="http://schemas.microsoft.com/office/drawing/2014/main" id="{13BA3A3B-DCC6-FB19-6045-711EC5DB16CB}"/>
                  </a:ext>
                </a:extLst>
              </p:cNvPr>
              <p:cNvSpPr/>
              <p:nvPr/>
            </p:nvSpPr>
            <p:spPr>
              <a:xfrm>
                <a:off x="2068363" y="786838"/>
                <a:ext cx="2380182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 Results</a:t>
                </a:r>
              </a:p>
            </p:txBody>
          </p:sp>
          <p:sp>
            <p:nvSpPr>
              <p:cNvPr id="12" name="Eingekerbter Richtungspfeil 11">
                <a:extLst>
                  <a:ext uri="{FF2B5EF4-FFF2-40B4-BE49-F238E27FC236}">
                    <a16:creationId xmlns:a16="http://schemas.microsoft.com/office/drawing/2014/main" id="{77A371B0-370B-8F2F-36C0-26C273812827}"/>
                  </a:ext>
                </a:extLst>
              </p:cNvPr>
              <p:cNvSpPr/>
              <p:nvPr/>
            </p:nvSpPr>
            <p:spPr>
              <a:xfrm>
                <a:off x="4448546" y="786838"/>
                <a:ext cx="555053" cy="345558"/>
              </a:xfrm>
              <a:prstGeom prst="chevron">
                <a:avLst/>
              </a:prstGeom>
              <a:solidFill>
                <a:schemeClr val="bg1">
                  <a:lumMod val="65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82C86F8-BA4E-6EC0-6ED3-E41323ED81DF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4" name="Google Shape;206;p15">
            <a:extLst>
              <a:ext uri="{FF2B5EF4-FFF2-40B4-BE49-F238E27FC236}">
                <a16:creationId xmlns:a16="http://schemas.microsoft.com/office/drawing/2014/main" id="{693C99CD-B620-951E-7315-8122EFB44DE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5" name="Foliennummernplatzhalter 14">
            <a:extLst>
              <a:ext uri="{FF2B5EF4-FFF2-40B4-BE49-F238E27FC236}">
                <a16:creationId xmlns:a16="http://schemas.microsoft.com/office/drawing/2014/main" id="{33026619-BC33-8ACD-718B-A5DBC5B70D5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27</a:t>
            </a:fld>
            <a:r>
              <a:rPr lang="en-US" noProof="0" dirty="0"/>
              <a:t> / 39</a:t>
            </a:r>
          </a:p>
        </p:txBody>
      </p:sp>
      <p:pic>
        <p:nvPicPr>
          <p:cNvPr id="3" name="Picture 3" descr="A graph showing a line of blue squares&#10;&#10;AI-generated content may be incorrect.">
            <a:extLst>
              <a:ext uri="{FF2B5EF4-FFF2-40B4-BE49-F238E27FC236}">
                <a16:creationId xmlns:a16="http://schemas.microsoft.com/office/drawing/2014/main" id="{6318A310-F672-DD8E-F069-20B78D0069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4377" y="1343331"/>
            <a:ext cx="3895250" cy="1638074"/>
          </a:xfrm>
          <a:prstGeom prst="rect">
            <a:avLst/>
          </a:prstGeom>
        </p:spPr>
      </p:pic>
      <p:pic>
        <p:nvPicPr>
          <p:cNvPr id="20" name="Picture 16" descr="A graph showing a number of data&#10;&#10;AI-generated content may be incorrect.">
            <a:extLst>
              <a:ext uri="{FF2B5EF4-FFF2-40B4-BE49-F238E27FC236}">
                <a16:creationId xmlns:a16="http://schemas.microsoft.com/office/drawing/2014/main" id="{EEDA9CA7-5ABC-C82D-D782-90734699A6DF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24377" y="2981406"/>
            <a:ext cx="3895250" cy="16617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4667658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E8C45650-3367-680A-6784-7D67021BCF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69AB15AA-D3BA-0CCC-E377-CCE07C69259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342612632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7E0E8A5E-9CD0-7BC3-7DAE-B415D1DD2154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C02AE32C-DAFF-649C-386D-3934316AD12F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269448B5-627A-87FB-48BF-CA03A245AD0A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28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575864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BE23F47D-7BD5-40FE-C563-FC73692959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8546646B-1CAF-0C87-C592-D27EEC14A515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Key criteria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Precision and recall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noProof="0" dirty="0">
                <a:latin typeface="+mn-lt"/>
              </a:rPr>
              <a:t>Computational costs</a:t>
            </a:r>
            <a:r>
              <a:rPr lang="en-US" sz="1543" dirty="0">
                <a:latin typeface="+mn-lt"/>
              </a:rPr>
              <a:t> and </a:t>
            </a:r>
            <a:r>
              <a:rPr lang="en-US" sz="1543" noProof="0" dirty="0">
                <a:latin typeface="+mn-lt"/>
              </a:rPr>
              <a:t>complexity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Generalization and robustness</a:t>
            </a:r>
          </a:p>
          <a:p>
            <a:pPr lvl="1">
              <a:lnSpc>
                <a:spcPct val="114000"/>
              </a:lnSpc>
              <a:spcBef>
                <a:spcPts val="1200"/>
              </a:spcBef>
            </a:pPr>
            <a:r>
              <a:rPr lang="en-US" sz="1543" dirty="0">
                <a:latin typeface="+mn-lt"/>
              </a:rPr>
              <a:t>Applicability</a:t>
            </a:r>
            <a:endParaRPr lang="en-US" sz="1543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78677835-5C0B-AE8F-B9D1-C987040CBB8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184ACAE8-C2B7-345E-23D9-33A76CBB36C0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39840150-3DF1-8238-79E7-53D3009B9C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0E6933BF-1A9C-B65B-36B0-3AA8684AA88E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9B94E8D-A8A8-2760-6FB7-B947336449D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ACC43ED-7F15-56B8-7124-2ACCBA4A7F52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EC616692-24A9-FC6C-1418-ED8777739722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AA944AF-4112-4A47-64FF-F64CD4B5D5CA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F5CE6430-2E03-9A3D-3FE8-84D66BC4A60F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29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69075690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4BC95A36-FB80-DAC5-F327-DBF17380DC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23C6B6DE-3520-75B3-44AD-34B2CDE415E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Comparison with Pseudo Labels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A69080BD-8150-480A-7ACB-41AEFED2F85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DA22A017-3761-0665-9B9B-4F9679808186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A19BCD48-7965-57E6-AF4D-9E6CF3C3FD74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CE2AB3A8-617A-9FF3-2677-ABCD0B1FB8C6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6ED52007-B001-6513-F8B9-D195E9B347C4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E81EE87-19DA-E272-FC4C-7C855F04CBE7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C609E38A-DC99-573D-6076-4A2A7E700864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BCD7284F-32CF-60F1-D30D-E0579A4E0923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7E59DC4F-C08A-DAFD-3EB7-ABDC012F12C6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30</a:t>
            </a:fld>
            <a:r>
              <a:rPr lang="en-US" noProof="0" dirty="0"/>
              <a:t> / 39</a:t>
            </a:r>
          </a:p>
        </p:txBody>
      </p:sp>
      <p:graphicFrame>
        <p:nvGraphicFramePr>
          <p:cNvPr id="14" name="Diagramm 13">
            <a:extLst>
              <a:ext uri="{FF2B5EF4-FFF2-40B4-BE49-F238E27FC236}">
                <a16:creationId xmlns:a16="http://schemas.microsoft.com/office/drawing/2014/main" id="{287E3456-C002-AB75-32D7-355489338926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43857205"/>
              </p:ext>
            </p:extLst>
          </p:nvPr>
        </p:nvGraphicFramePr>
        <p:xfrm>
          <a:off x="359999" y="1475334"/>
          <a:ext cx="8424000" cy="3128416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</p:spTree>
    <p:extLst>
      <p:ext uri="{BB962C8B-B14F-4D97-AF65-F5344CB8AC3E}">
        <p14:creationId xmlns:p14="http://schemas.microsoft.com/office/powerpoint/2010/main" val="329475385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E853EBBC-1777-6780-DA9F-770BB6CCFAC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07F2E0B-E89B-3DF5-B399-AE564CFC0AEE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17729" lvl="0" indent="0" algn="ctr">
              <a:lnSpc>
                <a:spcPct val="114000"/>
              </a:lnSpc>
              <a:spcBef>
                <a:spcPts val="1200"/>
              </a:spcBef>
              <a:buNone/>
            </a:pPr>
            <a:r>
              <a:rPr lang="en-US" sz="1700" dirty="0">
                <a:latin typeface="+mn-lt"/>
              </a:rPr>
              <a:t>Computational Cost, Complexity and Generalizability</a:t>
            </a:r>
            <a:endParaRPr lang="en-US" sz="1700" noProof="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97AF4EA4-E833-D706-68F4-3B08C74D6B6A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34A3C03-223B-EC84-1AFD-048A09B7FA5D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4C5AE0F4-309C-0754-2976-A2B07794927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B8E16F45-9FBB-88F8-D6A3-6C2032896AA5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93505A38-11D0-B9EA-15BA-D2018CFE99DF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8D3735AE-90D0-266E-08C5-49EB8337F9ED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Evaluation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99FC9C4E-951A-BFDA-7C1B-7BB928413511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8E2B09A7-BA53-1F3A-C747-B113E3445FF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9A5D2452-6194-AB7B-B893-730F5517FD9E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31</a:t>
            </a:fld>
            <a:r>
              <a:rPr lang="en-US" noProof="0" dirty="0"/>
              <a:t> / 39</a:t>
            </a:r>
          </a:p>
        </p:txBody>
      </p:sp>
      <p:sp>
        <p:nvSpPr>
          <p:cNvPr id="2" name="Google Shape;222;p17">
            <a:extLst>
              <a:ext uri="{FF2B5EF4-FFF2-40B4-BE49-F238E27FC236}">
                <a16:creationId xmlns:a16="http://schemas.microsoft.com/office/drawing/2014/main" id="{2EA602F3-29CD-856F-4AA8-EA37FC4E213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C5C22DA6-F395-F207-140F-DCA5F4B5DC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19141" y="1300796"/>
            <a:ext cx="5705715" cy="32594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2524093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20">
          <a:extLst>
            <a:ext uri="{FF2B5EF4-FFF2-40B4-BE49-F238E27FC236}">
              <a16:creationId xmlns:a16="http://schemas.microsoft.com/office/drawing/2014/main" id="{D8D12752-A1B1-EEB7-8577-EDE8CE5DBE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7">
            <a:extLst>
              <a:ext uri="{FF2B5EF4-FFF2-40B4-BE49-F238E27FC236}">
                <a16:creationId xmlns:a16="http://schemas.microsoft.com/office/drawing/2014/main" id="{4C35C87F-02FF-117B-3511-1C6AF78641AA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89"/>
            <a:ext cx="8424000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lvl="0">
              <a:lnSpc>
                <a:spcPct val="114000"/>
              </a:lnSpc>
              <a:spcBef>
                <a:spcPts val="1200"/>
              </a:spcBef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Best practice: Threshold-Based Detection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endParaRPr lang="en-US" sz="1700" dirty="0">
              <a:latin typeface="+mn-lt"/>
            </a:endParaRP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Best results based of visual inspections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dirty="0">
                <a:latin typeface="+mn-lt"/>
              </a:rPr>
              <a:t>Fast computation with low resource allocation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Few parameters to optimize</a:t>
            </a:r>
          </a:p>
          <a:p>
            <a:pPr lvl="0">
              <a:lnSpc>
                <a:spcPct val="114000"/>
              </a:lnSpc>
              <a:spcBef>
                <a:spcPts val="1200"/>
              </a:spcBef>
            </a:pPr>
            <a:r>
              <a:rPr lang="en-US" sz="1700" noProof="0" dirty="0">
                <a:latin typeface="+mn-lt"/>
              </a:rPr>
              <a:t>High precision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4060F6B2-773F-DE07-07F4-2223BB687261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9ADA44BF-C5D8-37D1-33DC-01D2644CA109}"/>
                </a:ext>
              </a:extLst>
            </p:cNvPr>
            <p:cNvGrpSpPr/>
            <p:nvPr/>
          </p:nvGrpSpPr>
          <p:grpSpPr>
            <a:xfrm>
              <a:off x="797538" y="70119"/>
              <a:ext cx="9040147" cy="425576"/>
              <a:chOff x="958348" y="786838"/>
              <a:chExt cx="4045252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EB96BDF8-CA0E-C5F0-D0CA-CC04A2C58AAE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A6169087-9D9A-81F3-A528-AAE9F81094F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7132C201-D0EB-55D5-D82F-B7722F3A1E93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07D8806B-A93A-8E22-A09B-4F6C22D917D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2380229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 </a:t>
                </a:r>
                <a:r>
                  <a:rPr lang="en-US" sz="130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Evaluation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197DF9-654F-2667-ED1F-147ABFFB5719}"/>
                </a:ext>
              </a:extLst>
            </p:cNvPr>
            <p:cNvSpPr/>
            <p:nvPr/>
          </p:nvSpPr>
          <p:spPr>
            <a:xfrm>
              <a:off x="9837683" y="70119"/>
              <a:ext cx="1240408" cy="424585"/>
            </a:xfrm>
            <a:prstGeom prst="chevron">
              <a:avLst/>
            </a:prstGeom>
            <a:solidFill>
              <a:schemeClr val="bg1">
                <a:lumMod val="6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A05DDAEE-3E2C-159A-CAA4-52CCB9242D15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8F80790B-582B-860D-CAD8-7D3D7DF999C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32</a:t>
            </a:fld>
            <a:r>
              <a:rPr lang="en-US" noProof="0" dirty="0"/>
              <a:t>  / 39</a:t>
            </a:r>
          </a:p>
        </p:txBody>
      </p:sp>
      <p:sp>
        <p:nvSpPr>
          <p:cNvPr id="3" name="Google Shape;222;p17">
            <a:extLst>
              <a:ext uri="{FF2B5EF4-FFF2-40B4-BE49-F238E27FC236}">
                <a16:creationId xmlns:a16="http://schemas.microsoft.com/office/drawing/2014/main" id="{F541DB44-6BF3-BA3C-EC95-2F7F9AB97BDE}"/>
              </a:ext>
            </a:extLst>
          </p:cNvPr>
          <p:cNvSpPr txBox="1">
            <a:spLocks/>
          </p:cNvSpPr>
          <p:nvPr/>
        </p:nvSpPr>
        <p:spPr>
          <a:xfrm>
            <a:off x="87475" y="4279564"/>
            <a:ext cx="1053723" cy="56137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39471" algn="l" rtl="0">
              <a:lnSpc>
                <a:spcPct val="90000"/>
              </a:lnSpc>
              <a:spcBef>
                <a:spcPts val="749"/>
              </a:spcBef>
              <a:spcAft>
                <a:spcPts val="0"/>
              </a:spcAft>
              <a:buClr>
                <a:srgbClr val="0068B4"/>
              </a:buClr>
              <a:buSzPts val="1746"/>
              <a:buFont typeface="Arial"/>
              <a:buChar char="•"/>
              <a:defRPr sz="1745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29437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588"/>
              <a:buFont typeface="Arial"/>
              <a:buChar char="•"/>
              <a:defRPr sz="1588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1934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429"/>
              <a:buFont typeface="Arial"/>
              <a:buChar char="•"/>
              <a:defRPr sz="142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rgbClr val="0068B4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4261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349"/>
              <a:buFont typeface="Arial"/>
              <a:buChar char="•"/>
              <a:defRPr sz="1349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-338400">
              <a:lnSpc>
                <a:spcPct val="95000"/>
              </a:lnSpc>
              <a:spcBef>
                <a:spcPts val="1200"/>
              </a:spcBef>
              <a:buNone/>
            </a:pPr>
            <a:r>
              <a:rPr lang="en-US" sz="1700" noProof="0" dirty="0">
                <a:highlight>
                  <a:srgbClr val="FFFF00"/>
                </a:highlight>
                <a:latin typeface="+mn-lt"/>
              </a:rPr>
              <a:t>Draft</a:t>
            </a:r>
          </a:p>
        </p:txBody>
      </p:sp>
    </p:spTree>
    <p:extLst>
      <p:ext uri="{BB962C8B-B14F-4D97-AF65-F5344CB8AC3E}">
        <p14:creationId xmlns:p14="http://schemas.microsoft.com/office/powerpoint/2010/main" val="153203603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3">
          <a:extLst>
            <a:ext uri="{FF2B5EF4-FFF2-40B4-BE49-F238E27FC236}">
              <a16:creationId xmlns:a16="http://schemas.microsoft.com/office/drawing/2014/main" id="{7C92AE72-99FF-3839-AE08-935D4E3FE52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Diagramm 5">
            <a:extLst>
              <a:ext uri="{FF2B5EF4-FFF2-40B4-BE49-F238E27FC236}">
                <a16:creationId xmlns:a16="http://schemas.microsoft.com/office/drawing/2014/main" id="{58D2502F-BB62-DBCA-392E-DA7E5F83138B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1794709751"/>
              </p:ext>
            </p:extLst>
          </p:nvPr>
        </p:nvGraphicFramePr>
        <p:xfrm>
          <a:off x="719998" y="825191"/>
          <a:ext cx="7704000" cy="295481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3" r:lo="rId4" r:qs="rId5" r:cs="rId6"/>
          </a:graphicData>
        </a:graphic>
      </p:graphicFrame>
      <p:cxnSp>
        <p:nvCxnSpPr>
          <p:cNvPr id="7" name="Gerader Verbinder 6">
            <a:extLst>
              <a:ext uri="{FF2B5EF4-FFF2-40B4-BE49-F238E27FC236}">
                <a16:creationId xmlns:a16="http://schemas.microsoft.com/office/drawing/2014/main" id="{88E9EB11-B4DF-2EE2-ED1B-BE6F2A553045}"/>
              </a:ext>
            </a:extLst>
          </p:cNvPr>
          <p:cNvCxnSpPr>
            <a:cxnSpLocks/>
          </p:cNvCxnSpPr>
          <p:nvPr/>
        </p:nvCxnSpPr>
        <p:spPr>
          <a:xfrm flipH="1">
            <a:off x="0" y="535471"/>
            <a:ext cx="9144000" cy="0"/>
          </a:xfrm>
          <a:prstGeom prst="line">
            <a:avLst/>
          </a:prstGeom>
          <a:ln w="19050">
            <a:solidFill>
              <a:srgbClr val="0068B4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62ABECB-6269-7B64-A5C9-0CDEA15C050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AA337FAD-55EC-A2D6-D456-B66403DDBD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33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330242817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84CF061D-0C69-A818-65E0-0CD6C6AAFE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03BC4A43-B96C-5C53-ADF4-508D3CBE1EE6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Recommended workflow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25E0BCF-603C-7AE0-6622-9704706656D7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AEA5DB48-19CC-2AD8-8ED3-CCA880FBA2D3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FBD5035-DAD6-241D-2FE4-75B598564F40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96377F49-D525-7D97-6A9D-FC9C009CD7EC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B2BD9AE4-DE4C-3A53-BEFB-647210E568D5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A0D58199-46E7-BC31-F818-46D69DE34AFA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64AE62B-E503-AFB9-4BBC-9022739112E5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26BA3C3C-223D-FD3C-CECE-6AFD7EC3DF9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074A74EB-5208-4B5F-A0FB-2C3930E517C7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34</a:t>
            </a:fld>
            <a:r>
              <a:rPr lang="en-US" noProof="0" dirty="0"/>
              <a:t> / 39</a:t>
            </a:r>
          </a:p>
        </p:txBody>
      </p:sp>
      <p:sp>
        <p:nvSpPr>
          <p:cNvPr id="3" name="Rechteck: abgerundete Ecken 2">
            <a:extLst>
              <a:ext uri="{FF2B5EF4-FFF2-40B4-BE49-F238E27FC236}">
                <a16:creationId xmlns:a16="http://schemas.microsoft.com/office/drawing/2014/main" id="{3A70435C-D139-0AA4-08A1-678ADD0B27A5}"/>
              </a:ext>
            </a:extLst>
          </p:cNvPr>
          <p:cNvSpPr/>
          <p:nvPr/>
        </p:nvSpPr>
        <p:spPr>
          <a:xfrm>
            <a:off x="376423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1. Start with a simple method</a:t>
            </a:r>
          </a:p>
        </p:txBody>
      </p:sp>
      <p:sp>
        <p:nvSpPr>
          <p:cNvPr id="13" name="Rechteck: abgerundete Ecken 12">
            <a:extLst>
              <a:ext uri="{FF2B5EF4-FFF2-40B4-BE49-F238E27FC236}">
                <a16:creationId xmlns:a16="http://schemas.microsoft.com/office/drawing/2014/main" id="{E0EB8A4D-9436-3F21-9BBD-22B5C2A4B856}"/>
              </a:ext>
            </a:extLst>
          </p:cNvPr>
          <p:cNvSpPr/>
          <p:nvPr/>
        </p:nvSpPr>
        <p:spPr>
          <a:xfrm>
            <a:off x="2450437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2. Select and develop suitable input features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4" name="Rechteck: abgerundete Ecken 13">
            <a:extLst>
              <a:ext uri="{FF2B5EF4-FFF2-40B4-BE49-F238E27FC236}">
                <a16:creationId xmlns:a16="http://schemas.microsoft.com/office/drawing/2014/main" id="{17371F64-C9A5-2B15-978A-7F29E60F3D24}"/>
              </a:ext>
            </a:extLst>
          </p:cNvPr>
          <p:cNvSpPr/>
          <p:nvPr/>
        </p:nvSpPr>
        <p:spPr>
          <a:xfrm>
            <a:off x="4524451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3. Optimize the parameters</a:t>
            </a:r>
            <a:endParaRPr lang="en-US" noProof="0" dirty="0">
              <a:solidFill>
                <a:schemeClr val="tx1"/>
              </a:solidFill>
            </a:endParaRPr>
          </a:p>
        </p:txBody>
      </p:sp>
      <p:sp>
        <p:nvSpPr>
          <p:cNvPr id="15" name="Rechteck: abgerundete Ecken 14">
            <a:extLst>
              <a:ext uri="{FF2B5EF4-FFF2-40B4-BE49-F238E27FC236}">
                <a16:creationId xmlns:a16="http://schemas.microsoft.com/office/drawing/2014/main" id="{F19AD574-9CEB-0F95-C144-5788B37DC1B2}"/>
              </a:ext>
            </a:extLst>
          </p:cNvPr>
          <p:cNvSpPr/>
          <p:nvPr/>
        </p:nvSpPr>
        <p:spPr>
          <a:xfrm>
            <a:off x="7252378" y="1803584"/>
            <a:ext cx="1531620" cy="1015657"/>
          </a:xfrm>
          <a:prstGeom prst="round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</a:rPr>
              <a:t>4. Try a more complex approach</a:t>
            </a:r>
            <a:endParaRPr lang="en-US" noProof="0" dirty="0">
              <a:solidFill>
                <a:schemeClr val="tx1"/>
              </a:solidFill>
            </a:endParaRPr>
          </a:p>
        </p:txBody>
      </p:sp>
      <p:cxnSp>
        <p:nvCxnSpPr>
          <p:cNvPr id="17" name="Gerade Verbindung mit Pfeil 16">
            <a:extLst>
              <a:ext uri="{FF2B5EF4-FFF2-40B4-BE49-F238E27FC236}">
                <a16:creationId xmlns:a16="http://schemas.microsoft.com/office/drawing/2014/main" id="{CEB8A14F-BB68-5D51-CC3E-237D8B2DD0BE}"/>
              </a:ext>
            </a:extLst>
          </p:cNvPr>
          <p:cNvCxnSpPr>
            <a:stCxn id="3" idx="3"/>
            <a:endCxn id="13" idx="1"/>
          </p:cNvCxnSpPr>
          <p:nvPr/>
        </p:nvCxnSpPr>
        <p:spPr>
          <a:xfrm>
            <a:off x="1908043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Gerade Verbindung mit Pfeil 17">
            <a:extLst>
              <a:ext uri="{FF2B5EF4-FFF2-40B4-BE49-F238E27FC236}">
                <a16:creationId xmlns:a16="http://schemas.microsoft.com/office/drawing/2014/main" id="{2C6E52A8-5EBC-23E7-6DC6-C43C0EC7CF3C}"/>
              </a:ext>
            </a:extLst>
          </p:cNvPr>
          <p:cNvCxnSpPr>
            <a:cxnSpLocks/>
            <a:stCxn id="13" idx="3"/>
            <a:endCxn id="14" idx="1"/>
          </p:cNvCxnSpPr>
          <p:nvPr/>
        </p:nvCxnSpPr>
        <p:spPr>
          <a:xfrm>
            <a:off x="3982057" y="2311413"/>
            <a:ext cx="542394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Gerade Verbindung mit Pfeil 20">
            <a:extLst>
              <a:ext uri="{FF2B5EF4-FFF2-40B4-BE49-F238E27FC236}">
                <a16:creationId xmlns:a16="http://schemas.microsoft.com/office/drawing/2014/main" id="{B9E65F3E-EF5D-AE23-FA81-C0F9223EC56C}"/>
              </a:ext>
            </a:extLst>
          </p:cNvPr>
          <p:cNvCxnSpPr>
            <a:cxnSpLocks/>
            <a:stCxn id="14" idx="3"/>
            <a:endCxn id="15" idx="1"/>
          </p:cNvCxnSpPr>
          <p:nvPr/>
        </p:nvCxnSpPr>
        <p:spPr>
          <a:xfrm>
            <a:off x="6056071" y="2311413"/>
            <a:ext cx="1196307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Rechteck 27">
            <a:extLst>
              <a:ext uri="{FF2B5EF4-FFF2-40B4-BE49-F238E27FC236}">
                <a16:creationId xmlns:a16="http://schemas.microsoft.com/office/drawing/2014/main" id="{9BFABFD2-DE34-2B8D-C206-B114421CD49A}"/>
              </a:ext>
            </a:extLst>
          </p:cNvPr>
          <p:cNvSpPr/>
          <p:nvPr/>
        </p:nvSpPr>
        <p:spPr>
          <a:xfrm>
            <a:off x="4730191" y="3672663"/>
            <a:ext cx="1120140" cy="324469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noProof="0" dirty="0">
                <a:solidFill>
                  <a:schemeClr val="tx1"/>
                </a:solidFill>
              </a:rPr>
              <a:t>Done</a:t>
            </a:r>
            <a:endParaRPr lang="de-DE" dirty="0">
              <a:solidFill>
                <a:schemeClr val="tx1"/>
              </a:solidFill>
            </a:endParaRPr>
          </a:p>
        </p:txBody>
      </p:sp>
      <p:cxnSp>
        <p:nvCxnSpPr>
          <p:cNvPr id="29" name="Gerade Verbindung mit Pfeil 28">
            <a:extLst>
              <a:ext uri="{FF2B5EF4-FFF2-40B4-BE49-F238E27FC236}">
                <a16:creationId xmlns:a16="http://schemas.microsoft.com/office/drawing/2014/main" id="{1E1B22E1-AF76-9754-F35F-0D1EF4BB5EEA}"/>
              </a:ext>
            </a:extLst>
          </p:cNvPr>
          <p:cNvCxnSpPr>
            <a:cxnSpLocks/>
            <a:stCxn id="14" idx="2"/>
            <a:endCxn id="28" idx="0"/>
          </p:cNvCxnSpPr>
          <p:nvPr/>
        </p:nvCxnSpPr>
        <p:spPr>
          <a:xfrm>
            <a:off x="5290261" y="2819241"/>
            <a:ext cx="0" cy="853422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Textfeld 31">
            <a:extLst>
              <a:ext uri="{FF2B5EF4-FFF2-40B4-BE49-F238E27FC236}">
                <a16:creationId xmlns:a16="http://schemas.microsoft.com/office/drawing/2014/main" id="{36C68D9E-5978-C63C-971C-53AA0CF116F1}"/>
              </a:ext>
            </a:extLst>
          </p:cNvPr>
          <p:cNvSpPr txBox="1"/>
          <p:nvPr/>
        </p:nvSpPr>
        <p:spPr>
          <a:xfrm>
            <a:off x="4429201" y="3079048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Success</a:t>
            </a:r>
            <a:endParaRPr lang="de-DE" dirty="0"/>
          </a:p>
        </p:txBody>
      </p:sp>
      <p:sp>
        <p:nvSpPr>
          <p:cNvPr id="36" name="Textfeld 35">
            <a:extLst>
              <a:ext uri="{FF2B5EF4-FFF2-40B4-BE49-F238E27FC236}">
                <a16:creationId xmlns:a16="http://schemas.microsoft.com/office/drawing/2014/main" id="{EB1CE632-30D2-E6E9-7DCC-94B66BD435A4}"/>
              </a:ext>
            </a:extLst>
          </p:cNvPr>
          <p:cNvSpPr txBox="1"/>
          <p:nvPr/>
        </p:nvSpPr>
        <p:spPr>
          <a:xfrm>
            <a:off x="6291074" y="2311412"/>
            <a:ext cx="861060" cy="30777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noProof="0" dirty="0"/>
              <a:t>Failure</a:t>
            </a:r>
            <a:endParaRPr lang="de-DE" dirty="0"/>
          </a:p>
        </p:txBody>
      </p:sp>
      <p:cxnSp>
        <p:nvCxnSpPr>
          <p:cNvPr id="20" name="Verbinder: gewinkelt 19">
            <a:extLst>
              <a:ext uri="{FF2B5EF4-FFF2-40B4-BE49-F238E27FC236}">
                <a16:creationId xmlns:a16="http://schemas.microsoft.com/office/drawing/2014/main" id="{CF250072-4BEB-8675-2275-9D0A9477F0CE}"/>
              </a:ext>
            </a:extLst>
          </p:cNvPr>
          <p:cNvCxnSpPr>
            <a:cxnSpLocks/>
            <a:stCxn id="15" idx="0"/>
            <a:endCxn id="14" idx="0"/>
          </p:cNvCxnSpPr>
          <p:nvPr/>
        </p:nvCxnSpPr>
        <p:spPr>
          <a:xfrm rot="16200000" flipV="1">
            <a:off x="6654225" y="439620"/>
            <a:ext cx="12700" cy="2727927"/>
          </a:xfrm>
          <a:prstGeom prst="bentConnector3">
            <a:avLst>
              <a:gd name="adj1" fmla="val 1800000"/>
            </a:avLst>
          </a:prstGeom>
          <a:ln w="190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95524445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/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Findings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Anomalies are likely caused by sudden changes in the commanded speed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Sharp edges seem to cause the peaks in the current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  <a:buFont typeface="Wingdings" panose="05000000000000000000" pitchFamily="2" charset="2"/>
              <a:buChar char="Ø"/>
            </a:pPr>
            <a:r>
              <a:rPr lang="en-US" sz="1700" noProof="0" dirty="0">
                <a:latin typeface="+mn-lt"/>
              </a:rPr>
              <a:t>There seems to be an issue within the planning unit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E33F46FF-78F3-EDF4-2A91-599E91D71ABC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EF64FD26-7069-C8C7-860C-861F448B8784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D3534C5C-D681-184C-82D8-97F482230ED3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82C16C11-85A4-2224-D7B3-40F8830FC203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D7F2F355-8C3C-F887-D811-194322EF124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B82DEC45-AE97-033B-D8B4-CF91AB3992AE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B5EAFD34-C48B-EB12-EA5E-A9BE53FA4F22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F3D3E75-2742-E634-6ECC-4F19D5EB2A1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6E3F6DBB-32B2-E868-F2E2-BED822E5142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35</a:t>
            </a:fld>
            <a:r>
              <a:rPr lang="en-US" noProof="0" dirty="0"/>
              <a:t> / 39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FD14BD5E-B74A-4D9C-D5BF-50F4D84EB1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6E87CCD9-98D3-A392-4674-F201C737F303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752799"/>
            <a:ext cx="8423998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3 different types of anomalies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Large outlier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Signal flickers to zero</a:t>
            </a:r>
          </a:p>
          <a:p>
            <a:pPr marL="463550" lvl="0" indent="-342900">
              <a:lnSpc>
                <a:spcPct val="115000"/>
              </a:lnSpc>
              <a:spcBef>
                <a:spcPts val="1200"/>
              </a:spcBef>
              <a:buSzPts val="1700"/>
              <a:buFont typeface="+mj-lt"/>
              <a:buAutoNum type="arabicPeriod"/>
            </a:pPr>
            <a:r>
              <a:rPr lang="en-US" sz="1700" noProof="0" dirty="0">
                <a:latin typeface="+mn-lt"/>
              </a:rPr>
              <a:t>Jumping between quantized levels</a:t>
            </a:r>
          </a:p>
        </p:txBody>
      </p:sp>
      <p:pic>
        <p:nvPicPr>
          <p:cNvPr id="3" name="Grafik 2" descr="Ein Bild, das Text, Reihe, Diagramm, Screenshot enthält.&#10;&#10;KI-generierte Inhalte können fehlerhaft sein.">
            <a:extLst>
              <a:ext uri="{FF2B5EF4-FFF2-40B4-BE49-F238E27FC236}">
                <a16:creationId xmlns:a16="http://schemas.microsoft.com/office/drawing/2014/main" id="{828240F6-921D-D520-67F7-0E609DAF1A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27197" y="1179117"/>
            <a:ext cx="4256801" cy="1714748"/>
          </a:xfrm>
          <a:prstGeom prst="rect">
            <a:avLst/>
          </a:prstGeom>
        </p:spPr>
      </p:pic>
      <p:grpSp>
        <p:nvGrpSpPr>
          <p:cNvPr id="7" name="Gruppieren 6">
            <a:extLst>
              <a:ext uri="{FF2B5EF4-FFF2-40B4-BE49-F238E27FC236}">
                <a16:creationId xmlns:a16="http://schemas.microsoft.com/office/drawing/2014/main" id="{856055CC-F448-B01B-B2BD-A90FDCAF14D1}"/>
              </a:ext>
            </a:extLst>
          </p:cNvPr>
          <p:cNvGrpSpPr/>
          <p:nvPr/>
        </p:nvGrpSpPr>
        <p:grpSpPr>
          <a:xfrm>
            <a:off x="4978400" y="3074644"/>
            <a:ext cx="386576" cy="353943"/>
            <a:chOff x="5084956" y="3786878"/>
            <a:chExt cx="386576" cy="353943"/>
          </a:xfrm>
        </p:grpSpPr>
        <p:sp>
          <p:nvSpPr>
            <p:cNvPr id="5" name="Ellipse 4">
              <a:extLst>
                <a:ext uri="{FF2B5EF4-FFF2-40B4-BE49-F238E27FC236}">
                  <a16:creationId xmlns:a16="http://schemas.microsoft.com/office/drawing/2014/main" id="{9A0DF536-28E6-886D-AAFD-CD296473A6BA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6" name="Textfeld 5">
              <a:extLst>
                <a:ext uri="{FF2B5EF4-FFF2-40B4-BE49-F238E27FC236}">
                  <a16:creationId xmlns:a16="http://schemas.microsoft.com/office/drawing/2014/main" id="{30E5CA5E-D098-2C69-5B78-F0D5026BDE2E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1.</a:t>
              </a:r>
            </a:p>
          </p:txBody>
        </p:sp>
      </p:grpSp>
      <p:grpSp>
        <p:nvGrpSpPr>
          <p:cNvPr id="8" name="Gruppieren 7">
            <a:extLst>
              <a:ext uri="{FF2B5EF4-FFF2-40B4-BE49-F238E27FC236}">
                <a16:creationId xmlns:a16="http://schemas.microsoft.com/office/drawing/2014/main" id="{5581AA17-EC26-AD71-DC42-0D769F8E0BBF}"/>
              </a:ext>
            </a:extLst>
          </p:cNvPr>
          <p:cNvGrpSpPr/>
          <p:nvPr/>
        </p:nvGrpSpPr>
        <p:grpSpPr>
          <a:xfrm>
            <a:off x="5991552" y="3074645"/>
            <a:ext cx="386576" cy="353943"/>
            <a:chOff x="5084956" y="3786878"/>
            <a:chExt cx="386576" cy="353943"/>
          </a:xfrm>
        </p:grpSpPr>
        <p:sp>
          <p:nvSpPr>
            <p:cNvPr id="9" name="Ellipse 8">
              <a:extLst>
                <a:ext uri="{FF2B5EF4-FFF2-40B4-BE49-F238E27FC236}">
                  <a16:creationId xmlns:a16="http://schemas.microsoft.com/office/drawing/2014/main" id="{14C4FAEC-7AE4-3CEB-8964-576E494013BC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0" name="Textfeld 9">
              <a:extLst>
                <a:ext uri="{FF2B5EF4-FFF2-40B4-BE49-F238E27FC236}">
                  <a16:creationId xmlns:a16="http://schemas.microsoft.com/office/drawing/2014/main" id="{65E54C56-1182-F095-6610-2056FAD51730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2.</a:t>
              </a:r>
            </a:p>
          </p:txBody>
        </p:sp>
      </p:grpSp>
      <p:grpSp>
        <p:nvGrpSpPr>
          <p:cNvPr id="11" name="Gruppieren 10">
            <a:extLst>
              <a:ext uri="{FF2B5EF4-FFF2-40B4-BE49-F238E27FC236}">
                <a16:creationId xmlns:a16="http://schemas.microsoft.com/office/drawing/2014/main" id="{DDCC3397-FE63-6116-AB9D-92EEDE460642}"/>
              </a:ext>
            </a:extLst>
          </p:cNvPr>
          <p:cNvGrpSpPr/>
          <p:nvPr/>
        </p:nvGrpSpPr>
        <p:grpSpPr>
          <a:xfrm>
            <a:off x="7149883" y="3084241"/>
            <a:ext cx="386576" cy="353943"/>
            <a:chOff x="5084956" y="3786878"/>
            <a:chExt cx="386576" cy="353943"/>
          </a:xfrm>
        </p:grpSpPr>
        <p:sp>
          <p:nvSpPr>
            <p:cNvPr id="12" name="Ellipse 11">
              <a:extLst>
                <a:ext uri="{FF2B5EF4-FFF2-40B4-BE49-F238E27FC236}">
                  <a16:creationId xmlns:a16="http://schemas.microsoft.com/office/drawing/2014/main" id="{9086B929-E218-9EBA-EBFB-E988CE8F97B0}"/>
                </a:ext>
              </a:extLst>
            </p:cNvPr>
            <p:cNvSpPr/>
            <p:nvPr/>
          </p:nvSpPr>
          <p:spPr>
            <a:xfrm>
              <a:off x="5084956" y="3798849"/>
              <a:ext cx="341972" cy="341972"/>
            </a:xfrm>
            <a:prstGeom prst="ellipse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700" noProof="0" dirty="0">
                <a:solidFill>
                  <a:schemeClr val="tx1"/>
                </a:solidFill>
              </a:endParaRPr>
            </a:p>
          </p:txBody>
        </p:sp>
        <p:sp>
          <p:nvSpPr>
            <p:cNvPr id="13" name="Textfeld 12">
              <a:extLst>
                <a:ext uri="{FF2B5EF4-FFF2-40B4-BE49-F238E27FC236}">
                  <a16:creationId xmlns:a16="http://schemas.microsoft.com/office/drawing/2014/main" id="{15A2D2A8-800A-B925-F0EC-9CAFFD77AC6A}"/>
                </a:ext>
              </a:extLst>
            </p:cNvPr>
            <p:cNvSpPr txBox="1"/>
            <p:nvPr/>
          </p:nvSpPr>
          <p:spPr>
            <a:xfrm>
              <a:off x="5084956" y="3786878"/>
              <a:ext cx="386576" cy="353943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700" noProof="0" dirty="0">
                  <a:solidFill>
                    <a:srgbClr val="0068B4"/>
                  </a:solidFill>
                  <a:latin typeface="+mn-lt"/>
                </a:rPr>
                <a:t>3.</a:t>
              </a:r>
            </a:p>
          </p:txBody>
        </p:sp>
      </p:grpSp>
      <p:cxnSp>
        <p:nvCxnSpPr>
          <p:cNvPr id="15" name="Gerader Verbinder 14">
            <a:extLst>
              <a:ext uri="{FF2B5EF4-FFF2-40B4-BE49-F238E27FC236}">
                <a16:creationId xmlns:a16="http://schemas.microsoft.com/office/drawing/2014/main" id="{AF29F345-B7B8-D131-6459-8D5D67D7A1F5}"/>
              </a:ext>
            </a:extLst>
          </p:cNvPr>
          <p:cNvCxnSpPr>
            <a:cxnSpLocks/>
          </p:cNvCxnSpPr>
          <p:nvPr/>
        </p:nvCxnSpPr>
        <p:spPr>
          <a:xfrm>
            <a:off x="4978400" y="2223741"/>
            <a:ext cx="134144" cy="862881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" name="Gerader Verbinder 26">
            <a:extLst>
              <a:ext uri="{FF2B5EF4-FFF2-40B4-BE49-F238E27FC236}">
                <a16:creationId xmlns:a16="http://schemas.microsoft.com/office/drawing/2014/main" id="{635CF70D-8E6A-3C26-4DB6-435A1D6C82B2}"/>
              </a:ext>
            </a:extLst>
          </p:cNvPr>
          <p:cNvCxnSpPr>
            <a:cxnSpLocks/>
          </p:cNvCxnSpPr>
          <p:nvPr/>
        </p:nvCxnSpPr>
        <p:spPr>
          <a:xfrm>
            <a:off x="5739120" y="1397619"/>
            <a:ext cx="356880" cy="16897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Gerader Verbinder 31">
            <a:extLst>
              <a:ext uri="{FF2B5EF4-FFF2-40B4-BE49-F238E27FC236}">
                <a16:creationId xmlns:a16="http://schemas.microsoft.com/office/drawing/2014/main" id="{44BF44E1-246E-3E28-9B80-4168E8F04DCD}"/>
              </a:ext>
            </a:extLst>
          </p:cNvPr>
          <p:cNvCxnSpPr>
            <a:cxnSpLocks/>
          </p:cNvCxnSpPr>
          <p:nvPr/>
        </p:nvCxnSpPr>
        <p:spPr>
          <a:xfrm flipH="1">
            <a:off x="6186488" y="1436416"/>
            <a:ext cx="69479" cy="165020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9" name="Gerader Verbinder 38">
            <a:extLst>
              <a:ext uri="{FF2B5EF4-FFF2-40B4-BE49-F238E27FC236}">
                <a16:creationId xmlns:a16="http://schemas.microsoft.com/office/drawing/2014/main" id="{DFB553EB-1D2B-54A5-CDD5-12FB649760B7}"/>
              </a:ext>
            </a:extLst>
          </p:cNvPr>
          <p:cNvCxnSpPr>
            <a:cxnSpLocks/>
          </p:cNvCxnSpPr>
          <p:nvPr/>
        </p:nvCxnSpPr>
        <p:spPr>
          <a:xfrm flipH="1">
            <a:off x="6262688" y="1397619"/>
            <a:ext cx="504492" cy="1715197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42" name="Gerader Verbinder 41">
            <a:extLst>
              <a:ext uri="{FF2B5EF4-FFF2-40B4-BE49-F238E27FC236}">
                <a16:creationId xmlns:a16="http://schemas.microsoft.com/office/drawing/2014/main" id="{68FB2751-5B51-9584-542C-24881519017F}"/>
              </a:ext>
            </a:extLst>
          </p:cNvPr>
          <p:cNvCxnSpPr>
            <a:cxnSpLocks/>
          </p:cNvCxnSpPr>
          <p:nvPr/>
        </p:nvCxnSpPr>
        <p:spPr>
          <a:xfrm flipH="1">
            <a:off x="7367588" y="1493566"/>
            <a:ext cx="352425" cy="1609725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pSp>
        <p:nvGrpSpPr>
          <p:cNvPr id="14" name="Gruppieren 13">
            <a:extLst>
              <a:ext uri="{FF2B5EF4-FFF2-40B4-BE49-F238E27FC236}">
                <a16:creationId xmlns:a16="http://schemas.microsoft.com/office/drawing/2014/main" id="{B36EAE1B-462D-43F9-897B-100062B7D1DB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16" name="Gruppieren 15">
              <a:extLst>
                <a:ext uri="{FF2B5EF4-FFF2-40B4-BE49-F238E27FC236}">
                  <a16:creationId xmlns:a16="http://schemas.microsoft.com/office/drawing/2014/main" id="{6E5650B7-D268-289A-489D-BD4526CB8BBD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18" name="Richtungspfeil 33">
                <a:extLst>
                  <a:ext uri="{FF2B5EF4-FFF2-40B4-BE49-F238E27FC236}">
                    <a16:creationId xmlns:a16="http://schemas.microsoft.com/office/drawing/2014/main" id="{BC73EF5D-C6FD-D5CA-D00D-61D4A980F309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19" name="Eingekerbter Richtungspfeil 1">
                <a:extLst>
                  <a:ext uri="{FF2B5EF4-FFF2-40B4-BE49-F238E27FC236}">
                    <a16:creationId xmlns:a16="http://schemas.microsoft.com/office/drawing/2014/main" id="{1028804E-34BB-ED87-1E99-9A81E1B840CD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20" name="Eingekerbter Richtungspfeil 10">
                <a:extLst>
                  <a:ext uri="{FF2B5EF4-FFF2-40B4-BE49-F238E27FC236}">
                    <a16:creationId xmlns:a16="http://schemas.microsoft.com/office/drawing/2014/main" id="{A716177E-B9B6-0CE2-022D-155F363A19B8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21" name="Eingekerbter Richtungspfeil 11">
                <a:extLst>
                  <a:ext uri="{FF2B5EF4-FFF2-40B4-BE49-F238E27FC236}">
                    <a16:creationId xmlns:a16="http://schemas.microsoft.com/office/drawing/2014/main" id="{3E952C75-F171-AB31-A374-9EBB47456F54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17" name="Eingekerbter Richtungspfeil 11">
              <a:extLst>
                <a:ext uri="{FF2B5EF4-FFF2-40B4-BE49-F238E27FC236}">
                  <a16:creationId xmlns:a16="http://schemas.microsoft.com/office/drawing/2014/main" id="{F600F88C-68A1-2027-BAEC-F1895CB7CBB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22" name="Google Shape;206;p15">
            <a:extLst>
              <a:ext uri="{FF2B5EF4-FFF2-40B4-BE49-F238E27FC236}">
                <a16:creationId xmlns:a16="http://schemas.microsoft.com/office/drawing/2014/main" id="{DF040971-EB00-9A4B-9C2D-9767F1022A1E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23" name="Foliennummernplatzhalter 22">
            <a:extLst>
              <a:ext uri="{FF2B5EF4-FFF2-40B4-BE49-F238E27FC236}">
                <a16:creationId xmlns:a16="http://schemas.microsoft.com/office/drawing/2014/main" id="{FFA71336-1D3D-0F09-C505-32B94ED52015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36</a:t>
            </a:fld>
            <a:r>
              <a:rPr lang="en-US" noProof="0" dirty="0"/>
              <a:t> / 39</a:t>
            </a:r>
          </a:p>
        </p:txBody>
      </p:sp>
    </p:spTree>
    <p:extLst>
      <p:ext uri="{BB962C8B-B14F-4D97-AF65-F5344CB8AC3E}">
        <p14:creationId xmlns:p14="http://schemas.microsoft.com/office/powerpoint/2010/main" val="1610348043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51C19A9-2201-A6D7-65BC-AA94D4BB65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948BFD99-BD37-5382-C8B4-1976B3EAC760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59999" y="752799"/>
            <a:ext cx="8423999" cy="363790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120650" lvl="0" indent="0">
              <a:lnSpc>
                <a:spcPct val="115000"/>
              </a:lnSpc>
              <a:spcBef>
                <a:spcPts val="1200"/>
              </a:spcBef>
              <a:buSzPts val="1700"/>
              <a:buNone/>
            </a:pPr>
            <a:r>
              <a:rPr lang="en-US" sz="1700" noProof="0" dirty="0">
                <a:latin typeface="+mn-lt"/>
              </a:rPr>
              <a:t>Ideas for improvement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noProof="0" dirty="0">
                <a:latin typeface="+mn-lt"/>
              </a:rPr>
              <a:t>Consider the width of each peak and its proximity to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neighboring peaks</a:t>
            </a: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Rescale the signals by a material-specific factor</a:t>
            </a: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endParaRPr lang="en-US" sz="170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1200"/>
              </a:spcBef>
              <a:buSzPts val="1700"/>
            </a:pPr>
            <a:r>
              <a:rPr lang="en-US" sz="1700" dirty="0">
                <a:latin typeface="+mn-lt"/>
              </a:rPr>
              <a:t>C</a:t>
            </a:r>
            <a:r>
              <a:rPr lang="en-US" sz="1700" noProof="0" dirty="0">
                <a:latin typeface="+mn-lt"/>
              </a:rPr>
              <a:t>luster formation: peaks that are close to each other </a:t>
            </a:r>
            <a:br>
              <a:rPr lang="en-US" sz="1700" noProof="0" dirty="0">
                <a:latin typeface="+mn-lt"/>
              </a:rPr>
            </a:br>
            <a:r>
              <a:rPr lang="en-US" sz="1700" noProof="0" dirty="0">
                <a:latin typeface="+mn-lt"/>
              </a:rPr>
              <a:t>are combined</a:t>
            </a:r>
          </a:p>
        </p:txBody>
      </p:sp>
      <p:grpSp>
        <p:nvGrpSpPr>
          <p:cNvPr id="4" name="Gruppieren 3">
            <a:extLst>
              <a:ext uri="{FF2B5EF4-FFF2-40B4-BE49-F238E27FC236}">
                <a16:creationId xmlns:a16="http://schemas.microsoft.com/office/drawing/2014/main" id="{519423D0-17CC-B61E-5165-831D7D99E17E}"/>
              </a:ext>
            </a:extLst>
          </p:cNvPr>
          <p:cNvGrpSpPr/>
          <p:nvPr/>
        </p:nvGrpSpPr>
        <p:grpSpPr>
          <a:xfrm>
            <a:off x="359999" y="103726"/>
            <a:ext cx="6475141" cy="306900"/>
            <a:chOff x="797538" y="70119"/>
            <a:chExt cx="10280553" cy="425576"/>
          </a:xfrm>
        </p:grpSpPr>
        <p:grpSp>
          <p:nvGrpSpPr>
            <p:cNvPr id="5" name="Gruppieren 4">
              <a:extLst>
                <a:ext uri="{FF2B5EF4-FFF2-40B4-BE49-F238E27FC236}">
                  <a16:creationId xmlns:a16="http://schemas.microsoft.com/office/drawing/2014/main" id="{6AADE861-C048-40F9-9150-1FE3ED607FFB}"/>
                </a:ext>
              </a:extLst>
            </p:cNvPr>
            <p:cNvGrpSpPr/>
            <p:nvPr/>
          </p:nvGrpSpPr>
          <p:grpSpPr>
            <a:xfrm>
              <a:off x="797538" y="70119"/>
              <a:ext cx="4961225" cy="425576"/>
              <a:chOff x="958348" y="786838"/>
              <a:chExt cx="2220031" cy="346364"/>
            </a:xfrm>
          </p:grpSpPr>
          <p:sp>
            <p:nvSpPr>
              <p:cNvPr id="7" name="Richtungspfeil 33">
                <a:extLst>
                  <a:ext uri="{FF2B5EF4-FFF2-40B4-BE49-F238E27FC236}">
                    <a16:creationId xmlns:a16="http://schemas.microsoft.com/office/drawing/2014/main" id="{1E98BEBF-ECD0-7B48-F95A-6F5A6853FE01}"/>
                  </a:ext>
                </a:extLst>
              </p:cNvPr>
              <p:cNvSpPr/>
              <p:nvPr/>
            </p:nvSpPr>
            <p:spPr>
              <a:xfrm>
                <a:off x="958348" y="787644"/>
                <a:ext cx="555008" cy="345558"/>
              </a:xfrm>
              <a:prstGeom prst="homePlate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solidFill>
                      <a:schemeClr val="bg1"/>
                    </a:solidFill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1.</a:t>
                </a:r>
                <a:endPara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endParaRPr>
              </a:p>
            </p:txBody>
          </p:sp>
          <p:sp>
            <p:nvSpPr>
              <p:cNvPr id="8" name="Eingekerbter Richtungspfeil 1">
                <a:extLst>
                  <a:ext uri="{FF2B5EF4-FFF2-40B4-BE49-F238E27FC236}">
                    <a16:creationId xmlns:a16="http://schemas.microsoft.com/office/drawing/2014/main" id="{FF6FBB7D-B844-BE2A-2D76-A2A839B75E12}"/>
                  </a:ext>
                </a:extLst>
              </p:cNvPr>
              <p:cNvSpPr/>
              <p:nvPr/>
            </p:nvSpPr>
            <p:spPr>
              <a:xfrm>
                <a:off x="1513356" y="787644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2.</a:t>
                </a:r>
              </a:p>
            </p:txBody>
          </p:sp>
          <p:sp>
            <p:nvSpPr>
              <p:cNvPr id="9" name="Eingekerbter Richtungspfeil 10">
                <a:extLst>
                  <a:ext uri="{FF2B5EF4-FFF2-40B4-BE49-F238E27FC236}">
                    <a16:creationId xmlns:a16="http://schemas.microsoft.com/office/drawing/2014/main" id="{07F502AE-0184-579E-6B8D-D7B4D1E6F6A2}"/>
                  </a:ext>
                </a:extLst>
              </p:cNvPr>
              <p:cNvSpPr/>
              <p:nvPr/>
            </p:nvSpPr>
            <p:spPr>
              <a:xfrm>
                <a:off x="2068363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3.</a:t>
                </a:r>
              </a:p>
            </p:txBody>
          </p:sp>
          <p:sp>
            <p:nvSpPr>
              <p:cNvPr id="10" name="Eingekerbter Richtungspfeil 11">
                <a:extLst>
                  <a:ext uri="{FF2B5EF4-FFF2-40B4-BE49-F238E27FC236}">
                    <a16:creationId xmlns:a16="http://schemas.microsoft.com/office/drawing/2014/main" id="{E936871B-E189-4FBF-EE6D-83EF7158AAB1}"/>
                  </a:ext>
                </a:extLst>
              </p:cNvPr>
              <p:cNvSpPr/>
              <p:nvPr/>
            </p:nvSpPr>
            <p:spPr>
              <a:xfrm>
                <a:off x="2623371" y="786838"/>
                <a:ext cx="555008" cy="345558"/>
              </a:xfrm>
              <a:prstGeom prst="chevron">
                <a:avLst/>
              </a:prstGeom>
              <a:solidFill>
                <a:srgbClr val="0068B4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300" noProof="0" dirty="0">
                    <a:latin typeface="Calibri Light" panose="020F0302020204030204" pitchFamily="34" charset="0"/>
                    <a:ea typeface="Calibri Light" panose="020F0302020204030204" pitchFamily="34" charset="0"/>
                    <a:cs typeface="Calibri Light" panose="020F0302020204030204" pitchFamily="34" charset="0"/>
                  </a:rPr>
                  <a:t>4.</a:t>
                </a:r>
              </a:p>
            </p:txBody>
          </p:sp>
        </p:grpSp>
        <p:sp>
          <p:nvSpPr>
            <p:cNvPr id="6" name="Eingekerbter Richtungspfeil 11">
              <a:extLst>
                <a:ext uri="{FF2B5EF4-FFF2-40B4-BE49-F238E27FC236}">
                  <a16:creationId xmlns:a16="http://schemas.microsoft.com/office/drawing/2014/main" id="{7141BF44-A500-8315-087F-313184E25E77}"/>
                </a:ext>
              </a:extLst>
            </p:cNvPr>
            <p:cNvSpPr/>
            <p:nvPr/>
          </p:nvSpPr>
          <p:spPr>
            <a:xfrm>
              <a:off x="5758760" y="70119"/>
              <a:ext cx="5319331" cy="424585"/>
            </a:xfrm>
            <a:prstGeom prst="chevron">
              <a:avLst/>
            </a:prstGeom>
            <a:solidFill>
              <a:srgbClr val="0068B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1300" noProof="0" dirty="0">
                  <a:latin typeface="Calibri Light" panose="020F0302020204030204" pitchFamily="34" charset="0"/>
                  <a:ea typeface="Calibri Light" panose="020F0302020204030204" pitchFamily="34" charset="0"/>
                  <a:cs typeface="Calibri Light" panose="020F0302020204030204" pitchFamily="34" charset="0"/>
                </a:rPr>
                <a:t>5. Conclusion</a:t>
              </a:r>
            </a:p>
          </p:txBody>
        </p:sp>
      </p:grpSp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5CD166FA-DEA3-ABAE-D707-1CA537A8740D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B21ABD78-CE0B-DEA7-259C-8DAEBA678DA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37</a:t>
            </a:fld>
            <a:r>
              <a:rPr lang="en-US" noProof="0" dirty="0"/>
              <a:t> / 39</a:t>
            </a:r>
          </a:p>
        </p:txBody>
      </p:sp>
      <p:grpSp>
        <p:nvGrpSpPr>
          <p:cNvPr id="15" name="Gruppieren 14">
            <a:extLst>
              <a:ext uri="{FF2B5EF4-FFF2-40B4-BE49-F238E27FC236}">
                <a16:creationId xmlns:a16="http://schemas.microsoft.com/office/drawing/2014/main" id="{A6DF7811-37E1-4E49-5F8F-74AC981F92C6}"/>
              </a:ext>
            </a:extLst>
          </p:cNvPr>
          <p:cNvGrpSpPr/>
          <p:nvPr/>
        </p:nvGrpSpPr>
        <p:grpSpPr>
          <a:xfrm>
            <a:off x="7569197" y="3012474"/>
            <a:ext cx="708662" cy="1378225"/>
            <a:chOff x="4114798" y="2834640"/>
            <a:chExt cx="800102" cy="1556060"/>
          </a:xfrm>
        </p:grpSpPr>
        <p:pic>
          <p:nvPicPr>
            <p:cNvPr id="3" name="Grafik 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75D76BCB-57BC-00F8-5586-40B7D4BD89CE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rcRect l="29823" t="3570" r="52097" b="12847"/>
            <a:stretch>
              <a:fillRect/>
            </a:stretch>
          </p:blipFill>
          <p:spPr>
            <a:xfrm>
              <a:off x="4114799" y="2834640"/>
              <a:ext cx="800101" cy="1556060"/>
            </a:xfrm>
            <a:prstGeom prst="rect">
              <a:avLst/>
            </a:prstGeom>
          </p:spPr>
        </p:pic>
        <p:sp>
          <p:nvSpPr>
            <p:cNvPr id="14" name="Rechteck 13">
              <a:extLst>
                <a:ext uri="{FF2B5EF4-FFF2-40B4-BE49-F238E27FC236}">
                  <a16:creationId xmlns:a16="http://schemas.microsoft.com/office/drawing/2014/main" id="{266C7171-ADE3-DD5A-DAD9-CF34CE9FDE84}"/>
                </a:ext>
              </a:extLst>
            </p:cNvPr>
            <p:cNvSpPr/>
            <p:nvPr/>
          </p:nvSpPr>
          <p:spPr>
            <a:xfrm>
              <a:off x="4114798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grpSp>
        <p:nvGrpSpPr>
          <p:cNvPr id="17" name="Gruppieren 16">
            <a:extLst>
              <a:ext uri="{FF2B5EF4-FFF2-40B4-BE49-F238E27FC236}">
                <a16:creationId xmlns:a16="http://schemas.microsoft.com/office/drawing/2014/main" id="{8AD6224C-324E-4F57-13D8-0018D85C39D6}"/>
              </a:ext>
            </a:extLst>
          </p:cNvPr>
          <p:cNvGrpSpPr/>
          <p:nvPr/>
        </p:nvGrpSpPr>
        <p:grpSpPr>
          <a:xfrm>
            <a:off x="5923277" y="3012475"/>
            <a:ext cx="708661" cy="1378225"/>
            <a:chOff x="5768339" y="2834640"/>
            <a:chExt cx="800101" cy="1556060"/>
          </a:xfrm>
        </p:grpSpPr>
        <p:pic>
          <p:nvPicPr>
            <p:cNvPr id="13" name="Grafik 12" descr="Ein Bild, das Text, Schrift, Diagramm, Screenshot enthält.&#10;&#10;KI-generierte Inhalte können fehlerhaft sein.">
              <a:extLst>
                <a:ext uri="{FF2B5EF4-FFF2-40B4-BE49-F238E27FC236}">
                  <a16:creationId xmlns:a16="http://schemas.microsoft.com/office/drawing/2014/main" id="{01CFAE39-F31F-E2F4-AE45-69DA3C1B83B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rcRect l="29758" t="3563" r="52201" b="13035"/>
            <a:stretch>
              <a:fillRect/>
            </a:stretch>
          </p:blipFill>
          <p:spPr>
            <a:xfrm>
              <a:off x="5768340" y="2834640"/>
              <a:ext cx="800100" cy="1556060"/>
            </a:xfrm>
            <a:prstGeom prst="rect">
              <a:avLst/>
            </a:prstGeom>
          </p:spPr>
        </p:pic>
        <p:sp>
          <p:nvSpPr>
            <p:cNvPr id="16" name="Rechteck 15">
              <a:extLst>
                <a:ext uri="{FF2B5EF4-FFF2-40B4-BE49-F238E27FC236}">
                  <a16:creationId xmlns:a16="http://schemas.microsoft.com/office/drawing/2014/main" id="{E8FCCBC8-810C-4303-5F3F-05784024AED8}"/>
                </a:ext>
              </a:extLst>
            </p:cNvPr>
            <p:cNvSpPr/>
            <p:nvPr/>
          </p:nvSpPr>
          <p:spPr>
            <a:xfrm>
              <a:off x="5768339" y="2834640"/>
              <a:ext cx="800101" cy="1556060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de-DE"/>
            </a:p>
          </p:txBody>
        </p:sp>
      </p:grpSp>
      <p:cxnSp>
        <p:nvCxnSpPr>
          <p:cNvPr id="19" name="Gerade Verbindung mit Pfeil 18">
            <a:extLst>
              <a:ext uri="{FF2B5EF4-FFF2-40B4-BE49-F238E27FC236}">
                <a16:creationId xmlns:a16="http://schemas.microsoft.com/office/drawing/2014/main" id="{A3FEF554-0FCF-D7A7-C306-A504A396D1FA}"/>
              </a:ext>
            </a:extLst>
          </p:cNvPr>
          <p:cNvCxnSpPr>
            <a:cxnSpLocks/>
            <a:stCxn id="16" idx="3"/>
            <a:endCxn id="3" idx="1"/>
          </p:cNvCxnSpPr>
          <p:nvPr/>
        </p:nvCxnSpPr>
        <p:spPr>
          <a:xfrm flipV="1">
            <a:off x="6631938" y="3701587"/>
            <a:ext cx="937260" cy="1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33" name="Gruppieren 32">
            <a:extLst>
              <a:ext uri="{FF2B5EF4-FFF2-40B4-BE49-F238E27FC236}">
                <a16:creationId xmlns:a16="http://schemas.microsoft.com/office/drawing/2014/main" id="{9CCFC0AE-DAB7-2ED6-30B9-0B7CCBE1B254}"/>
              </a:ext>
            </a:extLst>
          </p:cNvPr>
          <p:cNvGrpSpPr/>
          <p:nvPr/>
        </p:nvGrpSpPr>
        <p:grpSpPr>
          <a:xfrm>
            <a:off x="5923277" y="1083077"/>
            <a:ext cx="2354582" cy="1181100"/>
            <a:chOff x="5459727" y="1046093"/>
            <a:chExt cx="2354582" cy="1181100"/>
          </a:xfrm>
        </p:grpSpPr>
        <p:grpSp>
          <p:nvGrpSpPr>
            <p:cNvPr id="22" name="Gruppieren 21">
              <a:extLst>
                <a:ext uri="{FF2B5EF4-FFF2-40B4-BE49-F238E27FC236}">
                  <a16:creationId xmlns:a16="http://schemas.microsoft.com/office/drawing/2014/main" id="{F7FAE6C6-9B99-AA02-5286-9FB96F7EFA21}"/>
                </a:ext>
              </a:extLst>
            </p:cNvPr>
            <p:cNvGrpSpPr/>
            <p:nvPr/>
          </p:nvGrpSpPr>
          <p:grpSpPr>
            <a:xfrm>
              <a:off x="5459727" y="1046093"/>
              <a:ext cx="2354582" cy="1181100"/>
              <a:chOff x="5372098" y="1005840"/>
              <a:chExt cx="2354582" cy="1181100"/>
            </a:xfrm>
          </p:grpSpPr>
          <p:pic>
            <p:nvPicPr>
              <p:cNvPr id="20" name="Grafik 19" descr="Ein Bild, das Reihe, Diagramm, Text, Zahl enthält.&#10;&#10;KI-generierte Inhalte können fehlerhaft sein.">
                <a:extLst>
                  <a:ext uri="{FF2B5EF4-FFF2-40B4-BE49-F238E27FC236}">
                    <a16:creationId xmlns:a16="http://schemas.microsoft.com/office/drawing/2014/main" id="{5F4E4FFB-7C5A-4785-BD9F-75FC37C9D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/>
              <a:srcRect l="6550" t="4560" r="20746" b="9882"/>
              <a:stretch>
                <a:fillRect/>
              </a:stretch>
            </p:blipFill>
            <p:spPr>
              <a:xfrm>
                <a:off x="5372099" y="1005840"/>
                <a:ext cx="2354581" cy="1181099"/>
              </a:xfrm>
              <a:prstGeom prst="rect">
                <a:avLst/>
              </a:prstGeom>
            </p:spPr>
          </p:pic>
          <p:sp>
            <p:nvSpPr>
              <p:cNvPr id="21" name="Rechteck 20">
                <a:extLst>
                  <a:ext uri="{FF2B5EF4-FFF2-40B4-BE49-F238E27FC236}">
                    <a16:creationId xmlns:a16="http://schemas.microsoft.com/office/drawing/2014/main" id="{49222142-AA45-02EE-F79D-EFFCE29AB565}"/>
                  </a:ext>
                </a:extLst>
              </p:cNvPr>
              <p:cNvSpPr/>
              <p:nvPr/>
            </p:nvSpPr>
            <p:spPr>
              <a:xfrm>
                <a:off x="5372098" y="1005840"/>
                <a:ext cx="2354582" cy="1181100"/>
              </a:xfrm>
              <a:prstGeom prst="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de-DE"/>
              </a:p>
            </p:txBody>
          </p:sp>
        </p:grpSp>
        <p:cxnSp>
          <p:nvCxnSpPr>
            <p:cNvPr id="25" name="Gerade Verbindung mit Pfeil 24">
              <a:extLst>
                <a:ext uri="{FF2B5EF4-FFF2-40B4-BE49-F238E27FC236}">
                  <a16:creationId xmlns:a16="http://schemas.microsoft.com/office/drawing/2014/main" id="{F63F46B7-8A07-2D72-B22E-0A857CA8C50C}"/>
                </a:ext>
              </a:extLst>
            </p:cNvPr>
            <p:cNvCxnSpPr>
              <a:cxnSpLocks/>
            </p:cNvCxnSpPr>
            <p:nvPr/>
          </p:nvCxnSpPr>
          <p:spPr>
            <a:xfrm>
              <a:off x="5707380" y="1579245"/>
              <a:ext cx="366395" cy="0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Gerade Verbindung mit Pfeil 27">
              <a:extLst>
                <a:ext uri="{FF2B5EF4-FFF2-40B4-BE49-F238E27FC236}">
                  <a16:creationId xmlns:a16="http://schemas.microsoft.com/office/drawing/2014/main" id="{5EEAAEBA-8B00-02F1-8BD7-7C4E8FDCC32E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8352" y="2161434"/>
              <a:ext cx="1151573" cy="3845"/>
            </a:xfrm>
            <a:prstGeom prst="straightConnector1">
              <a:avLst/>
            </a:prstGeom>
            <a:ln w="19050">
              <a:solidFill>
                <a:schemeClr val="tx1"/>
              </a:solidFill>
              <a:headEnd type="triangle"/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Gerader Verbinder 29">
              <a:extLst>
                <a:ext uri="{FF2B5EF4-FFF2-40B4-BE49-F238E27FC236}">
                  <a16:creationId xmlns:a16="http://schemas.microsoft.com/office/drawing/2014/main" id="{DE2DF4DB-0449-2412-0CF7-E7742C184A07}"/>
                </a:ext>
              </a:extLst>
            </p:cNvPr>
            <p:cNvCxnSpPr/>
            <p:nvPr/>
          </p:nvCxnSpPr>
          <p:spPr>
            <a:xfrm>
              <a:off x="5868352" y="1108004"/>
              <a:ext cx="0" cy="1057275"/>
            </a:xfrm>
            <a:prstGeom prst="line">
              <a:avLst/>
            </a:prstGeom>
            <a:ln w="9525">
              <a:solidFill>
                <a:schemeClr val="tx1"/>
              </a:solidFill>
              <a:prstDash val="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11798860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30"/>
          <p:cNvSpPr txBox="1">
            <a:spLocks noGrp="1"/>
          </p:cNvSpPr>
          <p:nvPr>
            <p:ph type="subTitle" idx="1"/>
          </p:nvPr>
        </p:nvSpPr>
        <p:spPr>
          <a:xfrm>
            <a:off x="800176" y="1511499"/>
            <a:ext cx="6858000" cy="373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45700" anchor="t" anchorCtr="0">
            <a:norm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SzPts val="1700"/>
              <a:buNone/>
            </a:pPr>
            <a:r>
              <a:rPr lang="en-US" noProof="0" dirty="0">
                <a:latin typeface="+mn-lt"/>
              </a:rPr>
              <a:t>Presentation of Final Results</a:t>
            </a:r>
          </a:p>
        </p:txBody>
      </p:sp>
      <p:sp>
        <p:nvSpPr>
          <p:cNvPr id="349" name="Google Shape;349;p30"/>
          <p:cNvSpPr txBox="1">
            <a:spLocks noGrp="1"/>
          </p:cNvSpPr>
          <p:nvPr>
            <p:ph type="ctrTitle"/>
          </p:nvPr>
        </p:nvSpPr>
        <p:spPr>
          <a:xfrm>
            <a:off x="800175" y="1113952"/>
            <a:ext cx="6858000" cy="31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91425" bIns="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r>
              <a:rPr lang="en-US" sz="2200" noProof="0" dirty="0">
                <a:latin typeface="+mn-lt"/>
              </a:rPr>
              <a:t>Peak Detection in Time Series</a:t>
            </a:r>
          </a:p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200"/>
              <a:buFont typeface="Arial"/>
              <a:buNone/>
            </a:pPr>
            <a:endParaRPr lang="en-US" sz="2200" noProof="0" dirty="0">
              <a:latin typeface="+mn-lt"/>
            </a:endParaRPr>
          </a:p>
        </p:txBody>
      </p:sp>
      <p:sp>
        <p:nvSpPr>
          <p:cNvPr id="350" name="Google Shape;350;p30"/>
          <p:cNvSpPr txBox="1"/>
          <p:nvPr/>
        </p:nvSpPr>
        <p:spPr>
          <a:xfrm>
            <a:off x="800176" y="2768541"/>
            <a:ext cx="4482900" cy="434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223" b="1" noProof="0" dirty="0">
                <a:solidFill>
                  <a:srgbClr val="0068B4"/>
                </a:solidFill>
                <a:latin typeface="+mn-lt"/>
                <a:ea typeface="Arial"/>
                <a:cs typeface="Arial"/>
                <a:sym typeface="Arial"/>
              </a:rPr>
              <a:t>Thank You For Your Attention!</a:t>
            </a:r>
            <a:endParaRPr lang="en-US" noProof="0" dirty="0">
              <a:latin typeface="+mn-lt"/>
            </a:endParaRPr>
          </a:p>
        </p:txBody>
      </p:sp>
      <p:sp>
        <p:nvSpPr>
          <p:cNvPr id="351" name="Google Shape;351;p30"/>
          <p:cNvSpPr txBox="1"/>
          <p:nvPr/>
        </p:nvSpPr>
        <p:spPr>
          <a:xfrm>
            <a:off x="627825" y="3444775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Nestor Weidemann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nestor.weidemann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  <p:sp>
        <p:nvSpPr>
          <p:cNvPr id="352" name="Google Shape;352;p30"/>
          <p:cNvSpPr txBox="1"/>
          <p:nvPr/>
        </p:nvSpPr>
        <p:spPr>
          <a:xfrm>
            <a:off x="627825" y="4086350"/>
            <a:ext cx="3280800" cy="60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b="1" noProof="0" dirty="0">
                <a:solidFill>
                  <a:schemeClr val="dk1"/>
                </a:solidFill>
                <a:latin typeface="+mn-lt"/>
              </a:rPr>
              <a:t>Nathira Wijemanne</a:t>
            </a:r>
            <a:endParaRPr lang="en-US" noProof="0" dirty="0">
              <a:latin typeface="+mn-lt"/>
            </a:endParaRPr>
          </a:p>
          <a:p>
            <a:pPr marL="0" marR="0" lvl="0" indent="0" algn="l" rtl="0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Mail:	</a:t>
            </a:r>
            <a:r>
              <a:rPr lang="en-US" sz="1111" noProof="0" dirty="0">
                <a:solidFill>
                  <a:schemeClr val="dk1"/>
                </a:solidFill>
                <a:latin typeface="+mn-lt"/>
              </a:rPr>
              <a:t>nathira.wijemanne</a:t>
            </a:r>
            <a:r>
              <a:rPr lang="en-US" sz="1111" noProof="0" dirty="0">
                <a:solidFill>
                  <a:schemeClr val="dk1"/>
                </a:solidFill>
                <a:latin typeface="+mn-lt"/>
                <a:ea typeface="Arial"/>
                <a:cs typeface="Arial"/>
                <a:sym typeface="Arial"/>
              </a:rPr>
              <a:t>@st.ovgu.de</a:t>
            </a:r>
            <a:endParaRPr lang="en-US" noProof="0" dirty="0">
              <a:latin typeface="+mn-lt"/>
            </a:endParaRP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996C8959-D708-A593-FE16-18FB48E4D7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0" name="Google Shape;340;p29">
            <a:extLst>
              <a:ext uri="{FF2B5EF4-FFF2-40B4-BE49-F238E27FC236}">
                <a16:creationId xmlns:a16="http://schemas.microsoft.com/office/drawing/2014/main" id="{C3796DEB-4CBE-538C-F188-8D41F67BAE03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References for Graphics</a:t>
            </a:r>
          </a:p>
        </p:txBody>
      </p:sp>
      <p:sp>
        <p:nvSpPr>
          <p:cNvPr id="341" name="Google Shape;341;p29">
            <a:extLst>
              <a:ext uri="{FF2B5EF4-FFF2-40B4-BE49-F238E27FC236}">
                <a16:creationId xmlns:a16="http://schemas.microsoft.com/office/drawing/2014/main" id="{CE5A2697-1B52-D0FD-D961-77AFD850CA38}"/>
              </a:ext>
            </a:extLst>
          </p:cNvPr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0304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[1] </a:t>
            </a:r>
            <a:r>
              <a:rPr lang="en-US" sz="1700" dirty="0">
                <a:latin typeface="+mn-lt"/>
                <a:hlinkClick r:id="rId3"/>
              </a:rPr>
              <a:t>https://www.hubs.com/de/wissensbasis/3d-druck-vs-cnc-bearbeitung/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[2] </a:t>
            </a:r>
            <a:r>
              <a:rPr lang="en-US" sz="1700" dirty="0">
                <a:latin typeface="+mn-lt"/>
                <a:hlinkClick r:id="rId4"/>
              </a:rPr>
              <a:t>https://www.fptindustrie.com/deu/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[3] </a:t>
            </a:r>
            <a:r>
              <a:rPr lang="en-US" sz="1700" dirty="0">
                <a:latin typeface="+mn-lt"/>
                <a:hlinkClick r:id="rId5"/>
              </a:rPr>
              <a:t>https://www.mdpi.com/1996-1073/17/15/3659</a:t>
            </a:r>
            <a:endParaRPr lang="en-US" sz="1700" noProof="0" dirty="0">
              <a:latin typeface="+mn-lt"/>
            </a:endParaRPr>
          </a:p>
          <a:p>
            <a:pPr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[4]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6"/>
              </a:rPr>
              <a:t>https://en.wikipedia.org/wiki/Topographic_prominence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[5] </a:t>
            </a:r>
            <a:r>
              <a:rPr lang="en-US" sz="1700" dirty="0">
                <a:latin typeface="+mn-lt"/>
                <a:hlinkClick r:id="rId7"/>
              </a:rPr>
              <a:t>https://en.wikipedia.org/wiki/Ricker_wavelet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[6]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8"/>
              </a:rPr>
              <a:t>https://www.researchgate.net/figure/Convolution-of-a-signal-with-a-wavelet-function-Part-of-this-figure-is-taken-from-1_fig1_51918746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noProof="0" dirty="0">
                <a:latin typeface="+mn-lt"/>
              </a:rPr>
              <a:t>[7]</a:t>
            </a:r>
            <a:r>
              <a:rPr lang="en-US" sz="1700" dirty="0">
                <a:latin typeface="+mn-lt"/>
              </a:rPr>
              <a:t> </a:t>
            </a:r>
            <a:r>
              <a:rPr lang="en-US" sz="1700" dirty="0">
                <a:latin typeface="+mn-lt"/>
                <a:hlinkClick r:id="rId9"/>
              </a:rPr>
              <a:t>https://blog.dailydoseofds.com/p/the-limitations-of-dbscan-clustering</a:t>
            </a:r>
            <a:endParaRPr lang="en-US" sz="1700" noProof="0" dirty="0">
              <a:latin typeface="+mn-lt"/>
            </a:endParaRPr>
          </a:p>
          <a:p>
            <a:pPr lvl="0" indent="-336550">
              <a:lnSpc>
                <a:spcPct val="115000"/>
              </a:lnSpc>
              <a:spcBef>
                <a:spcPts val="0"/>
              </a:spcBef>
              <a:buSzPts val="1700"/>
            </a:pPr>
            <a:r>
              <a:rPr lang="en-US" sz="1700" dirty="0">
                <a:latin typeface="+mn-lt"/>
              </a:rPr>
              <a:t>[8] </a:t>
            </a:r>
            <a:r>
              <a:rPr lang="en-US" sz="1700" dirty="0">
                <a:latin typeface="+mn-lt"/>
                <a:hlinkClick r:id="rId10"/>
              </a:rPr>
              <a:t>https://www.researchgate.net/figure/Pareto-front-distribution-of-the-optimization-problem_fig1_374617028</a:t>
            </a:r>
            <a:endParaRPr lang="en-US" sz="1700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F1AC336-3D3C-2F8A-A99B-7A53F2ABF7C9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C04DBA4F-F8EA-7194-535B-A282D0EFF3F9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noProof="0" dirty="0"/>
              <a:t>39 / </a:t>
            </a: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39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623144831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31"/>
          <p:cNvSpPr txBox="1">
            <a:spLocks noGrp="1"/>
          </p:cNvSpPr>
          <p:nvPr>
            <p:ph type="title"/>
          </p:nvPr>
        </p:nvSpPr>
        <p:spPr>
          <a:xfrm>
            <a:off x="719999" y="2772000"/>
            <a:ext cx="7704000" cy="1008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2500"/>
              <a:buFont typeface="Arial"/>
              <a:buNone/>
            </a:pPr>
            <a:r>
              <a:rPr lang="en-US" noProof="0" dirty="0">
                <a:latin typeface="+mn-lt"/>
              </a:rPr>
              <a:t>Backup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0AF241EE-F10E-3336-7AF1-9484C9DC835B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E32B27E1-B663-C083-6E4B-5F2960EF9CB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t>40</a:t>
            </a:fld>
            <a:endParaRPr lang="en-US" noProof="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9">
          <a:extLst>
            <a:ext uri="{FF2B5EF4-FFF2-40B4-BE49-F238E27FC236}">
              <a16:creationId xmlns:a16="http://schemas.microsoft.com/office/drawing/2014/main" id="{AF011F7B-CD5A-F8D7-DF4A-73C37E874B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spcFirstLastPara="1" wrap="square" lIns="91425" tIns="45700" rIns="91425" bIns="45700" anchor="t" anchorCtr="0">
                <a:normAutofit/>
              </a:bodyPr>
              <a:lstStyle/>
              <a:p>
                <a:pPr marL="120650" lvl="0" indent="0">
                  <a:lnSpc>
                    <a:spcPct val="115000"/>
                  </a:lnSpc>
                  <a:spcBef>
                    <a:spcPts val="1200"/>
                  </a:spcBef>
                  <a:buSzPts val="1700"/>
                  <a:buNone/>
                </a:pPr>
                <a:r>
                  <a:rPr lang="en-US" sz="1700" noProof="0" dirty="0">
                    <a:latin typeface="+mn-lt"/>
                  </a:rPr>
                  <a:t>F1-Score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r>
                  <a:rPr lang="en-US" sz="1700" noProof="0" dirty="0">
                    <a:latin typeface="+mn-lt"/>
                  </a:rPr>
                  <a:t>Combines precision and recall into one metric</a:t>
                </a: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de-DE" sz="1700" b="0" i="0" noProof="0" dirty="0">
                  <a:latin typeface="Cambria Math" panose="02040503050406030204" pitchFamily="18" charset="0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  <a:buFont typeface="Wingdings" panose="05000000000000000000" pitchFamily="2" charset="2"/>
                  <a:buChar char="Ø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F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1</m:t>
                    </m:r>
                    <m:r>
                      <a:rPr lang="de-DE" sz="17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de-DE" sz="1700" b="0" i="0" noProof="0" smtClean="0">
                        <a:latin typeface="Cambria Math" panose="02040503050406030204" pitchFamily="18" charset="0"/>
                      </a:rPr>
                      <m:t>Score</m:t>
                    </m:r>
                    <m:r>
                      <a:rPr lang="de-DE" sz="1700" b="0" i="1" noProof="0" smtClean="0">
                        <a:latin typeface="Cambria Math" panose="02040503050406030204" pitchFamily="18" charset="0"/>
                      </a:rPr>
                      <m:t>=2∗</m:t>
                    </m:r>
                    <m:f>
                      <m:fPr>
                        <m:ctrlPr>
                          <a:rPr lang="de-DE" sz="17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∗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Precision</m:t>
                        </m:r>
                        <m:r>
                          <a:rPr lang="de-DE" sz="1700" b="0" i="1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700" b="0" i="0" noProof="0" smtClean="0">
                            <a:latin typeface="Cambria Math" panose="02040503050406030204" pitchFamily="18" charset="0"/>
                          </a:rPr>
                          <m:t>Recall</m:t>
                        </m:r>
                      </m:den>
                    </m:f>
                  </m:oMath>
                </a14:m>
                <a:endParaRPr lang="en-US" sz="1700" noProof="0" dirty="0">
                  <a:latin typeface="+mn-lt"/>
                </a:endParaRPr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543" b="0" i="0" noProof="0" smtClean="0">
                        <a:latin typeface="Cambria Math" panose="02040503050406030204" pitchFamily="18" charset="0"/>
                      </a:rPr>
                      <m:t>Precision</m:t>
                    </m:r>
                    <m:r>
                      <a:rPr lang="de-DE" sz="1543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543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543" b="0" i="0" noProof="0" smtClean="0">
                            <a:latin typeface="Cambria Math" panose="02040503050406030204" pitchFamily="18" charset="0"/>
                          </a:rPr>
                          <m:t>FP</m:t>
                        </m:r>
                      </m:den>
                    </m:f>
                  </m:oMath>
                </a14:m>
                <a:endParaRPr lang="de-DE" sz="1543" b="0" noProof="0" dirty="0"/>
              </a:p>
              <a:p>
                <a:pPr lvl="1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de-DE" sz="1600" b="0" i="0" smtClean="0">
                        <a:latin typeface="Cambria Math" panose="02040503050406030204" pitchFamily="18" charset="0"/>
                      </a:rPr>
                      <m:t>Recall</m:t>
                    </m:r>
                    <m:r>
                      <a:rPr lang="de-DE" sz="1600" i="1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de-DE" sz="1600" i="1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</m:num>
                      <m:den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TP</m:t>
                        </m:r>
                        <m:r>
                          <a:rPr lang="de-DE" sz="1600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m:rPr>
                            <m:sty m:val="p"/>
                          </m:rPr>
                          <a:rPr lang="de-DE" sz="1600">
                            <a:latin typeface="Cambria Math" panose="02040503050406030204" pitchFamily="18" charset="0"/>
                          </a:rPr>
                          <m:t>FN</m:t>
                        </m:r>
                      </m:den>
                    </m:f>
                  </m:oMath>
                </a14:m>
                <a:endParaRPr lang="en-US" sz="1543" noProof="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dirty="0">
                  <a:latin typeface="+mn-lt"/>
                </a:endParaRPr>
              </a:p>
              <a:p>
                <a:pPr lvl="0" indent="-336550">
                  <a:lnSpc>
                    <a:spcPct val="115000"/>
                  </a:lnSpc>
                  <a:spcBef>
                    <a:spcPts val="1200"/>
                  </a:spcBef>
                  <a:buSzPts val="1700"/>
                </a:pPr>
                <a:endParaRPr lang="en-US" sz="1700" noProof="0" dirty="0">
                  <a:latin typeface="+mn-lt"/>
                </a:endParaRPr>
              </a:p>
            </p:txBody>
          </p:sp>
        </mc:Choice>
        <mc:Fallback xmlns="">
          <p:sp>
            <p:nvSpPr>
              <p:cNvPr id="341" name="Google Shape;341;p29">
                <a:extLst>
                  <a:ext uri="{FF2B5EF4-FFF2-40B4-BE49-F238E27FC236}">
                    <a16:creationId xmlns:a16="http://schemas.microsoft.com/office/drawing/2014/main" id="{60F09196-6E6C-8C64-C632-69AD2FA27860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4294967295"/>
              </p:nvPr>
            </p:nvSpPr>
            <p:spPr>
              <a:xfrm>
                <a:off x="359999" y="752799"/>
                <a:ext cx="8423999" cy="3637901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de-DE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Google Shape;206;p15">
            <a:extLst>
              <a:ext uri="{FF2B5EF4-FFF2-40B4-BE49-F238E27FC236}">
                <a16:creationId xmlns:a16="http://schemas.microsoft.com/office/drawing/2014/main" id="{965E3C8E-66D3-F60F-02C1-3F31177DDB08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12" name="Foliennummernplatzhalter 11">
            <a:extLst>
              <a:ext uri="{FF2B5EF4-FFF2-40B4-BE49-F238E27FC236}">
                <a16:creationId xmlns:a16="http://schemas.microsoft.com/office/drawing/2014/main" id="{A6F0BD6B-3A14-7CB2-2765-7FDA3F9DE158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41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620980417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8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33" name="Google Shape;233;p18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Number of Rows: ~1.6 Million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Time Series data across: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Machine Types (CMX1, DMC2)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Materials (AL, S)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2 Components (CP1, CP2)</a:t>
            </a:r>
          </a:p>
          <a:p>
            <a:pPr marL="0" lvl="0" indent="45720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50" noProof="0" dirty="0">
                <a:latin typeface="+mn-lt"/>
              </a:rPr>
              <a:t>   -&gt;  8 different measurements</a:t>
            </a:r>
          </a:p>
          <a:p>
            <a:pPr marL="45720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en-US" noProof="0" dirty="0">
              <a:latin typeface="+mn-lt"/>
            </a:endParaRPr>
          </a:p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Variables measured across 4 axes: X (1), Y (2), Z (3) and Spindle (6)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Target Variable: Current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Possible Input Variables: Load, Motor shaft positions (actual &amp; desired), Control deviation, Torque, Feedforward velocity, Feedforward torque, Commanded Speed, and etc.</a:t>
            </a:r>
          </a:p>
          <a:p>
            <a:pPr marL="1028609" lvl="3" indent="0" algn="l" rtl="0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349"/>
              <a:buNone/>
            </a:pPr>
            <a:endParaRPr lang="en-US" noProof="0" dirty="0">
              <a:latin typeface="+mn-lt"/>
            </a:endParaRP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B3CA6D72-C513-6CC0-C4CA-495B6483C1EC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94EEAA4-0853-486D-ED5A-39F6DE00E3D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42</a:t>
            </a:fld>
            <a:endParaRPr lang="en-US" noProof="0" dirty="0"/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19"/>
          <p:cNvSpPr txBox="1">
            <a:spLocks noGrp="1"/>
          </p:cNvSpPr>
          <p:nvPr>
            <p:ph type="title"/>
          </p:nvPr>
        </p:nvSpPr>
        <p:spPr>
          <a:xfrm>
            <a:off x="560" y="1"/>
            <a:ext cx="5745900" cy="52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91425" bIns="0" anchor="ctr" anchorCtr="0">
            <a:normAutofit/>
          </a:bodyPr>
          <a:lstStyle/>
          <a:p>
            <a:pPr marL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68B4"/>
              </a:buClr>
              <a:buSzPts val="1800"/>
              <a:buFont typeface="Arial"/>
              <a:buNone/>
            </a:pPr>
            <a:r>
              <a:rPr lang="en-US" noProof="0" dirty="0"/>
              <a:t>Dataset</a:t>
            </a:r>
          </a:p>
        </p:txBody>
      </p:sp>
      <p:sp>
        <p:nvSpPr>
          <p:cNvPr id="241" name="Google Shape;241;p19"/>
          <p:cNvSpPr txBox="1">
            <a:spLocks noGrp="1"/>
          </p:cNvSpPr>
          <p:nvPr>
            <p:ph type="body" idx="4294967295"/>
          </p:nvPr>
        </p:nvSpPr>
        <p:spPr>
          <a:xfrm>
            <a:off x="360000" y="1127300"/>
            <a:ext cx="8424000" cy="3627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/>
          <a:p>
            <a:pPr marL="457200" lvl="0" indent="-339471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746"/>
              <a:buChar char="•"/>
            </a:pPr>
            <a:r>
              <a:rPr lang="en-US" noProof="0" dirty="0">
                <a:latin typeface="+mn-lt"/>
              </a:rPr>
              <a:t>Relationships: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axes: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Torque 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For all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CMX1,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Machine DMC2, Y &amp; Z: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Encoder Positions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2, Y: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(&gt;0.9 correlation) </a:t>
            </a:r>
          </a:p>
          <a:p>
            <a:pPr marL="914400" lvl="1" indent="-329437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588"/>
              <a:buChar char="•"/>
            </a:pPr>
            <a:r>
              <a:rPr lang="en-US" noProof="0" dirty="0">
                <a:latin typeface="+mn-lt"/>
              </a:rPr>
              <a:t>Component 1, Spindle: Current </a:t>
            </a:r>
            <a:r>
              <a:rPr lang="en-US" sz="1550" noProof="0" dirty="0">
                <a:solidFill>
                  <a:srgbClr val="1F1F1F"/>
                </a:solidFill>
                <a:highlight>
                  <a:srgbClr val="FFFFFF"/>
                </a:highlight>
                <a:latin typeface="+mn-lt"/>
              </a:rPr>
              <a:t>∝ </a:t>
            </a:r>
            <a:r>
              <a:rPr lang="en-US" noProof="0" dirty="0">
                <a:latin typeface="+mn-lt"/>
              </a:rPr>
              <a:t>Load (~0.7 correlation)</a:t>
            </a:r>
          </a:p>
        </p:txBody>
      </p:sp>
      <p:sp>
        <p:nvSpPr>
          <p:cNvPr id="2" name="Google Shape;206;p15">
            <a:extLst>
              <a:ext uri="{FF2B5EF4-FFF2-40B4-BE49-F238E27FC236}">
                <a16:creationId xmlns:a16="http://schemas.microsoft.com/office/drawing/2014/main" id="{24CF7E2F-AFB4-1C7D-B0B7-3A184EFB2D86}"/>
              </a:ext>
            </a:extLst>
          </p:cNvPr>
          <p:cNvSpPr txBox="1"/>
          <p:nvPr/>
        </p:nvSpPr>
        <p:spPr>
          <a:xfrm>
            <a:off x="87475" y="4904250"/>
            <a:ext cx="3967500" cy="30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 b="1" noProof="0" dirty="0">
                <a:solidFill>
                  <a:schemeClr val="lt1"/>
                </a:solidFill>
                <a:latin typeface="+mn-lt"/>
              </a:rPr>
              <a:t>Peak Detection in Time Series | N. Weidemann, N. Wijemanne</a:t>
            </a:r>
          </a:p>
        </p:txBody>
      </p:sp>
      <p:sp>
        <p:nvSpPr>
          <p:cNvPr id="3" name="Foliennummernplatzhalter 2">
            <a:extLst>
              <a:ext uri="{FF2B5EF4-FFF2-40B4-BE49-F238E27FC236}">
                <a16:creationId xmlns:a16="http://schemas.microsoft.com/office/drawing/2014/main" id="{05BF0DCA-1EED-C592-8BBA-1535AA4E4654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8001764" y="4972052"/>
            <a:ext cx="857332" cy="171447"/>
          </a:xfrm>
        </p:spPr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noProof="0" smtClean="0"/>
              <a:pPr marL="0" lvl="0" indent="0" algn="r" rtl="0">
                <a:spcBef>
                  <a:spcPts val="0"/>
                </a:spcBef>
                <a:spcAft>
                  <a:spcPts val="0"/>
                </a:spcAft>
                <a:buNone/>
              </a:pPr>
              <a:t>43</a:t>
            </a:fld>
            <a:endParaRPr lang="en-US" noProof="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Benutzerdefiniert 1">
      <a:majorFont>
        <a:latin typeface="Calibri Light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3172</Words>
  <Application>Microsoft Office PowerPoint</Application>
  <PresentationFormat>Bildschirmpräsentation (16:9)</PresentationFormat>
  <Paragraphs>669</Paragraphs>
  <Slides>43</Slides>
  <Notes>43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43</vt:i4>
      </vt:variant>
    </vt:vector>
  </HeadingPairs>
  <TitlesOfParts>
    <vt:vector size="49" baseType="lpstr">
      <vt:lpstr>Arial</vt:lpstr>
      <vt:lpstr>Calibri</vt:lpstr>
      <vt:lpstr>Calibri Light</vt:lpstr>
      <vt:lpstr>Cambria Math</vt:lpstr>
      <vt:lpstr>Wingdings</vt:lpstr>
      <vt:lpstr>Office Theme</vt:lpstr>
      <vt:lpstr>Peak Detection in Time Series 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PowerPoint-Präsentation</vt:lpstr>
      <vt:lpstr>Peak Detection in Time Series </vt:lpstr>
      <vt:lpstr>References for Graphics</vt:lpstr>
      <vt:lpstr>Backup</vt:lpstr>
      <vt:lpstr>PowerPoint-Präsentation</vt:lpstr>
      <vt:lpstr>Dataset</vt:lpstr>
      <vt:lpstr>Dataset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Nestor Weidemann</cp:lastModifiedBy>
  <cp:revision>406</cp:revision>
  <dcterms:modified xsi:type="dcterms:W3CDTF">2025-09-06T19:18:45Z</dcterms:modified>
</cp:coreProperties>
</file>